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a84500513b9049cd" Type="http://schemas.openxmlformats.org/officeDocument/2006/relationships/extended-properties" Target="docProps/app.xml"/><Relationship Id="Rb140378b6db449a7" Type="http://schemas.openxmlformats.org/officeDocument/2006/relationships/officeDocument" Target="ppt/presentation.xml"/><Relationship Id="Rb6ce8a81cfe64b5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8ca4cd2593cf47f4"/>
  </p:sldMasterIdLst>
  <p:notesMasterIdLst>
    <p:notesMasterId xmlns:r="http://schemas.openxmlformats.org/officeDocument/2006/relationships" r:id="R2f272e04c3584b9c"/>
  </p:notesMasterIdLst>
  <p:sldIdLst>
    <p:sldId xmlns:r="http://schemas.openxmlformats.org/officeDocument/2006/relationships" id="256" r:id="R3367d3e467124cc2"/>
    <p:sldId xmlns:r="http://schemas.openxmlformats.org/officeDocument/2006/relationships" id="257" r:id="Radb6947d9dc44845"/>
    <p:sldId xmlns:r="http://schemas.openxmlformats.org/officeDocument/2006/relationships" id="258" r:id="R715c5cdf621e4f3c"/>
    <p:sldId xmlns:r="http://schemas.openxmlformats.org/officeDocument/2006/relationships" id="259" r:id="Rd90e4786f1dc42ce"/>
    <p:sldId xmlns:r="http://schemas.openxmlformats.org/officeDocument/2006/relationships" id="260" r:id="Rcc8ec26009c246c4"/>
    <p:sldId xmlns:r="http://schemas.openxmlformats.org/officeDocument/2006/relationships" id="261" r:id="Raac58b4b2fa74a57"/>
    <p:sldId xmlns:r="http://schemas.openxmlformats.org/officeDocument/2006/relationships" id="262" r:id="Rdcb3c59d9898468d"/>
    <p:sldId xmlns:r="http://schemas.openxmlformats.org/officeDocument/2006/relationships" id="269" r:id="rId1"/>
    <p:sldId xmlns:r="http://schemas.openxmlformats.org/officeDocument/2006/relationships" id="270" r:id="rId2"/>
    <p:sldId xmlns:r="http://schemas.openxmlformats.org/officeDocument/2006/relationships" id="263" r:id="R31fe90723bfc404a"/>
    <p:sldId xmlns:r="http://schemas.openxmlformats.org/officeDocument/2006/relationships" id="264" r:id="Re8747077ff494a0e"/>
    <p:sldId xmlns:r="http://schemas.openxmlformats.org/officeDocument/2006/relationships" id="271" r:id="rId3"/>
    <p:sldId xmlns:r="http://schemas.openxmlformats.org/officeDocument/2006/relationships" id="272" r:id="rId4"/>
    <p:sldId xmlns:r="http://schemas.openxmlformats.org/officeDocument/2006/relationships" id="265" r:id="Rf2640bdf10df42e7"/>
    <p:sldId xmlns:r="http://schemas.openxmlformats.org/officeDocument/2006/relationships" id="273" r:id="rId5"/>
    <p:sldId xmlns:r="http://schemas.openxmlformats.org/officeDocument/2006/relationships" id="274" r:id="rId6"/>
    <p:sldId xmlns:r="http://schemas.openxmlformats.org/officeDocument/2006/relationships" id="266" r:id="R4b311797288c44e4"/>
    <p:sldId xmlns:r="http://schemas.openxmlformats.org/officeDocument/2006/relationships" id="275" r:id="rId7"/>
    <p:sldId xmlns:r="http://schemas.openxmlformats.org/officeDocument/2006/relationships" id="267" r:id="Rbfa0276fb66b43b5"/>
    <p:sldId xmlns:r="http://schemas.openxmlformats.org/officeDocument/2006/relationships" id="268" r:id="Raca25c91346f4b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f272e04c3584b9c" Type="http://schemas.openxmlformats.org/officeDocument/2006/relationships/notesMaster" Target="notesMasters/notesMaster1.xml"/><Relationship Id="R31fe90723bfc404a" Type="http://schemas.openxmlformats.org/officeDocument/2006/relationships/slide" Target="slides/slide10.xml"/><Relationship Id="R3367d3e467124cc2" Type="http://schemas.openxmlformats.org/officeDocument/2006/relationships/slide" Target="slides/slide1.xml"/><Relationship Id="R4b311797288c44e4" Type="http://schemas.openxmlformats.org/officeDocument/2006/relationships/slide" Target="slides/slide17.xml"/><Relationship Id="R562cbdff866a49e3" Type="http://schemas.openxmlformats.org/officeDocument/2006/relationships/presProps" Target="presProps.xml"/><Relationship Id="R573bfa12026c4fe9" Type="http://schemas.openxmlformats.org/officeDocument/2006/relationships/theme" Target="theme/theme1.xml"/><Relationship Id="R715c5cdf621e4f3c" Type="http://schemas.openxmlformats.org/officeDocument/2006/relationships/slide" Target="slides/slide3.xml"/><Relationship Id="R8ca4cd2593cf47f4" Type="http://schemas.openxmlformats.org/officeDocument/2006/relationships/slideMaster" Target="slideMasters/slideMaster1.xml"/><Relationship Id="Ra1790fe325ed4c27" Type="http://schemas.openxmlformats.org/officeDocument/2006/relationships/tableStyles" Target="tableStyles.xml"/><Relationship Id="Raac58b4b2fa74a57" Type="http://schemas.openxmlformats.org/officeDocument/2006/relationships/slide" Target="slides/slide6.xml"/><Relationship Id="Raca25c91346f4b9a" Type="http://schemas.openxmlformats.org/officeDocument/2006/relationships/slide" Target="slides/slide20.xml"/><Relationship Id="Radb6947d9dc44845" Type="http://schemas.openxmlformats.org/officeDocument/2006/relationships/slide" Target="slides/slide2.xml"/><Relationship Id="Rbfa0276fb66b43b5" Type="http://schemas.openxmlformats.org/officeDocument/2006/relationships/slide" Target="slides/slide19.xml"/><Relationship Id="Rcc8ec26009c246c4" Type="http://schemas.openxmlformats.org/officeDocument/2006/relationships/slide" Target="slides/slide5.xml"/><Relationship Id="Rd90e4786f1dc42ce" Type="http://schemas.openxmlformats.org/officeDocument/2006/relationships/slide" Target="slides/slide4.xml"/><Relationship Id="Rdcb3c59d9898468d" Type="http://schemas.openxmlformats.org/officeDocument/2006/relationships/slide" Target="slides/slide7.xml"/><Relationship Id="Re8747077ff494a0e" Type="http://schemas.openxmlformats.org/officeDocument/2006/relationships/slide" Target="slides/slide11.xml"/><Relationship Id="Rf2640bdf10df42e7" Type="http://schemas.openxmlformats.org/officeDocument/2006/relationships/slide" Target="slides/slide14.xml"/><Relationship Id="rId1" Type="http://schemas.openxmlformats.org/officeDocument/2006/relationships/slide" Target="slides/slide8.xml"/><Relationship Id="rId2" Type="http://schemas.openxmlformats.org/officeDocument/2006/relationships/slide" Target="slides/slide9.xml"/><Relationship Id="rId3" Type="http://schemas.openxmlformats.org/officeDocument/2006/relationships/slide" Target="slides/slide12.xml"/><Relationship Id="rId4" Type="http://schemas.openxmlformats.org/officeDocument/2006/relationships/slide" Target="slides/slide13.xml"/><Relationship Id="rId5" Type="http://schemas.openxmlformats.org/officeDocument/2006/relationships/slide" Target="slides/slide15.xml"/><Relationship Id="rId6" Type="http://schemas.openxmlformats.org/officeDocument/2006/relationships/slide" Target="slides/slide16.xml"/><Relationship Id="rId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bbf91345d2e941c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7479bd0ea2a4f15" Type="http://schemas.openxmlformats.org/officeDocument/2006/relationships/notesMaster" Target="../notesMasters/notesMaster1.xml"/><Relationship Id="Reffa1b51cbbb4bf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90a166524b1c45da" Type="http://schemas.openxmlformats.org/officeDocument/2006/relationships/notesMaster" Target="../notesMasters/notesMaster1.xml"/><Relationship Id="Rf4983e9fc5f34b2e"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4d866f6c3c594aa4" Type="http://schemas.openxmlformats.org/officeDocument/2006/relationships/notesMaster" Target="../notesMasters/notesMaster1.xml"/><Relationship Id="Ra6531d436bab4b1e"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ddd9302fc78a4806" Type="http://schemas.openxmlformats.org/officeDocument/2006/relationships/notesMaster" Target="../notesMasters/notesMaster1.xml"/><Relationship Id="Re29ccae599334bb4"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cfc8c573cde4a0f" Type="http://schemas.openxmlformats.org/officeDocument/2006/relationships/notesMaster" Target="../notesMasters/notesMaster1.xml"/><Relationship Id="R993009e29474413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18ff52ffb0e9499f" Type="http://schemas.openxmlformats.org/officeDocument/2006/relationships/slide" Target="../slides/slide6.xml"/><Relationship Id="R7bb8f3727b2c4317"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a9591ac647554c6f" Type="http://schemas.openxmlformats.org/officeDocument/2006/relationships/slide" Target="../slides/slide7.xml"/><Relationship Id="Rb8d72291483c4a1a"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647bfdc5edda4a59" Type="http://schemas.openxmlformats.org/officeDocument/2006/relationships/notesMaster" Target="../notesMasters/notesMaster1.xml"/><Relationship Id="R88f84cc8cd394f5f"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6f4215b7b39e4705" Type="http://schemas.openxmlformats.org/officeDocument/2006/relationships/slide" Target="../slides/slide11.xml"/><Relationship Id="Ra38f853ba4754058"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d4773edee36d43bd" Type="http://schemas.openxmlformats.org/officeDocument/2006/relationships/notesMaster" Target="../notesMasters/notesMaster1.xml"/><Relationship Id="Rdc26f66263114f33"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afecbb7858b54602" Type="http://schemas.openxmlformats.org/officeDocument/2006/relationships/notesMaster" Target="../notesMasters/notesMaster1.xml"/><Relationship Id="Rd75f308d20e64e7e"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5825caa982df4c75" Type="http://schemas.openxmlformats.org/officeDocument/2006/relationships/slide" Target="../slides/slide19.xml"/><Relationship Id="Rfc42ed00baf1491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48f069c41f9b4e45" Type="http://schemas.openxmlformats.org/officeDocument/2006/relationships/slide" Target="../slides/slide20.xml"/><Relationship Id="R529a54f8dca9425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45 seconds</a:t>
            </a:r>
          </a:p>
          <a:p xmlns:a="http://schemas.openxmlformats.org/drawingml/2006/main"/>
          <a:p xmlns:a="http://schemas.openxmlformats.org/drawingml/2006/main">
            <a:r>
              <a:t>Good morning. We are presenting our Phase-I work on On-board SLAM for GPS-Denied Indoor Search: a low-cost payload that maps indoor spaces without GPS and listens for people who need help. Our team is Naman Singh, Shivansh Kumar Pandey, Sai Shourya Inguru and Shraddha Upadhyay. Jayanth C is our guide, with Dr. Smitha Sasi as co-guide.</a:t>
            </a:r>
          </a:p>
          <a:p xmlns:a="http://schemas.openxmlformats.org/drawingml/2006/main"/>
          <a:p xmlns:a="http://schemas.openxmlformats.org/drawingml/2006/main">
            <a:r>
              <a:t>The review establishes the research direction. Our development work begins with a sensing payload on a bench, where we can study the capture and mapping pipeline before adding flight. This presentation explains the literature, our proposed system and the design and software evidence available for Phase I.</a:t>
            </a:r>
          </a:p>
          <a:p xmlns:a="http://schemas.openxmlformats.org/drawingml/2006/main"/>
          <a:p xmlns:a="http://schemas.openxmlformats.org/drawingml/2006/main">
            <a:r>
              <a:t>Sources</a:t>
            </a:r>
          </a:p>
          <a:p xmlns:a="http://schemas.openxmlformats.org/drawingml/2006/main">
            <a:r>
              <a:t>Supplied revised review paper, title and author block.</a:t>
            </a:r>
          </a:p>
          <a:p xmlns:a="http://schemas.openxmlformats.org/drawingml/2006/main">
            <a:r>
              <a:t>Existing Synopsis Major Project.pdf, cover: guide Jayanth C, Assistant Professor; co-guide Dr. Smitha Sasi, Associate Professor.</a:t>
            </a:r>
          </a:p>
          <a:p xmlns:a="http://schemas.openxmlformats.org/drawingml/2006/main">
            <a:r>
              <a:t>https://www.dsce.edu.in/telecom/telecom-faculty</a:t>
            </a:r>
          </a:p>
          <a:p xmlns:a="http://schemas.openxmlformats.org/drawingml/2006/main">
            <a:r>
              <a:t>Cover line art derives from the manufacturer S3 datasheet drawing, converted to an ivory/teal illustration. https://static.generation-robots.com/media/SLAMTEC_rplidar_datasheet_S3_.pdf</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25 seconds</a:t>
            </a:r>
          </a:p>
          <a:p xmlns:a="http://schemas.openxmlformats.org/drawingml/2006/main">
            <a:r>
              <a:t/>
            </a:r>
          </a:p>
          <a:p xmlns:a="http://schemas.openxmlformats.org/drawingml/2006/main">
            <a:r>
              <a:t>We will begin with the indoor-search problem and our objectives, then look at the papers that shaped the design. Next come the block diagram and development method. We will show the CAD mechanism and the documented Phase-I results. The later project-progress and publication pages remain available for the team's next update.</a:t>
            </a:r>
          </a:p>
          <a:p xmlns:a="http://schemas.openxmlformats.org/drawingml/2006/main">
            <a:r>
              <a:t/>
            </a:r>
          </a:p>
          <a:p xmlns:a="http://schemas.openxmlformats.org/drawingml/2006/main">
            <a:r>
              <a:t>Sources</a:t>
            </a:r>
          </a:p>
          <a:p xmlns:a="http://schemas.openxmlformats.org/drawingml/2006/main">
            <a:r>
              <a:t>Source structure: supplied PHASE 1 TEMPLATE.pptx, slides 2-11.</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65 seconds</a:t>
            </a:r>
          </a:p>
          <a:p xmlns:a="http://schemas.openxmlformats.org/drawingml/2006/main">
            <a:r>
              <a:t/>
            </a:r>
          </a:p>
          <a:p xmlns:a="http://schemas.openxmlformats.org/drawingml/2006/main">
            <a:r>
              <a:t>A damaged building can be difficult to enter and difficult to map. GPS may be unavailable indoors. Dust, poor lighting and occlusion can reduce the usefulness of cameras, while communication links may be unreliable. A rescue team still needs a description of the space and evidence that could indicate where a person is located.</a:t>
            </a:r>
          </a:p>
          <a:p xmlns:a="http://schemas.openxmlformats.org/drawingml/2006/main">
            <a:r>
              <a:t/>
            </a:r>
          </a:p>
          <a:p xmlns:a="http://schemas.openxmlformats.org/drawingml/2006/main">
            <a:r>
              <a:t>SLAM means simultaneous localisation and mapping. The system estimates its own movement while building a map from sensor observations. Acoustic sensing addresses a different question: whether a sound of interest is present and which direction it comes from. An acoustic event is a cue for an operator to investigate. It does not, by itself, confirm a survivor.</a:t>
            </a:r>
          </a:p>
          <a:p xmlns:a="http://schemas.openxmlformats.org/drawingml/2006/main">
            <a:r>
              <a:t/>
            </a:r>
          </a:p>
          <a:p xmlns:a="http://schemas.openxmlformats.org/drawingml/2006/main">
            <a:r>
              <a:t>Our review covers embedded SLAM, extensions to collaborative 3-D mapping, loop closure and drone acoustics. The practical starting point is a LiDAR payload with controlled tilt and repeatable data capture.</a:t>
            </a:r>
          </a:p>
          <a:p xmlns:a="http://schemas.openxmlformats.org/drawingml/2006/main">
            <a:r>
              <a:t/>
            </a:r>
          </a:p>
          <a:p xmlns:a="http://schemas.openxmlformats.org/drawingml/2006/main">
            <a:r>
              <a:t>Sources</a:t>
            </a:r>
          </a:p>
          <a:p xmlns:a="http://schemas.openxmlformats.org/drawingml/2006/main">
            <a:r>
              <a:t>Supplied revised review paper, Sections I-II.</a:t>
            </a:r>
          </a:p>
          <a:p xmlns:a="http://schemas.openxmlformats.org/drawingml/2006/main">
            <a:r>
              <a:t>https://arxiv.org/abs/2407.03136</a:t>
            </a:r>
          </a:p>
          <a:p xmlns:a="http://schemas.openxmlformats.org/drawingml/2006/main">
            <a:r>
              <a:t>https://doi.org/10.1016/j.dsp.2024.104881</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60 seconds</a:t>
            </a:r>
          </a:p>
          <a:p xmlns:a="http://schemas.openxmlformats.org/drawingml/2006/main">
            <a:r>
              <a:t/>
            </a:r>
          </a:p>
          <a:p xmlns:a="http://schemas.openxmlformats.org/drawingml/2006/main">
            <a:r>
              <a:t>The project asks how to build and evaluate a low-cost system that can map an indoor environment without GPS and provide acoustic cues that could help an operator locate survivors. The difficult part is making the sensing and computation work within a limited budget, while still producing results we can measure.</a:t>
            </a:r>
          </a:p>
          <a:p xmlns:a="http://schemas.openxmlformats.org/drawingml/2006/main">
            <a:r>
              <a:t/>
            </a:r>
          </a:p>
          <a:p xmlns:a="http://schemas.openxmlformats.org/drawingml/2006/main">
            <a:r>
              <a:t>The literature suggests several constraints. Low-cost nano-aerial mapping studies establish that embedded mapping is possible, but their sensing and evaluation differ from larger rescue robots. Field systems demonstrate search capability with much larger resources. Rotor noise creates a separate challenge for acoustic sensing.</a:t>
            </a:r>
          </a:p>
          <a:p xmlns:a="http://schemas.openxmlformats.org/drawingml/2006/main">
            <a:r>
              <a:t/>
            </a:r>
          </a:p>
          <a:p xmlns:a="http://schemas.openxmlformats.org/drawingml/2006/main">
            <a:r>
              <a:t>Our response is to make evaluation part of the design. We plan to compare maps with measured room geometry, retain the raw data, and measure acoustic performance under stated noise conditions. A convincing demonstration needs those measurements in addition to a map that looks plausible.</a:t>
            </a:r>
          </a:p>
          <a:p xmlns:a="http://schemas.openxmlformats.org/drawingml/2006/main">
            <a:r>
              <a:t/>
            </a:r>
          </a:p>
          <a:p xmlns:a="http://schemas.openxmlformats.org/drawingml/2006/main">
            <a:r>
              <a:t>Sources</a:t>
            </a:r>
          </a:p>
          <a:p xmlns:a="http://schemas.openxmlformats.org/drawingml/2006/main">
            <a:r>
              <a:t>Supplied revised review paper, Sections III, VI-VIII.</a:t>
            </a:r>
          </a:p>
          <a:p xmlns:a="http://schemas.openxmlformats.org/drawingml/2006/main">
            <a:r>
              <a:t>https://arxiv.org/abs/2309.02834</a:t>
            </a:r>
          </a:p>
          <a:p xmlns:a="http://schemas.openxmlformats.org/drawingml/2006/main">
            <a:r>
              <a:t>https://doi.org/10.1126/scirobotics.abp9742</a:t>
            </a:r>
          </a:p>
          <a:p xmlns:a="http://schemas.openxmlformats.org/drawingml/2006/main">
            <a:r>
              <a:t>https://doi.org/10.1016/j.dsp.2024.104881</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65 seconds</a:t>
            </a:r>
          </a:p>
          <a:p xmlns:a="http://schemas.openxmlformats.org/drawingml/2006/main">
            <a:r>
              <a:t/>
            </a:r>
          </a:p>
          <a:p xmlns:a="http://schemas.openxmlformats.org/drawingml/2006/main">
            <a:r>
              <a:t>These are objectives for the complete project. First, we want indoor mapping that can ultimately operate on constrained onboard hardware. Our present bench pipeline processes the data on a laptop, which makes it easier to inspect the raw data and validate the geometry.</a:t>
            </a:r>
          </a:p>
          <a:p xmlns:a="http://schemas.openxmlformats.org/drawingml/2006/main">
            <a:r>
              <a:t/>
            </a:r>
          </a:p>
          <a:p xmlns:a="http://schemas.openxmlformats.org/drawingml/2006/main">
            <a:r>
              <a:t>Second, we want depth beyond a single horizontal scan. The tilt mechanism supports spatial point capture and a 2.5D height representation. Dense 3-D reconstruction and collaborative map merging are further extensions identified by the review.</a:t>
            </a:r>
          </a:p>
          <a:p xmlns:a="http://schemas.openxmlformats.org/drawingml/2006/main">
            <a:r>
              <a:t/>
            </a:r>
          </a:p>
          <a:p xmlns:a="http://schemas.openxmlformats.org/drawingml/2006/main">
            <a:r>
              <a:t>Third, we want to detect acoustic events and estimate their direction, while measuring how background and rotor noise affect the result. Finally, we want reproducible evaluation: mapping error against a reference, sensor-fidelity comparisons using the same recorded data, and acoustic detection and false-alarm rates. These targets guide the work. The Phase-I evidence shown later covers the design and software preparation completed so far.</a:t>
            </a:r>
          </a:p>
          <a:p xmlns:a="http://schemas.openxmlformats.org/drawingml/2006/main">
            <a:r>
              <a:t/>
            </a:r>
          </a:p>
          <a:p xmlns:a="http://schemas.openxmlformats.org/drawingml/2006/main">
            <a:r>
              <a:t>Sources</a:t>
            </a:r>
          </a:p>
          <a:p xmlns:a="http://schemas.openxmlformats.org/drawingml/2006/main">
            <a:r>
              <a:t>Supplied revised review paper, Sections II and VIII.</a:t>
            </a:r>
          </a:p>
          <a:p xmlns:a="http://schemas.openxmlformats.org/drawingml/2006/main">
            <a:r>
              <a:t>Existing Synopsis Major Project.pdf, objectives and project outcomes.</a:t>
            </a:r>
          </a:p>
          <a:p xmlns:a="http://schemas.openxmlformats.org/drawingml/2006/main">
            <a:r>
              <a:t>Second-brain project status, 24 October 2026.</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100 seconds</a:t>
            </a:r>
          </a:p>
          <a:p xmlns:a="http://schemas.openxmlformats.org/drawingml/2006/main">
            <a:r>
              <a:t/>
            </a:r>
          </a:p>
          <a:p xmlns:a="http://schemas.openxmlformats.org/drawingml/2006/main">
            <a:r>
              <a:t>The revised review examines twenty-six works. This slide selects six that directly inform the proposed testbed.</a:t>
            </a:r>
          </a:p>
          <a:p xmlns:a="http://schemas.openxmlformats.org/drawingml/2006/main">
            <a:r>
              <a:t/>
            </a:r>
          </a:p>
          <a:p xmlns:a="http://schemas.openxmlformats.org/drawingml/2006/main">
            <a:r>
              <a:t>Steux and El Hamzaoui's tinySLAM provides a compact occupancy-grid baseline. Markdahl and Vikgren take tinySLAM into nano-UAV exploration, which makes their work relevant to the limits of small aerial platforms. Niculescu and colleagues demonstrate onboard collaborative mapping within 1.5 megabytes of memory. That result supports the feasibility of embedded mapping, while leaving us to validate our own sensing and hardware.</a:t>
            </a:r>
          </a:p>
          <a:p xmlns:a="http://schemas.openxmlformats.org/drawingml/2006/main">
            <a:r>
              <a:t/>
            </a:r>
          </a:p>
          <a:p xmlns:a="http://schemas.openxmlformats.org/drawingml/2006/main">
            <a:r>
              <a:t>CERBERUS provides a field reference for autonomous exploration and artifact search. Its resource requirements are very different from our low-cost testbed. Swarm-SLAM addresses sparse decentralized collaboration, particularly the cost of sharing information across robots. Sun and colleagues study rotor-noise suppression using beamforming before acoustic event detection.</a:t>
            </a:r>
          </a:p>
          <a:p xmlns:a="http://schemas.openxmlformats.org/drawingml/2006/main">
            <a:r>
              <a:t/>
            </a:r>
          </a:p>
          <a:p xmlns:a="http://schemas.openxmlformats.org/drawingml/2006/main">
            <a:r>
              <a:t>The design implications are to begin with a compact mapping baseline, preserve data for quantitative evaluation, control communication cost if collaboration is added, and test acoustics under stated noise conditions. We treat these as separate capabilities to validate rather than assuming that combining the components automatically produces a complete rescue system.</a:t>
            </a:r>
          </a:p>
          <a:p xmlns:a="http://schemas.openxmlformats.org/drawingml/2006/main">
            <a:r>
              <a:t/>
            </a:r>
          </a:p>
          <a:p xmlns:a="http://schemas.openxmlformats.org/drawingml/2006/main">
            <a:r>
              <a:t>Sources</a:t>
            </a:r>
          </a:p>
          <a:p xmlns:a="http://schemas.openxmlformats.org/drawingml/2006/main">
            <a:r>
              <a:t>[1] Steux &amp; El Hamzaoui (2010). tinySLAM: A SLAM algorithm in less than 200 lines C-language program. https://doi.org/10.1109/ICARCV.2010.5707402</a:t>
            </a:r>
          </a:p>
          <a:p xmlns:a="http://schemas.openxmlformats.org/drawingml/2006/main">
            <a:r>
              <a:t>[2] Markdahl &amp; Vikgren (2023). tinySLAM-based exploration with a swarm of nano-UAVs. https://arxiv.org/abs/2309.02834</a:t>
            </a:r>
          </a:p>
          <a:p xmlns:a="http://schemas.openxmlformats.org/drawingml/2006/main">
            <a:r>
              <a:t>[3] Niculescu et al. (2024). Ultra-Lightweight Collaborative Mapping for Robot Swarms. https://arxiv.org/abs/2407.03136</a:t>
            </a:r>
          </a:p>
          <a:p xmlns:a="http://schemas.openxmlformats.org/drawingml/2006/main">
            <a:r>
              <a:t>[4] Tranzatto et al. (2022). CERBERUS in the DARPA Subterranean Challenge. https://doi.org/10.1126/scirobotics.abp9742</a:t>
            </a:r>
          </a:p>
          <a:p xmlns:a="http://schemas.openxmlformats.org/drawingml/2006/main">
            <a:r>
              <a:t>[5] Lajoie &amp; Beltrame (2024). Swarm-SLAM: Sparse Decentralized Collaborative Simultaneous Localization and Mapping Framework for Multi-Robot Systems. https://arxiv.org/abs/2301.06230</a:t>
            </a:r>
          </a:p>
          <a:p xmlns:a="http://schemas.openxmlformats.org/drawingml/2006/main">
            <a:r>
              <a:t>[6] Sun et al. (2025). Acoustic event detection for drone search and rescue system based on bi-directional long and short-term memory beamforming method to remove rotor noise. https://doi.org/10.1016/j.dsp.2024.104881</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90 seconds</a:t>
            </a:r>
          </a:p>
          <a:p xmlns:a="http://schemas.openxmlformats.org/drawingml/2006/main">
            <a:r>
              <a:t/>
            </a:r>
          </a:p>
          <a:p xmlns:a="http://schemas.openxmlformats.org/drawingml/2006/main">
            <a:r>
              <a:t>The upper lane shows the Phase-I bench architecture. Range data comes from the LiDAR, while the tilt mechanism supplies the orientation of each scan plane. The ESP32-S3 handles the sensor and tilt interface and relays the data over Wi-Fi. On the laptop, the Slamtec driver decodes the ranges and the processing service applies the geometry, builds the height map and manages sessions. The dashboard displays the output and allows recorded data to be replayed.</a:t>
            </a:r>
          </a:p>
          <a:p xmlns:a="http://schemas.openxmlformats.org/drawingml/2006/main">
            <a:r>
              <a:t/>
            </a:r>
          </a:p>
          <a:p xmlns:a="http://schemas.openxmlformats.org/drawingml/2006/main">
            <a:r>
              <a:t>The lower lane shows the planned target architecture from the review. This adds motion and acoustic sensing to an embedded mapping and acoustic-processing stage. Stored data can then support offline reconstruction and later collaborative map merging.</a:t>
            </a:r>
          </a:p>
          <a:p xmlns:a="http://schemas.openxmlformats.org/drawingml/2006/main">
            <a:r>
              <a:t/>
            </a:r>
          </a:p>
          <a:p xmlns:a="http://schemas.openxmlformats.org/drawingml/2006/main">
            <a:r>
              <a:t>The difference between these lanes matters. The title describes the research and final-system direction. The Phase-I bench implementation deliberately uses laptop processing so that we can inspect the pipeline before moving more computation onboard. Both stages retain recorded data so that later algorithm changes can be compared on the same measurements.</a:t>
            </a:r>
          </a:p>
          <a:p xmlns:a="http://schemas.openxmlformats.org/drawingml/2006/main">
            <a:r>
              <a:t/>
            </a:r>
          </a:p>
          <a:p xmlns:a="http://schemas.openxmlformats.org/drawingml/2006/main">
            <a:r>
              <a:t>Sources</a:t>
            </a:r>
          </a:p>
          <a:p xmlns:a="http://schemas.openxmlformats.org/drawingml/2006/main">
            <a:r>
              <a:t>Supplied revised review paper, Figure 5 and Section VIII.</a:t>
            </a:r>
          </a:p>
          <a:p xmlns:a="http://schemas.openxmlformats.org/drawingml/2006/main">
            <a:r>
              <a:t>https://github.com/sxivansx/major-project/blob/main/README.md</a:t>
            </a:r>
          </a:p>
          <a:p xmlns:a="http://schemas.openxmlformats.org/drawingml/2006/main">
            <a:r>
              <a:t>https://github.com/sxivansx/major-project/blob/main/docs/team-plan-alignment.md</a:t>
            </a:r>
          </a:p>
          <a:p xmlns:a="http://schemas.openxmlformats.org/drawingml/2006/main">
            <a:r>
              <a:t>Second-brain project status, 24 October 2026.</a:t>
            </a:r>
          </a:p>
          <a:p xmlns:a="http://schemas.openxmlformats.org/drawingml/2006/main">
            <a:r>
              <a:t>ESP32-S3 manufacturer image: https://docs.espressif.com/projects/esp-dev-kits/en/latest/esp32s3/esp32-s3-devkitc-1/user_guide_v1.1.html</a:t>
            </a:r>
          </a:p>
          <a:p xmlns:a="http://schemas.openxmlformats.org/drawingml/2006/main">
            <a:r>
              <a:t>Slamtec S3 product image extracted with its original alpha from the manufacturer datasheet, page 3: https://static.generation-robots.com/media/SLAMTEC_rplidar_datasheet_S3_.pdf</a:t>
            </a:r>
          </a:p>
          <a:p xmlns:a="http://schemas.openxmlformats.org/drawingml/2006/main">
            <a:r>
              <a:t>The product image is an S3 reference, as requested. The physical device is labelled generically here because the project record contains conflicting S3 and device-reported S2M1 identities.</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80 seconds</a:t>
            </a:r>
          </a:p>
          <a:p xmlns:a="http://schemas.openxmlformats.org/drawingml/2006/main">
            <a:r>
              <a:t/>
            </a:r>
          </a:p>
          <a:p xmlns:a="http://schemas.openxmlformats.org/drawingml/2006/main">
            <a:r>
              <a:t>Development follows a payload-first sequence. We first select a baseline from the literature and define which measurements will count as evidence. Then we calibrate the sensor and the mount: range bias, the tilt centre, axis direction and offsets all affect where a point lands in the map.</a:t>
            </a:r>
          </a:p>
          <a:p xmlns:a="http://schemas.openxmlformats.org/drawingml/2006/main">
            <a:r>
              <a:t/>
            </a:r>
          </a:p>
          <a:p xmlns:a="http://schemas.openxmlformats.org/drawingml/2006/main">
            <a:r>
              <a:t>A sweep follows a move, settle and capture sequence. The sensor moves to a tilt angle, waits for motion to settle, and records a scan. Range, scan angle, tilt and the mount transform locate each return in three dimensions. The software can then reduce those points to an elevation grid. A 2.5D grid stores height information over a floor plane, so it has limits for overhangs and stacked surfaces.</a:t>
            </a:r>
          </a:p>
          <a:p xmlns:a="http://schemas.openxmlformats.org/drawingml/2006/main">
            <a:r>
              <a:t/>
            </a:r>
          </a:p>
          <a:p xmlns:a="http://schemas.openxmlformats.org/drawingml/2006/main">
            <a:r>
              <a:t>We retain raw sessions so that calibration and algorithms can be changed without repeating the capture. Evaluation starts against measured room geometry. Acoustic tests progress from quiet conditions to controlled noise. Cart and flight trials follow only after the sensing pipeline has been characterised.</a:t>
            </a:r>
          </a:p>
          <a:p xmlns:a="http://schemas.openxmlformats.org/drawingml/2006/main">
            <a:r>
              <a:t/>
            </a:r>
          </a:p>
          <a:p xmlns:a="http://schemas.openxmlformats.org/drawingml/2006/main">
            <a:r>
              <a:t>Sources</a:t>
            </a:r>
          </a:p>
          <a:p xmlns:a="http://schemas.openxmlformats.org/drawingml/2006/main">
            <a:r>
              <a:t>Second-brain project status and original payload-first plan.</a:t>
            </a:r>
          </a:p>
          <a:p xmlns:a="http://schemas.openxmlformats.org/drawingml/2006/main">
            <a:r>
              <a:t>https://github.com/sxivansx/major-project/blob/main/docs/bringup.md</a:t>
            </a:r>
          </a:p>
          <a:p xmlns:a="http://schemas.openxmlformats.org/drawingml/2006/main">
            <a:r>
              <a:t>https://github.com/sxivansx/major-project/blob/main/core/README.md</a:t>
            </a:r>
          </a:p>
          <a:p xmlns:a="http://schemas.openxmlformats.org/drawingml/2006/main">
            <a:r>
              <a:t>Supplied revised review paper, Section VIII-B.</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60 seconds</a:t>
            </a:r>
          </a:p>
          <a:p xmlns:a="http://schemas.openxmlformats.org/drawingml/2006/main">
            <a:r>
              <a:t/>
            </a:r>
          </a:p>
          <a:p xmlns:a="http://schemas.openxmlformats.org/drawingml/2006/main">
            <a:r>
              <a:t>This animation shows the proposed tilt mechanism. The LiDAR sits in a cradle supported on an axle, and a servo changes the cradle angle about the X axis. The scanner still measures within its own rotating scan plane. Tilting the cradle changes the orientation of that plane, which gives the processing pipeline samples at different heights.</a:t>
            </a:r>
          </a:p>
          <a:p xmlns:a="http://schemas.openxmlformats.org/drawingml/2006/main">
            <a:r>
              <a:t/>
            </a:r>
          </a:p>
          <a:p xmlns:a="http://schemas.openxmlformats.org/drawingml/2006/main">
            <a:r>
              <a:t>The bearings support the axle while the servo provides the commanded motion. In the capture method, we allow the mechanism to settle before collecting points, because measurements taken during an unsettled move can distort the reconstructed surface.</a:t>
            </a:r>
          </a:p>
          <a:p xmlns:a="http://schemas.openxmlformats.org/drawingml/2006/main">
            <a:r>
              <a:t/>
            </a:r>
          </a:p>
          <a:p xmlns:a="http://schemas.openxmlformats.org/drawingml/2006/main">
            <a:r>
              <a:t>The clip is design evidence. It shows the intended assembly and movement, but it does not establish the measured tilt angle, mechanical stiffness or accuracy of a physical sweep. Those require calibration and tests on the assembled rig.</a:t>
            </a:r>
          </a:p>
          <a:p xmlns:a="http://schemas.openxmlformats.org/drawingml/2006/main">
            <a:r>
              <a:t/>
            </a:r>
          </a:p>
          <a:p xmlns:a="http://schemas.openxmlformats.org/drawingml/2006/main">
            <a:r>
              <a:t>Sources</a:t>
            </a:r>
          </a:p>
          <a:p xmlns:a="http://schemas.openxmlformats.org/drawingml/2006/main">
            <a:r>
              <a:t>User-supplied WhatsApp Video 2026-10-24 at 02.11.21.mp4, 5.533 seconds.</a:t>
            </a:r>
          </a:p>
          <a:p xmlns:a="http://schemas.openxmlformats.org/drawingml/2006/main">
            <a:r>
              <a:t>Second-brain tilt CAD description.</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65 seconds</a:t>
            </a:r>
          </a:p>
          <a:p xmlns:a="http://schemas.openxmlformats.org/drawingml/2006/main">
            <a:r>
              <a:t/>
            </a:r>
          </a:p>
          <a:p xmlns:a="http://schemas.openxmlformats.org/drawingml/2006/main">
            <a:r>
              <a:t>The documented Phase-I work gives us a design baseline and an implemented software pipeline. The literature review and system architecture establish what we intend to evaluate. The CAD describes the tilt mechanism. The bench software supports scan capture, spatial transformation and 2.5D display, with raw sessions available for replay and export.</a:t>
            </a:r>
          </a:p>
          <a:p xmlns:a="http://schemas.openxmlformats.org/drawingml/2006/main">
            <a:r>
              <a:t/>
            </a:r>
          </a:p>
          <a:p xmlns:a="http://schemas.openxmlformats.org/drawingml/2006/main">
            <a:r>
              <a:t>The numeric evidence on this slide comes from the synthetic soak recorded on 22 October. It ran for ten minutes, completed thirty-eight sweeps and processed approximately 9.46 million points. The log records zero failed starts and zero WebSocket parse errors.</a:t>
            </a:r>
          </a:p>
          <a:p xmlns:a="http://schemas.openxmlformats.org/drawingml/2006/main">
            <a:r>
              <a:t/>
            </a:r>
          </a:p>
          <a:p xmlns:a="http://schemas.openxmlformats.org/drawingml/2006/main">
            <a:r>
              <a:t>These results show that the simulated capture and processing path can run repeatedly through a complete sweep sequence. They do not measure physical map accuracy, servo performance or acoustic detection. Those results belong to a separate hardware evaluation. For Phase I, the useful outcome is a pipeline that supports repeatable comparisons with hardware measurements.</a:t>
            </a:r>
          </a:p>
          <a:p xmlns:a="http://schemas.openxmlformats.org/drawingml/2006/main">
            <a:r>
              <a:t/>
            </a:r>
          </a:p>
          <a:p xmlns:a="http://schemas.openxmlformats.org/drawingml/2006/main">
            <a:r>
              <a:t>Sources</a:t>
            </a:r>
          </a:p>
          <a:p xmlns:a="http://schemas.openxmlformats.org/drawingml/2006/main">
            <a:r>
              <a:t>Second-brain project status: literature/design baseline, CAD and implemented bench software.</a:t>
            </a:r>
          </a:p>
          <a:p xmlns:a="http://schemas.openxmlformats.org/drawingml/2006/main">
            <a:r>
              <a:t>https://github.com/sxivansx/major-project/blob/main/docs/soak-2026-10-22.md</a:t>
            </a:r>
          </a:p>
          <a:p xmlns:a="http://schemas.openxmlformats.org/drawingml/2006/main">
            <a:r>
              <a:t>Synthetic soak: 38 sweeps; 9,464,671 points; failed_starts=0; WebSocket parse_errors=0.</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75 seconds</a:t>
            </a:r>
          </a:p>
          <a:p xmlns:a="http://schemas.openxmlformats.org/drawingml/2006/main"/>
          <a:p xmlns:a="http://schemas.openxmlformats.org/drawingml/2006/main">
            <a:r>
              <a:t>The rig is built and streaming. The LiDAR and all four microphones stream to the laptop over the rig's own Wi-Fi. The dashboard has seven screens, calls for help are detected with their direction, and we can build a floor plan by moving the scanner between six spots. The software has 125 automated tests.</a:t>
            </a:r>
          </a:p>
          <a:p xmlns:a="http://schemas.openxmlformats.org/drawingml/2006/main"/>
          <a:p xmlns:a="http://schemas.openxmlformats.org/drawingml/2006/main">
            <a:r>
              <a:t>On the bench the LiDAR gives about 2,860 points per turn at 10 Hz, with sub-millimetre noise below one metre. A spoken call for help is flagged in about two seconds.</a:t>
            </a:r>
          </a:p>
          <a:p xmlns:a="http://schemas.openxmlformats.org/drawingml/2006/main"/>
          <a:p xmlns:a="http://schemas.openxmlformats.org/drawingml/2006/main">
            <a:r>
              <a:t>The main blocker is power: the servo stalls when it shares the power bank, so it needs its own supply. That is the next step, followed by full 2.5D sweeps at every spot, microphone calibration and a field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20 seconds</a:t>
            </a:r>
          </a:p>
          <a:p xmlns:a="http://schemas.openxmlformats.org/drawingml/2006/main">
            <a:r>
              <a:t/>
            </a:r>
          </a:p>
          <a:p xmlns:a="http://schemas.openxmlformats.org/drawingml/2006/main">
            <a:r>
              <a:t>These are the principal sources cited in the presentation. The revised review paper contains the broader twenty-six-work bibliography. Together, these studies inform the compact SLAM baseline, collaborative mapping, the field-search comparison and acoustic processing under rotor noise.</a:t>
            </a:r>
          </a:p>
          <a:p xmlns:a="http://schemas.openxmlformats.org/drawingml/2006/main">
            <a:r>
              <a:t/>
            </a:r>
          </a:p>
          <a:p xmlns:a="http://schemas.openxmlformats.org/drawingml/2006/main">
            <a:r>
              <a:t>Sources</a:t>
            </a:r>
          </a:p>
          <a:p xmlns:a="http://schemas.openxmlformats.org/drawingml/2006/main">
            <a:r>
              <a:t>[1] Steux &amp; El Hamzaoui (2010). tinySLAM: A SLAM algorithm in less than 200 lines C-language program. ICARCV, pp. 1975-1979. https://doi.org/10.1109/ICARCV.2010.5707402</a:t>
            </a:r>
          </a:p>
          <a:p xmlns:a="http://schemas.openxmlformats.org/drawingml/2006/main">
            <a:r>
              <a:t>[2] Markdahl &amp; Vikgren (2023). tinySLAM-based exploration with a swarm of nano-UAVs. SWARM 2023 / arXiv:2309.02834. https://arxiv.org/abs/2309.02834</a:t>
            </a:r>
          </a:p>
          <a:p xmlns:a="http://schemas.openxmlformats.org/drawingml/2006/main">
            <a:r>
              <a:t>[3] Niculescu et al. (2024). Ultra-Lightweight Collaborative Mapping for Robot Swarms. arXiv:2407.03136. https://arxiv.org/abs/2407.03136</a:t>
            </a:r>
          </a:p>
          <a:p xmlns:a="http://schemas.openxmlformats.org/drawingml/2006/main">
            <a:r>
              <a:t>[4] Tranzatto et al. (2022). CERBERUS in the DARPA Subterranean Challenge. Science Robotics 7, eabp9742. https://doi.org/10.1126/scirobotics.abp9742</a:t>
            </a:r>
          </a:p>
          <a:p xmlns:a="http://schemas.openxmlformats.org/drawingml/2006/main">
            <a:r>
              <a:t>[5] Lajoie &amp; Beltrame (2024). Swarm-SLAM: Sparse Decentralized Collaborative Simultaneous Localization and Mapping Framework for Multi-Robot Systems. IEEE RA-L 9(1), 475-482. https://arxiv.org/abs/2301.06230</a:t>
            </a:r>
          </a:p>
          <a:p xmlns:a="http://schemas.openxmlformats.org/drawingml/2006/main">
            <a:r>
              <a:t>[6] Sun et al. (2025). Acoustic event detection for drone search and rescue system based on bi-directional long and short-term memory beamforming method to remove rotor noise. Digital Signal Processing 157, 104881. https://doi.org/10.1016/j.dsp.2024.104881</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Reserved for confirmed publication information. Add the venue, submission or acceptance status, date and publication link when available. No publication claim is currently made.</a:t>
            </a:r>
          </a:p>
          <a:p xmlns:a="http://schemas.openxmlformats.org/drawingml/2006/main">
            <a:r>
              <a:t/>
            </a:r>
          </a:p>
          <a:p xmlns:a="http://schemas.openxmlformats.org/drawingml/2006/main">
            <a:r>
              <a:t>Sources</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60 seconds</a:t>
            </a:r>
          </a:p>
          <a:p/>
          <a:p>
            <a:r>
              <a:t>The system has three layers. On the left is the rig: the LiDAR, the tilt servo, four microphones and a motion sensor all connect to one ESP32-S3, which sends everything over its own Wi-Fi. In the middle is the Python backend on the laptop: the LiDAR bridge feeds mapping, mapping produces findings such as voids, the acoustics module turns sounds into directions and looks up what lies along them, and the speech gate passes on only real voice. Everything is saved for replay. On the right are the AI models, used sparingly: Sarvam turns speech into text in Indian languages, Jev answers yes/no questions such as 'is this a call for help', and Gemini writes the final situation report. Everything else is deterministic maths, so it is fast, free and explainable.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60 seconds</a:t>
            </a:r>
          </a:p>
          <a:p/>
          <a:p>
            <a:r>
              <a:t>The ESP32-S3 is the only electronics on the rig with any logic. It relays the LiDAR's serial stream over Wi-Fi, drives the tilt servo and streams the four microphones. It also creates its own Wi-Fi network, so the rig works anywhere without a router.</a:t>
            </a:r>
          </a:p>
          <a:p/>
          <a:p>
            <a:r>
              <a:t>The backend is a Python FastAPI server. A small C++ bridge built on Slamtec's SDK decodes the LiDAR. Rig control runs the tilt sweeps with safety limits. Mapping, acoustics and speech are separate modules, and every capture is saved so it can be replayed and exported. The browser dashboard gets live updates over a WebSocket.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50 seconds</a:t>
            </a:r>
          </a:p>
          <a:p/>
          <a:p>
            <a:r>
              <a:t>Everything is off-the-shelf. The RPLIDAR S3 is the main sensor. The ESP32-S3 handles the LiDAR stream, the servo and the microphones. Four INMP441 MEMS microphones form the acoustic array. A metal-gear servo tilts the 3D-printed cradle, and an MPU-6050 motion sensor on the same board senses tilt; an AS5600 magnetic encoder will add the exact tilt angle in the next phase. A perfboard carrier board holds the ESP32 and the connectors, and a power bank runs the rig without a cable to the laptop.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60 seconds</a:t>
            </a:r>
          </a:p>
          <a:p/>
          <a:p>
            <a:r>
              <a:t>This is our carrier board. The ESP32-S3 sits in the middle. The LiDAR talks to it over a 1 Mbaud UART on GPIO 13 and 14. The servo gets a 50 Hz PWM signal on GPIO 17. All four microphones share one I²S clock and word-select pair on GPIO 4 and 5; each data line carries two microphones, one as the left channel and one as the right, on GPIO 7 and GPIO 6. The MPU-6050 motion sensor uses I²C on GPIO 11 and 12; the AS5600 encoder will share that bus.</a:t>
            </a:r>
          </a:p>
          <a:p/>
          <a:p>
            <a:r>
              <a:t>The servo draws large current peaks, so it gets its own 5 to 6 volt supply with a shared ground. The board's USB-C port is for flashing and debugging, using the BOOT and RESET buttons.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75 seconds</a:t>
            </a:r>
          </a:p>
          <a:p/>
          <a:p>
            <a:r>
              <a:t>The Operator screen is what a rescuer looks at: green is walkable floor, red is blocked, hatched is not yet seen, and blue boxes are possible voids where a person could fit. It suggests where to move the scanner next, and a call for help appears as a red line in its direction.</a:t>
            </a:r>
          </a:p>
          <a:p/>
          <a:p>
            <a:r>
              <a:t>The Sound screen shows the four microphones live, a direction dial, and the speech it heard, with calls for help as red dots.</a:t>
            </a:r>
          </a:p>
          <a:p/>
          <a:p>
            <a:r>
              <a:t>The Point cloud screen shows the room in 3D with the 2.5D height map beside it. The Room map builds a floor plan as we move the scanner from spot to spot.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90 seconds</a:t>
            </a:r>
          </a:p>
          <a:p/>
          <a:p>
            <a:r>
              <a:t>Three things set our system apart.</a:t>
            </a:r>
          </a:p>
          <a:p/>
          <a:p>
            <a:r>
              <a:t>First, hearing. Four cheap MEMS microphones are enough to find the direction of a knock or a voice: we measure the tiny time differences between the mics and solve for the direction in about three milliseconds. If one mic is noisy it is left out automatically, and one clap test calibrates the array. Spoken calls for help in English, Hindi or Kannada are recognised even when the transcription is slightly wrong, and they appear as a red dot in that direction.</a:t>
            </a:r>
          </a:p>
          <a:p/>
          <a:p>
            <a:r>
              <a:t>If asked how four cheap mics can find a direction: sound reaches each mic at a slightly different time. The delay is the mic spacing times the cosine of the angle, divided by the speed of sound. With our 70 mm spacing the largest delay is only about 200 microseconds, and one audio sample at 16 kHz is 62.5 microseconds, so counting samples is far too coarse. We cross-correlate the mic pairs with GCC-PHAT, which keeps only the phase so echoes and loud low-frequency noise matter less, and interpolate the correlation peak to about one microsecond. Six mic pairs then give the direction by least squares, with a confidence from how well the six delays agree.</a:t>
            </a:r>
          </a:p>
          <a:p/>
          <a:p>
            <a:r>
              <a:t>Second, cost-aware AI. Mapping and direction finding are plain maths. Audio leaves the rig only when someone is speaking. Instead of asking a chat model, we ask Jev one typed yes/no question, which costs about two thousandths of a cent, and Gemini is used only for the final written report.</a:t>
            </a:r>
          </a:p>
          <a:p/>
          <a:p>
            <a:r>
              <a:t>Third, hardware cost. Tilting a 2D LiDAR with a servo gives 3D data without a 3D LiDAR that costs lakhs. An ESP32-S3 replaces an onboard computer, and the rest of the electronics cost about five thousand rupees.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60 seconds</a:t>
            </a:r>
          </a:p>
          <a:p/>
          <a:p>
            <a:r>
              <a:t>Phase II has five steps. First, the servo gets its own supply, and we confirm the actual tilt with the IMU. Second, a full tilt sweep at every station, merged into one 2.5D room model; the software for this already exists. Third, a clap-test calibration of the microphone array, with a target bearing error of five degrees or less. Fourth, a field test in a mock rubble room with hidden knocks and voices, where we measure map error and detection rate. Finally, we move mapping onto the embedded board, toward the drone payload.</a:t>
            </a:r>
          </a:p>
          <a:p/>
          <a:p>
            <a:r>
              <a:t>The goal for Phase II is a 2.5D room model with voids and call-for-help directions marked, checked against the real 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9c19dcee22b3485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8ecf5f233c4957" Type="http://schemas.openxmlformats.org/officeDocument/2006/relationships/slideLayout" Target="../slideLayouts/slideLayout1.xml"/><Relationship Id="R8ed6ba3e03ce4461"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8ecf5f233c49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62b71081f5f427b" Type="http://schemas.openxmlformats.org/officeDocument/2006/relationships/notesSlide" Target="../notesSlides/notesSlide1.xml"/><Relationship Id="R4ae5ad71fe204d67" Type="http://schemas.openxmlformats.org/officeDocument/2006/relationships/slideLayout" Target="../slideLayouts/slideLayout1.xml"/><Relationship Id="R978c4cc112044c39" Type="http://schemas.openxmlformats.org/officeDocument/2006/relationships/image" Target="../media/image.png"/><Relationship Id="Rc201d6b69d524530" Type="http://schemas.openxmlformats.org/officeDocument/2006/relationships/image" Target="../media/image.jpeg"/><Relationship Id="Rc47ee8e4131f40e7" Type="http://schemas.openxmlformats.org/officeDocument/2006/relationships/image" Target="../media/image2.png"/></Relationships>
</file>

<file path=ppt/slides/_rels/slide2.xml.rels><?xml version='1.0' encoding='UTF-8' standalone='yes'?>
<Relationships xmlns="http://schemas.openxmlformats.org/package/2006/relationships"><Relationship Id="R36fa310d743e4072" Type="http://schemas.openxmlformats.org/officeDocument/2006/relationships/slideLayout" Target="../slideLayouts/slideLayout1.xml"/><Relationship Id="R6be4354cd925484c" Type="http://schemas.openxmlformats.org/officeDocument/2006/relationships/image" Target="../media/image.png"/><Relationship Id="R9f134fd4b60945ed"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66f67be47f4d4d" Type="http://schemas.openxmlformats.org/officeDocument/2006/relationships/image" Target="../media/image5.png"/><Relationship Id="R613ee4d95be44d0b" Type="http://schemas.openxmlformats.org/officeDocument/2006/relationships/image" Target="../media/image5.png"/><Relationship Id="R67c28b7230c244a8" Type="http://schemas.openxmlformats.org/officeDocument/2006/relationships/image" Target="../media/image.png"/><Relationship Id="R76e0149073de48e4" Type="http://schemas.openxmlformats.org/officeDocument/2006/relationships/image" Target="../media/image.svg"/><Relationship Id="R816a39f52342464b" Type="http://schemas.openxmlformats.org/officeDocument/2006/relationships/slideLayout" Target="../slideLayouts/slideLayout1.xml"/><Relationship Id="Rb0aee29ac33c4d2c" Type="http://schemas.openxmlformats.org/officeDocument/2006/relationships/notesSlide" Target="../notesSlides/notesSlide3.xml"/><Relationship Id="Re8e4634814914150" Type="http://schemas.openxmlformats.org/officeDocument/2006/relationships/image" Target="../media/image2.svg"/></Relationships>
</file>

<file path=ppt/slides/_rels/slide4.xml.rels><?xml version='1.0' encoding='UTF-8' standalone='yes'?>
<Relationships xmlns="http://schemas.openxmlformats.org/package/2006/relationships"><Relationship Id="R04d563b0c04c4dda" Type="http://schemas.openxmlformats.org/officeDocument/2006/relationships/image" Target="../media/image.png"/><Relationship Id="R12d2a8ccfd10450b" Type="http://schemas.openxmlformats.org/officeDocument/2006/relationships/image" Target="../media/image5.png"/><Relationship Id="R21060fd147774f2f" Type="http://schemas.openxmlformats.org/officeDocument/2006/relationships/slideLayout" Target="../slideLayouts/slideLayout1.xml"/><Relationship Id="R432407f4b9184ab6" Type="http://schemas.openxmlformats.org/officeDocument/2006/relationships/notesSlide" Target="../notesSlides/notesSlide4.xml"/><Relationship Id="R6182d9ffb8d64158" Type="http://schemas.openxmlformats.org/officeDocument/2006/relationships/image" Target="../media/image5.svg"/><Relationship Id="R70491649d59b4f3b" Type="http://schemas.openxmlformats.org/officeDocument/2006/relationships/image" Target="../media/image4.svg"/><Relationship Id="R7ca5679af6b749aa" Type="http://schemas.openxmlformats.org/officeDocument/2006/relationships/image" Target="../media/image5.png"/><Relationship Id="Rc4c7d62de8a3426a" Type="http://schemas.openxmlformats.org/officeDocument/2006/relationships/image" Target="../media/image3.svg"/><Relationship Id="Rd82b7b6ce7ff488e" Type="http://schemas.openxmlformats.org/officeDocument/2006/relationships/image" Target="../media/image5.png"/></Relationships>
</file>

<file path=ppt/slides/_rels/slide5.xml.rels><?xml version='1.0' encoding='UTF-8' standalone='yes'?>
<Relationships xmlns="http://schemas.openxmlformats.org/package/2006/relationships"><Relationship Id="R01135c1e388b494b" Type="http://schemas.openxmlformats.org/officeDocument/2006/relationships/image" Target="../media/image.png"/><Relationship Id="R0cc7244ff8514b4f" Type="http://schemas.openxmlformats.org/officeDocument/2006/relationships/image" Target="../media/image5.png"/><Relationship Id="R1c43300de8a9491a" Type="http://schemas.openxmlformats.org/officeDocument/2006/relationships/image" Target="../media/image6.svg"/><Relationship Id="R25f79fb5d55c4573" Type="http://schemas.openxmlformats.org/officeDocument/2006/relationships/image" Target="../media/image7.svg"/><Relationship Id="R2850312a58644da0" Type="http://schemas.openxmlformats.org/officeDocument/2006/relationships/image" Target="../media/image5.png"/><Relationship Id="R8dfd59526568498e" Type="http://schemas.openxmlformats.org/officeDocument/2006/relationships/image" Target="../media/image8.svg"/><Relationship Id="R9a0207fd5dba48fd" Type="http://schemas.openxmlformats.org/officeDocument/2006/relationships/image" Target="../media/image5.png"/><Relationship Id="Ra81494a18d654b45" Type="http://schemas.openxmlformats.org/officeDocument/2006/relationships/image" Target="../media/image9.svg"/><Relationship Id="Rccc7a3eb545c4674" Type="http://schemas.openxmlformats.org/officeDocument/2006/relationships/notesSlide" Target="../notesSlides/notesSlide5.xml"/><Relationship Id="Rdd95e8516b134aa1" Type="http://schemas.openxmlformats.org/officeDocument/2006/relationships/slideLayout" Target="../slideLayouts/slideLayout1.xml"/><Relationship Id="Rfdc96a228d02499c" Type="http://schemas.openxmlformats.org/officeDocument/2006/relationships/image" Target="../media/image5.png"/></Relationships>
</file>

<file path=ppt/slides/_rels/slide6.xml.rels><?xml version='1.0' encoding='UTF-8' standalone='yes'?>
<Relationships xmlns="http://schemas.openxmlformats.org/package/2006/relationships"><Relationship Id="R55bb83fd79f545ad" Type="http://schemas.openxmlformats.org/officeDocument/2006/relationships/notesSlide" Target="../notesSlides/notesSlide6.xml"/><Relationship Id="Ra647ec44e5fa4592" Type="http://schemas.openxmlformats.org/officeDocument/2006/relationships/image" Target="../media/image.png"/><Relationship Id="Raa9c0cfaed2445cd"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07493988307841c9" Type="http://schemas.openxmlformats.org/officeDocument/2006/relationships/slideLayout" Target="../slideLayouts/slideLayout1.xml"/><Relationship Id="R0981ca1f557b4ed9" Type="http://schemas.openxmlformats.org/officeDocument/2006/relationships/image" Target="../media/image10.svg"/><Relationship Id="R0f1b1b098eb74e58" Type="http://schemas.openxmlformats.org/officeDocument/2006/relationships/notesSlide" Target="../notesSlides/notesSlide7.xml"/><Relationship Id="R4f1074f196534fdb" Type="http://schemas.openxmlformats.org/officeDocument/2006/relationships/image" Target="../media/image.png"/><Relationship Id="R4f1c1d33ecb0464d" Type="http://schemas.openxmlformats.org/officeDocument/2006/relationships/image" Target="../media/image19.png"/><Relationship Id="R79110a699be44f34" Type="http://schemas.openxmlformats.org/officeDocument/2006/relationships/image" Target="../media/image18.png"/><Relationship Id="Rdfe9167fa9a14425" Type="http://schemas.openxmlformats.org/officeDocument/2006/relationships/image" Target="../media/image5.png"/></Relationships>
</file>

<file path=ppt/slides/_rels/slide8.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0759c6670db247af" Type="http://schemas.openxmlformats.org/officeDocument/2006/relationships/image" Target="../media/image13.svg"/><Relationship Id="R149b7c7c0ea84368" Type="http://schemas.openxmlformats.org/officeDocument/2006/relationships/image" Target="../media/image5.png"/><Relationship Id="R227248bdee124853" Type="http://schemas.openxmlformats.org/officeDocument/2006/relationships/notesSlide" Target="../notesSlides/notesSlide8.xml"/><Relationship Id="R2ae928a779194058" Type="http://schemas.openxmlformats.org/officeDocument/2006/relationships/image" Target="../media/image5.png"/><Relationship Id="R3227fa29fb6a48a6" Type="http://schemas.openxmlformats.org/officeDocument/2006/relationships/image" Target="../media/image12.svg"/><Relationship Id="R3b5b35527e71469e" Type="http://schemas.openxmlformats.org/officeDocument/2006/relationships/image" Target="../media/image5.png"/><Relationship Id="R50f9e443e02944c8" Type="http://schemas.openxmlformats.org/officeDocument/2006/relationships/image" Target="../media/image11.svg"/><Relationship Id="R5b07bd7ff5614228" Type="http://schemas.openxmlformats.org/officeDocument/2006/relationships/slideLayout" Target="../slideLayouts/slideLayout1.xml"/><Relationship Id="R610762ea2ef54140" Type="http://schemas.openxmlformats.org/officeDocument/2006/relationships/image" Target="../media/image5.png"/><Relationship Id="R7d1df2aba6c643a5" Type="http://schemas.openxmlformats.org/officeDocument/2006/relationships/image" Target="../media/image5.png"/><Relationship Id="Rbbc2e745e8954ddc" Type="http://schemas.openxmlformats.org/officeDocument/2006/relationships/image" Target="../media/image15.svg"/><Relationship Id="Rc14cfbdb61ae4e78" Type="http://schemas.openxmlformats.org/officeDocument/2006/relationships/image" Target="../media/image.png"/><Relationship Id="Rd465c2bb47234d84" Type="http://schemas.openxmlformats.org/officeDocument/2006/relationships/image" Target="../media/image14.svg"/></Relationships>
</file>

<file path=ppt/slides/_rels/slide11.xml.rels><?xml version='1.0' encoding='UTF-8' standalone='yes'?>
<Relationships xmlns="http://schemas.openxmlformats.org/package/2006/relationships"><Relationship Id="R88d351b86fd94ea9" Type="http://schemas.openxmlformats.org/officeDocument/2006/relationships/notesSlide" Target="../notesSlides/notesSlide9.xml"/><Relationship Id="Ra505c39e5ab14c43" Type="http://schemas.openxmlformats.org/officeDocument/2006/relationships/slideLayout" Target="../slideLayouts/slideLayout1.xml"/><Relationship Id="Rbc22da5dae1f4096" Type="http://schemas.openxmlformats.org/officeDocument/2006/relationships/image" Target="../media/image28.png"/><Relationship Id="Rdd5ea463d7c34c3a" Type="http://schemas.openxmlformats.org/officeDocument/2006/relationships/image" Target="../media/image.png"/><Relationship Id="rIdCADMedia" Type="http://schemas.microsoft.com/office/2007/relationships/media" Target="../media/cad-tilt.mp4"/><Relationship Id="rIdCADVideo" Type="http://schemas.openxmlformats.org/officeDocument/2006/relationships/video" Target="../media/cad-tilt.mp4"/></Relationships>
</file>

<file path=ppt/slides/_rels/slide12.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image" Target="../media/image1.jpg"/><Relationship Id="rId6" Type="http://schemas.openxmlformats.org/officeDocument/2006/relationships/image" Target="../media/image23.jpg"/><Relationship Id="rId7" Type="http://schemas.openxmlformats.org/officeDocument/2006/relationships/image" Target="../media/image24.jpg"/><Relationship Id="rId8" Type="http://schemas.openxmlformats.org/officeDocument/2006/relationships/image" Target="../media/image25.jpg"/><Relationship Id="rId9" Type="http://schemas.openxmlformats.org/officeDocument/2006/relationships/image" Target="../media/image26.jpg"/><Relationship Id="rId10" Type="http://schemas.openxmlformats.org/officeDocument/2006/relationships/image" Target="../media/image27.jpg"/><Relationship Id="rId11" Type="http://schemas.openxmlformats.org/officeDocument/2006/relationships/image" Target="../media/image29.jpg"/><Relationship Id="rId12" Type="http://schemas.openxmlformats.org/officeDocument/2006/relationships/image" Target="../media/image30.jpg"/><Relationship Id="rId13"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image" Target="../media/image31.jpg"/><Relationship Id="rId6"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cd806455dde642c5" Type="http://schemas.openxmlformats.org/officeDocument/2006/relationships/notesSlide" Target="../notesSlides/notesSlide10.xml"/><Relationship Id="rId6" Type="http://schemas.openxmlformats.org/officeDocument/2006/relationships/image" Target="../media/image32.jpg"/></Relationships>
</file>

<file path=ppt/slides/_rels/slide15.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image" Target="../media/image33.jpg"/><Relationship Id="rId6" Type="http://schemas.openxmlformats.org/officeDocument/2006/relationships/image" Target="../media/image34.jpg"/><Relationship Id="rId7" Type="http://schemas.openxmlformats.org/officeDocument/2006/relationships/image" Target="../media/image32.jpg"/><Relationship Id="rId8" Type="http://schemas.openxmlformats.org/officeDocument/2006/relationships/image" Target="../media/image35.jpg"/><Relationship Id="rId9"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0c5711e743194979" Type="http://schemas.openxmlformats.org/officeDocument/2006/relationships/slideLayout" Target="../slideLayouts/slideLayout1.xml"/><Relationship Id="R71f9e6dfc7b44475" Type="http://schemas.openxmlformats.org/officeDocument/2006/relationships/image" Target="../media/image17.svg"/><Relationship Id="Re605a8b3153f497e" Type="http://schemas.openxmlformats.org/officeDocument/2006/relationships/image" Target="../media/image.png"/><Relationship Id="Rfa5861b155b14faa" Type="http://schemas.openxmlformats.org/officeDocument/2006/relationships/notesSlide" Target="../notesSlides/notesSlide11.xml"/><Relationship Id="Rfb7356697c9e49ed" Type="http://schemas.openxmlformats.org/officeDocument/2006/relationships/image" Target="../media/image5.png"/><Relationship Id="rId6" Type="http://schemas.openxmlformats.org/officeDocument/2006/relationships/image" Target="../media/image36.jpg"/></Relationships>
</file>

<file path=ppt/slides/_rels/slide18.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48d5ad0a3f4d46de" Type="http://schemas.openxmlformats.org/officeDocument/2006/relationships/slideLayout" Target="../slideLayouts/slideLayout1.xml"/><Relationship Id="R633786321f0c4691" Type="http://schemas.openxmlformats.org/officeDocument/2006/relationships/notesSlide" Target="../notesSlides/notesSlide12.xml"/><Relationship Id="Rf0eb70e7670746b2" Type="http://schemas.openxmlformats.org/officeDocument/2006/relationships/image" Target="../media/image.png"/></Relationships>
</file>

<file path=ppt/slides/_rels/slide20.xml.rels><?xml version='1.0' encoding='UTF-8' standalone='yes'?>
<Relationships xmlns="http://schemas.openxmlformats.org/package/2006/relationships"><Relationship Id="R2ce7a22848844a7d" Type="http://schemas.openxmlformats.org/officeDocument/2006/relationships/image" Target="../media/image18.svg"/><Relationship Id="R4123ce340acd44a0" Type="http://schemas.openxmlformats.org/officeDocument/2006/relationships/slideLayout" Target="../slideLayouts/slideLayout1.xml"/><Relationship Id="Rb1b8220f9bed42cc" Type="http://schemas.openxmlformats.org/officeDocument/2006/relationships/image" Target="../media/image5.png"/><Relationship Id="Rb4ce7c12eccb4af0" Type="http://schemas.openxmlformats.org/officeDocument/2006/relationships/image" Target="../media/image.png"/><Relationship Id="Rc775d1af8a5548f3" Type="http://schemas.openxmlformats.org/officeDocument/2006/relationships/notesSlide" Target="../notesSlides/notesSlide13.xml"/></Relationships>
</file>

<file path=ppt/slides/slide1.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78c4cc112044c3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presentation">
            <a:extLst xmlns:a="http://schemas.openxmlformats.org/drawingml/2006/main">
              <a:ext uri="{FF2B5EF4-FFF2-40B4-BE49-F238E27FC236}">
                <a16:creationId xmlns:a16="http://schemas.microsoft.com/office/drawing/2014/main" id="{87DD13EB-283A-451C-BF18-C3AF9FB3EBAF}"/>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3" name="01">
            <a:extLst xmlns:a="http://schemas.openxmlformats.org/drawingml/2006/main">
              <a:ext uri="{FF2B5EF4-FFF2-40B4-BE49-F238E27FC236}">
                <a16:creationId xmlns:a16="http://schemas.microsoft.com/office/drawing/2014/main" id="{4BBA4DA7-C414-4F92-960E-466CC0EA3628}"/>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01</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201d6b69d524530"/>
          <a:stretch xmlns:a="http://schemas.openxmlformats.org/drawingml/2006/main"/>
        </p:blipFill>
        <p:spPr>
          <a:xfrm xmlns:a="http://schemas.openxmlformats.org/drawingml/2006/main">
            <a:off x="539750" y="285750"/>
            <a:ext cx="711200" cy="723900"/>
          </a:xfrm>
          <a:prstGeom xmlns:a="http://schemas.openxmlformats.org/drawingml/2006/main" prst="rect">
            <a:avLst/>
          </a:prstGeom>
        </p:spPr>
      </p:pic>
      <p:sp>
        <p:nvSpPr>
          <p:cNvPr id="5" name="Dayananda Sagar College of Engineering">
            <a:extLst xmlns:a="http://schemas.openxmlformats.org/drawingml/2006/main">
              <a:ext uri="{FF2B5EF4-FFF2-40B4-BE49-F238E27FC236}">
                <a16:creationId xmlns:a16="http://schemas.microsoft.com/office/drawing/2014/main" id="{C369CC5E-AB67-4B45-A284-C200029EF260}"/>
              </a:ext>
            </a:extLst>
          </p:cNvPr>
          <p:cNvSpPr>
            <a:spLocks xmlns:a="http://schemas.openxmlformats.org/drawingml/2006/main" noGrp="1"/>
          </p:cNvSpPr>
          <p:nvPr/>
        </p:nvSpPr>
        <p:spPr>
          <a:xfrm xmlns:a="http://schemas.openxmlformats.org/drawingml/2006/main">
            <a:off x="1457325" y="295275"/>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E2629"/>
                </a:solidFill>
                <a:latin typeface="Arial"/>
                <a:ea typeface="Arial"/>
                <a:cs typeface="Arial"/>
              </a:defRPr>
            </a:pPr>
            <a:r>
              <a:rPr sz="2100" b="1">
                <a:solidFill>
                  <a:srgbClr val="1E2629"/>
                </a:solidFill>
                <a:latin typeface="Arial"/>
                <a:ea typeface="Arial"/>
                <a:cs typeface="Arial"/>
              </a:rPr>
              <a:t>Dayananda Sagar College of Engineering</a:t>
            </a:r>
          </a:p>
        </p:txBody>
      </p:sp>
      <p:sp>
        <p:nvSpPr>
          <p:cNvPr id="6" name="Department of Electronics and Telecommunication Engineering">
            <a:extLst xmlns:a="http://schemas.openxmlformats.org/drawingml/2006/main">
              <a:ext uri="{FF2B5EF4-FFF2-40B4-BE49-F238E27FC236}">
                <a16:creationId xmlns:a16="http://schemas.microsoft.com/office/drawing/2014/main" id="{FCF8DB66-4804-4891-ABF8-BC1BC138F131}"/>
              </a:ext>
            </a:extLst>
          </p:cNvPr>
          <p:cNvSpPr>
            <a:spLocks xmlns:a="http://schemas.openxmlformats.org/drawingml/2006/main" noGrp="1"/>
          </p:cNvSpPr>
          <p:nvPr/>
        </p:nvSpPr>
        <p:spPr>
          <a:xfrm xmlns:a="http://schemas.openxmlformats.org/drawingml/2006/main">
            <a:off x="1457325" y="685800"/>
            <a:ext cx="1019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B5859"/>
                </a:solidFill>
                <a:latin typeface="Arial"/>
                <a:ea typeface="Arial"/>
                <a:cs typeface="Arial"/>
              </a:defRPr>
            </a:pPr>
            <a:r>
              <a:rPr sz="1500" b="0">
                <a:solidFill>
                  <a:srgbClr val="4B5859"/>
                </a:solidFill>
                <a:latin typeface="Arial"/>
                <a:ea typeface="Arial"/>
                <a:cs typeface="Arial"/>
              </a:rPr>
              <a:t>Department of Electronics and Telecommunication Engineering</a:t>
            </a:r>
          </a:p>
        </p:txBody>
      </p:sp>
      <p:sp>
        <p:nvSpPr>
          <p:cNvPr id="7" name="An autonomous institute under Visvesvaraya Technological Uni">
            <a:extLst xmlns:a="http://schemas.openxmlformats.org/drawingml/2006/main">
              <a:ext uri="{FF2B5EF4-FFF2-40B4-BE49-F238E27FC236}">
                <a16:creationId xmlns:a16="http://schemas.microsoft.com/office/drawing/2014/main" id="{CE584527-6164-41A9-A614-4DF1E25842A8}"/>
              </a:ext>
            </a:extLst>
          </p:cNvPr>
          <p:cNvSpPr>
            <a:spLocks xmlns:a="http://schemas.openxmlformats.org/drawingml/2006/main" noGrp="1"/>
          </p:cNvSpPr>
          <p:nvPr/>
        </p:nvSpPr>
        <p:spPr>
          <a:xfrm xmlns:a="http://schemas.openxmlformats.org/drawingml/2006/main">
            <a:off x="1457325" y="971550"/>
            <a:ext cx="10191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6E7C7D"/>
                </a:solidFill>
                <a:latin typeface="Arial"/>
                <a:ea typeface="Arial"/>
                <a:cs typeface="Arial"/>
              </a:defRPr>
            </a:pPr>
            <a:r>
              <a:rPr sz="1050" b="0">
                <a:solidFill>
                  <a:srgbClr val="6E7C7D"/>
                </a:solidFill>
                <a:latin typeface="Arial"/>
                <a:ea typeface="Arial"/>
                <a:cs typeface="Arial"/>
              </a:rPr>
              <a:t>An autonomous institute under Visvesvaraya Technological University, Belagavi</a:t>
            </a:r>
          </a:p>
        </p:txBody>
      </p:sp>
      <p:sp>
        <p:nvSpPr>
          <p:cNvPr id="8" name="Shavige Malleshwara Hills, Kumaraswamy Layout, Bengaluru 560">
            <a:extLst xmlns:a="http://schemas.openxmlformats.org/drawingml/2006/main">
              <a:ext uri="{FF2B5EF4-FFF2-40B4-BE49-F238E27FC236}">
                <a16:creationId xmlns:a16="http://schemas.microsoft.com/office/drawing/2014/main" id="{85729C1E-CFF0-40BC-B7D3-050C11089529}"/>
              </a:ext>
            </a:extLst>
          </p:cNvPr>
          <p:cNvSpPr>
            <a:spLocks xmlns:a="http://schemas.openxmlformats.org/drawingml/2006/main" noGrp="1"/>
          </p:cNvSpPr>
          <p:nvPr/>
        </p:nvSpPr>
        <p:spPr>
          <a:xfrm xmlns:a="http://schemas.openxmlformats.org/drawingml/2006/main">
            <a:off x="1457325" y="1171575"/>
            <a:ext cx="10191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6E7C7D"/>
                </a:solidFill>
                <a:latin typeface="Arial"/>
                <a:ea typeface="Arial"/>
                <a:cs typeface="Arial"/>
              </a:defRPr>
            </a:pPr>
            <a:r>
              <a:rPr sz="1050" b="0">
                <a:solidFill>
                  <a:srgbClr val="6E7C7D"/>
                </a:solidFill>
                <a:latin typeface="Arial"/>
                <a:ea typeface="Arial"/>
                <a:cs typeface="Arial"/>
              </a:rPr>
              <a:t>Shavige Malleshwara Hills, Kumaraswamy Layout, Bengaluru 560111</a:t>
            </a:r>
          </a:p>
        </p:txBody>
      </p:sp>
      <p:sp>
        <p:nvSpPr>
          <p:cNvPr id="9" name="Phase-I presentation  /  22ETP76  /  2026-27">
            <a:extLst xmlns:a="http://schemas.openxmlformats.org/drawingml/2006/main">
              <a:ext uri="{FF2B5EF4-FFF2-40B4-BE49-F238E27FC236}">
                <a16:creationId xmlns:a16="http://schemas.microsoft.com/office/drawing/2014/main" id="{66F5C34F-DC1C-4BBB-96F3-52C171B805DC}"/>
              </a:ext>
            </a:extLst>
          </p:cNvPr>
          <p:cNvSpPr>
            <a:spLocks xmlns:a="http://schemas.openxmlformats.org/drawingml/2006/main" noGrp="1"/>
          </p:cNvSpPr>
          <p:nvPr/>
        </p:nvSpPr>
        <p:spPr>
          <a:xfrm xmlns:a="http://schemas.openxmlformats.org/drawingml/2006/main">
            <a:off x="533400" y="16097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B7F70"/>
                </a:solidFill>
                <a:latin typeface="Arial"/>
                <a:ea typeface="Arial"/>
                <a:cs typeface="Arial"/>
              </a:defRPr>
            </a:pPr>
            <a:r>
              <a:rPr sz="1650" b="1">
                <a:solidFill>
                  <a:srgbClr val="0B7F70"/>
                </a:solidFill>
                <a:latin typeface="Arial"/>
                <a:ea typeface="Arial"/>
                <a:cs typeface="Arial"/>
              </a:rPr>
              <a:t>Phase-I presentation  /  22ETP76  /  2026-27</a:t>
            </a:r>
          </a:p>
        </p:txBody>
      </p:sp>
      <p:sp>
        <p:nvSpPr>
          <p:cNvPr id="10" name="A Review of Onboard SLAM,&#10;3-D Collaborative Mapping and&#10;Acou">
            <a:extLst xmlns:a="http://schemas.openxmlformats.org/drawingml/2006/main">
              <a:ext uri="{FF2B5EF4-FFF2-40B4-BE49-F238E27FC236}">
                <a16:creationId xmlns:a16="http://schemas.microsoft.com/office/drawing/2014/main" id="{021A8425-4691-4804-B9F3-A6EA1CE08510}"/>
              </a:ext>
            </a:extLst>
          </p:cNvPr>
          <p:cNvSpPr>
            <a:spLocks xmlns:a="http://schemas.openxmlformats.org/drawingml/2006/main" noGrp="1"/>
          </p:cNvSpPr>
          <p:nvPr/>
        </p:nvSpPr>
        <p:spPr>
          <a:xfrm xmlns:a="http://schemas.openxmlformats.org/drawingml/2006/main">
            <a:off x="533400" y="2114550"/>
            <a:ext cx="833437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E2629"/>
                </a:solidFill>
                <a:latin typeface="Arial"/>
                <a:ea typeface="Arial"/>
                <a:cs typeface="Arial"/>
              </a:defRPr>
            </a:pPr>
            <a:r>
              <a:rPr sz="3300" b="1">
                <a:solidFill>
                  <a:srgbClr val="1E2629"/>
                </a:solidFill>
                <a:latin typeface="Arial"/>
                <a:ea typeface="Arial"/>
                <a:cs typeface="Arial"/>
              </a:rPr>
              <a:t>On-board SLAM for</a:t>
            </a:r>
          </a:p>
          <a:p xmlns:a="http://schemas.openxmlformats.org/drawingml/2006/main">
            <a:pPr algn="l">
              <a:defRPr sz="3300" b="1">
                <a:solidFill>
                  <a:srgbClr val="1E2629"/>
                </a:solidFill>
                <a:latin typeface="Arial"/>
                <a:ea typeface="Arial"/>
                <a:cs typeface="Arial"/>
              </a:defRPr>
            </a:pPr>
            <a:r>
              <a:rPr sz="3300" b="1">
                <a:solidFill>
                  <a:srgbClr val="1E2629"/>
                </a:solidFill>
                <a:latin typeface="Arial"/>
                <a:ea typeface="Arial"/>
                <a:cs typeface="Arial"/>
              </a:rPr>
              <a:t>GPS-Denied</a:t>
            </a:r>
          </a:p>
          <a:p xmlns:a="http://schemas.openxmlformats.org/drawingml/2006/main">
            <a:pPr algn="l">
              <a:defRPr sz="3300" b="1">
                <a:solidFill>
                  <a:srgbClr val="1E2629"/>
                </a:solidFill>
                <a:latin typeface="Arial"/>
                <a:ea typeface="Arial"/>
                <a:cs typeface="Arial"/>
              </a:defRPr>
            </a:pPr>
            <a:r>
              <a:rPr sz="3300" b="1">
                <a:solidFill>
                  <a:srgbClr val="1E2629"/>
                </a:solidFill>
                <a:latin typeface="Arial"/>
                <a:ea typeface="Arial"/>
                <a:cs typeface="Arial"/>
              </a:rPr>
              <a:t>Indoor Search</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47ee8e4131f40e7"/>
          <a:stretch xmlns:a="http://schemas.openxmlformats.org/drawingml/2006/main"/>
        </p:blipFill>
        <p:spPr>
          <a:xfrm xmlns:a="http://schemas.openxmlformats.org/drawingml/2006/main">
            <a:off x="8867775" y="2313689"/>
            <a:ext cx="2790825" cy="2068697"/>
          </a:xfrm>
          <a:prstGeom xmlns:a="http://schemas.openxmlformats.org/drawingml/2006/main" prst="rect">
            <a:avLst/>
          </a:prstGeom>
        </p:spPr>
      </p:pic>
      <p:sp>
        <p:nvSpPr>
          <p:cNvPr id="12" name="LiDAR reference illustration">
            <a:extLst xmlns:a="http://schemas.openxmlformats.org/drawingml/2006/main">
              <a:ext uri="{FF2B5EF4-FFF2-40B4-BE49-F238E27FC236}">
                <a16:creationId xmlns:a16="http://schemas.microsoft.com/office/drawing/2014/main" id="{7B60DC96-A627-4186-A38E-20ACB8E11FD2}"/>
              </a:ext>
            </a:extLst>
          </p:cNvPr>
          <p:cNvSpPr>
            <a:spLocks xmlns:a="http://schemas.openxmlformats.org/drawingml/2006/main" noGrp="1"/>
          </p:cNvSpPr>
          <p:nvPr/>
        </p:nvSpPr>
        <p:spPr>
          <a:xfrm xmlns:a="http://schemas.openxmlformats.org/drawingml/2006/main">
            <a:off x="8858250" y="4676775"/>
            <a:ext cx="2800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6E7C7D"/>
                </a:solidFill>
                <a:latin typeface="Arial"/>
                <a:ea typeface="Arial"/>
                <a:cs typeface="Arial"/>
              </a:defRPr>
            </a:pPr>
            <a:r>
              <a:rPr sz="1275" b="0">
                <a:solidFill>
                  <a:srgbClr val="6E7C7D"/>
                </a:solidFill>
                <a:latin typeface="Arial"/>
                <a:ea typeface="Arial"/>
                <a:cs typeface="Arial"/>
              </a:rPr>
              <a:t>LiDAR reference illustration</a:t>
            </a:r>
          </a:p>
        </p:txBody>
      </p:sp>
      <p:sp>
        <p:nvSpPr>
          <p:cNvPr id="13" name="">
            <a:extLst xmlns:a="http://schemas.openxmlformats.org/drawingml/2006/main">
              <a:ext uri="{FF2B5EF4-FFF2-40B4-BE49-F238E27FC236}">
                <a16:creationId xmlns:a16="http://schemas.microsoft.com/office/drawing/2014/main" id="{DD358310-60DA-4075-9A80-D73AF52208E3}"/>
              </a:ext>
            </a:extLst>
          </p:cNvPr>
          <p:cNvSpPr>
            <a:spLocks xmlns:a="http://schemas.openxmlformats.org/drawingml/2006/main" noGrp="1"/>
          </p:cNvSpPr>
          <p:nvPr/>
        </p:nvSpPr>
        <p:spPr>
          <a:xfrm xmlns:a="http://schemas.openxmlformats.org/drawingml/2006/main">
            <a:off x="533400" y="5038725"/>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14" name="Naman Singh">
            <a:extLst xmlns:a="http://schemas.openxmlformats.org/drawingml/2006/main">
              <a:ext uri="{FF2B5EF4-FFF2-40B4-BE49-F238E27FC236}">
                <a16:creationId xmlns:a16="http://schemas.microsoft.com/office/drawing/2014/main" id="{D2ADDE64-5D80-4569-BA50-FEF952C1A99C}"/>
              </a:ext>
            </a:extLst>
          </p:cNvPr>
          <p:cNvSpPr>
            <a:spLocks xmlns:a="http://schemas.openxmlformats.org/drawingml/2006/main" noGrp="1"/>
          </p:cNvSpPr>
          <p:nvPr/>
        </p:nvSpPr>
        <p:spPr>
          <a:xfrm xmlns:a="http://schemas.openxmlformats.org/drawingml/2006/main">
            <a:off x="533400" y="52673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E2629"/>
                </a:solidFill>
                <a:latin typeface="Arial"/>
                <a:ea typeface="Arial"/>
                <a:cs typeface="Arial"/>
              </a:defRPr>
            </a:pPr>
            <a:r>
              <a:rPr sz="1725" b="0">
                <a:solidFill>
                  <a:srgbClr val="1E2629"/>
                </a:solidFill>
                <a:latin typeface="Arial"/>
                <a:ea typeface="Arial"/>
                <a:cs typeface="Arial"/>
              </a:rPr>
              <a:t>Naman Singh</a:t>
            </a:r>
          </a:p>
        </p:txBody>
      </p:sp>
      <p:sp>
        <p:nvSpPr>
          <p:cNvPr id="15" name="1DS23ET072">
            <a:extLst xmlns:a="http://schemas.openxmlformats.org/drawingml/2006/main">
              <a:ext uri="{FF2B5EF4-FFF2-40B4-BE49-F238E27FC236}">
                <a16:creationId xmlns:a16="http://schemas.microsoft.com/office/drawing/2014/main" id="{F8207E89-876B-46F1-AEE3-7FC4AEDD3FC4}"/>
              </a:ext>
            </a:extLst>
          </p:cNvPr>
          <p:cNvSpPr>
            <a:spLocks xmlns:a="http://schemas.openxmlformats.org/drawingml/2006/main" noGrp="1"/>
          </p:cNvSpPr>
          <p:nvPr/>
        </p:nvSpPr>
        <p:spPr>
          <a:xfrm xmlns:a="http://schemas.openxmlformats.org/drawingml/2006/main">
            <a:off x="533400" y="5562600"/>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B5859"/>
                </a:solidFill>
                <a:latin typeface="Arial"/>
                <a:ea typeface="Arial"/>
                <a:cs typeface="Arial"/>
              </a:defRPr>
            </a:pPr>
            <a:r>
              <a:rPr sz="1275" b="0">
                <a:solidFill>
                  <a:srgbClr val="4B5859"/>
                </a:solidFill>
                <a:latin typeface="Arial"/>
                <a:ea typeface="Arial"/>
                <a:cs typeface="Arial"/>
              </a:rPr>
              <a:t>1DS23ET072</a:t>
            </a:r>
          </a:p>
        </p:txBody>
      </p:sp>
      <p:sp>
        <p:nvSpPr>
          <p:cNvPr id="16" name="Shivansh Kumar Pandey">
            <a:extLst xmlns:a="http://schemas.openxmlformats.org/drawingml/2006/main">
              <a:ext uri="{FF2B5EF4-FFF2-40B4-BE49-F238E27FC236}">
                <a16:creationId xmlns:a16="http://schemas.microsoft.com/office/drawing/2014/main" id="{B3D16071-E705-4A2E-86E2-E56A5BB0AC2E}"/>
              </a:ext>
            </a:extLst>
          </p:cNvPr>
          <p:cNvSpPr>
            <a:spLocks xmlns:a="http://schemas.openxmlformats.org/drawingml/2006/main" noGrp="1"/>
          </p:cNvSpPr>
          <p:nvPr/>
        </p:nvSpPr>
        <p:spPr>
          <a:xfrm xmlns:a="http://schemas.openxmlformats.org/drawingml/2006/main">
            <a:off x="4143375" y="52673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E2629"/>
                </a:solidFill>
                <a:latin typeface="Arial"/>
                <a:ea typeface="Arial"/>
                <a:cs typeface="Arial"/>
              </a:defRPr>
            </a:pPr>
            <a:r>
              <a:rPr sz="1725" b="0">
                <a:solidFill>
                  <a:srgbClr val="1E2629"/>
                </a:solidFill>
                <a:latin typeface="Arial"/>
                <a:ea typeface="Arial"/>
                <a:cs typeface="Arial"/>
              </a:rPr>
              <a:t>Shivansh Kumar Pandey</a:t>
            </a:r>
          </a:p>
        </p:txBody>
      </p:sp>
      <p:sp>
        <p:nvSpPr>
          <p:cNvPr id="17" name="1DS23ET104">
            <a:extLst xmlns:a="http://schemas.openxmlformats.org/drawingml/2006/main">
              <a:ext uri="{FF2B5EF4-FFF2-40B4-BE49-F238E27FC236}">
                <a16:creationId xmlns:a16="http://schemas.microsoft.com/office/drawing/2014/main" id="{4DBC8B1F-88C8-449A-ADB7-8D3F49F1FEED}"/>
              </a:ext>
            </a:extLst>
          </p:cNvPr>
          <p:cNvSpPr>
            <a:spLocks xmlns:a="http://schemas.openxmlformats.org/drawingml/2006/main" noGrp="1"/>
          </p:cNvSpPr>
          <p:nvPr/>
        </p:nvSpPr>
        <p:spPr>
          <a:xfrm xmlns:a="http://schemas.openxmlformats.org/drawingml/2006/main">
            <a:off x="4143375" y="5562600"/>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B5859"/>
                </a:solidFill>
                <a:latin typeface="Arial"/>
                <a:ea typeface="Arial"/>
                <a:cs typeface="Arial"/>
              </a:defRPr>
            </a:pPr>
            <a:r>
              <a:rPr sz="1275" b="0">
                <a:solidFill>
                  <a:srgbClr val="4B5859"/>
                </a:solidFill>
                <a:latin typeface="Arial"/>
                <a:ea typeface="Arial"/>
                <a:cs typeface="Arial"/>
              </a:rPr>
              <a:t>1DS23ET104</a:t>
            </a:r>
          </a:p>
        </p:txBody>
      </p:sp>
      <p:sp>
        <p:nvSpPr>
          <p:cNvPr id="18" name="Sai Shourya Inguru">
            <a:extLst xmlns:a="http://schemas.openxmlformats.org/drawingml/2006/main">
              <a:ext uri="{FF2B5EF4-FFF2-40B4-BE49-F238E27FC236}">
                <a16:creationId xmlns:a16="http://schemas.microsoft.com/office/drawing/2014/main" id="{D4D901BC-2D28-429C-A6DD-E94D3A2405E5}"/>
              </a:ext>
            </a:extLst>
          </p:cNvPr>
          <p:cNvSpPr>
            <a:spLocks xmlns:a="http://schemas.openxmlformats.org/drawingml/2006/main" noGrp="1"/>
          </p:cNvSpPr>
          <p:nvPr/>
        </p:nvSpPr>
        <p:spPr>
          <a:xfrm xmlns:a="http://schemas.openxmlformats.org/drawingml/2006/main">
            <a:off x="533400" y="58388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E2629"/>
                </a:solidFill>
                <a:latin typeface="Arial"/>
                <a:ea typeface="Arial"/>
                <a:cs typeface="Arial"/>
              </a:defRPr>
            </a:pPr>
            <a:r>
              <a:rPr sz="1725" b="0">
                <a:solidFill>
                  <a:srgbClr val="1E2629"/>
                </a:solidFill>
                <a:latin typeface="Arial"/>
                <a:ea typeface="Arial"/>
                <a:cs typeface="Arial"/>
              </a:rPr>
              <a:t>Sai Shourya Inguru</a:t>
            </a:r>
          </a:p>
        </p:txBody>
      </p:sp>
      <p:sp>
        <p:nvSpPr>
          <p:cNvPr id="19" name="1DS23ET094">
            <a:extLst xmlns:a="http://schemas.openxmlformats.org/drawingml/2006/main">
              <a:ext uri="{FF2B5EF4-FFF2-40B4-BE49-F238E27FC236}">
                <a16:creationId xmlns:a16="http://schemas.microsoft.com/office/drawing/2014/main" id="{0F77D6B5-2689-4A75-9289-3D351C8018BF}"/>
              </a:ext>
            </a:extLst>
          </p:cNvPr>
          <p:cNvSpPr>
            <a:spLocks xmlns:a="http://schemas.openxmlformats.org/drawingml/2006/main" noGrp="1"/>
          </p:cNvSpPr>
          <p:nvPr/>
        </p:nvSpPr>
        <p:spPr>
          <a:xfrm xmlns:a="http://schemas.openxmlformats.org/drawingml/2006/main">
            <a:off x="533400" y="6134100"/>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B5859"/>
                </a:solidFill>
                <a:latin typeface="Arial"/>
                <a:ea typeface="Arial"/>
                <a:cs typeface="Arial"/>
              </a:defRPr>
            </a:pPr>
            <a:r>
              <a:rPr sz="1275" b="0">
                <a:solidFill>
                  <a:srgbClr val="4B5859"/>
                </a:solidFill>
                <a:latin typeface="Arial"/>
                <a:ea typeface="Arial"/>
                <a:cs typeface="Arial"/>
              </a:rPr>
              <a:t>1DS23ET094</a:t>
            </a:r>
          </a:p>
        </p:txBody>
      </p:sp>
      <p:sp>
        <p:nvSpPr>
          <p:cNvPr id="20" name="Shraddha Upadhyay">
            <a:extLst xmlns:a="http://schemas.openxmlformats.org/drawingml/2006/main">
              <a:ext uri="{FF2B5EF4-FFF2-40B4-BE49-F238E27FC236}">
                <a16:creationId xmlns:a16="http://schemas.microsoft.com/office/drawing/2014/main" id="{E43E7B79-1EB0-498E-9F53-8FC0A2A7DA91}"/>
              </a:ext>
            </a:extLst>
          </p:cNvPr>
          <p:cNvSpPr>
            <a:spLocks xmlns:a="http://schemas.openxmlformats.org/drawingml/2006/main" noGrp="1"/>
          </p:cNvSpPr>
          <p:nvPr/>
        </p:nvSpPr>
        <p:spPr>
          <a:xfrm xmlns:a="http://schemas.openxmlformats.org/drawingml/2006/main">
            <a:off x="4143375" y="58388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E2629"/>
                </a:solidFill>
                <a:latin typeface="Arial"/>
                <a:ea typeface="Arial"/>
                <a:cs typeface="Arial"/>
              </a:defRPr>
            </a:pPr>
            <a:r>
              <a:rPr sz="1725" b="0">
                <a:solidFill>
                  <a:srgbClr val="1E2629"/>
                </a:solidFill>
                <a:latin typeface="Arial"/>
                <a:ea typeface="Arial"/>
                <a:cs typeface="Arial"/>
              </a:rPr>
              <a:t>Shraddha Upadhyay</a:t>
            </a:r>
          </a:p>
        </p:txBody>
      </p:sp>
      <p:sp>
        <p:nvSpPr>
          <p:cNvPr id="21" name="1DS23ET105">
            <a:extLst xmlns:a="http://schemas.openxmlformats.org/drawingml/2006/main">
              <a:ext uri="{FF2B5EF4-FFF2-40B4-BE49-F238E27FC236}">
                <a16:creationId xmlns:a16="http://schemas.microsoft.com/office/drawing/2014/main" id="{3A769C13-23D2-4B7C-815B-856A2CA98175}"/>
              </a:ext>
            </a:extLst>
          </p:cNvPr>
          <p:cNvSpPr>
            <a:spLocks xmlns:a="http://schemas.openxmlformats.org/drawingml/2006/main" noGrp="1"/>
          </p:cNvSpPr>
          <p:nvPr/>
        </p:nvSpPr>
        <p:spPr>
          <a:xfrm xmlns:a="http://schemas.openxmlformats.org/drawingml/2006/main">
            <a:off x="4143375" y="6134100"/>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B5859"/>
                </a:solidFill>
                <a:latin typeface="Arial"/>
                <a:ea typeface="Arial"/>
                <a:cs typeface="Arial"/>
              </a:defRPr>
            </a:pPr>
            <a:r>
              <a:rPr sz="1275" b="0">
                <a:solidFill>
                  <a:srgbClr val="4B5859"/>
                </a:solidFill>
                <a:latin typeface="Arial"/>
                <a:ea typeface="Arial"/>
                <a:cs typeface="Arial"/>
              </a:rPr>
              <a:t>1DS23ET105</a:t>
            </a:r>
          </a:p>
        </p:txBody>
      </p:sp>
      <p:sp>
        <p:nvSpPr>
          <p:cNvPr id="22" name="Guide">
            <a:extLst xmlns:a="http://schemas.openxmlformats.org/drawingml/2006/main">
              <a:ext uri="{FF2B5EF4-FFF2-40B4-BE49-F238E27FC236}">
                <a16:creationId xmlns:a16="http://schemas.microsoft.com/office/drawing/2014/main" id="{84B0D035-ECC2-4C06-A103-9BD10BF580F8}"/>
              </a:ext>
            </a:extLst>
          </p:cNvPr>
          <p:cNvSpPr>
            <a:spLocks xmlns:a="http://schemas.openxmlformats.org/drawingml/2006/main" noGrp="1"/>
          </p:cNvSpPr>
          <p:nvPr/>
        </p:nvSpPr>
        <p:spPr>
          <a:xfrm xmlns:a="http://schemas.openxmlformats.org/drawingml/2006/main">
            <a:off x="8315325" y="5248275"/>
            <a:ext cx="3343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B7F70"/>
                </a:solidFill>
                <a:latin typeface="Arial"/>
                <a:ea typeface="Arial"/>
                <a:cs typeface="Arial"/>
              </a:defRPr>
            </a:pPr>
            <a:r>
              <a:rPr sz="1275" b="1">
                <a:solidFill>
                  <a:srgbClr val="0B7F70"/>
                </a:solidFill>
                <a:latin typeface="Arial"/>
                <a:ea typeface="Arial"/>
                <a:cs typeface="Arial"/>
              </a:rPr>
              <a:t>Guide</a:t>
            </a:r>
          </a:p>
        </p:txBody>
      </p:sp>
      <p:sp>
        <p:nvSpPr>
          <p:cNvPr id="23" name="Jayanth C, Assistant Professor">
            <a:extLst xmlns:a="http://schemas.openxmlformats.org/drawingml/2006/main">
              <a:ext uri="{FF2B5EF4-FFF2-40B4-BE49-F238E27FC236}">
                <a16:creationId xmlns:a16="http://schemas.microsoft.com/office/drawing/2014/main" id="{9638D24C-2F74-4616-9929-BCE4E22E60F2}"/>
              </a:ext>
            </a:extLst>
          </p:cNvPr>
          <p:cNvSpPr>
            <a:spLocks xmlns:a="http://schemas.openxmlformats.org/drawingml/2006/main" noGrp="1"/>
          </p:cNvSpPr>
          <p:nvPr/>
        </p:nvSpPr>
        <p:spPr>
          <a:xfrm xmlns:a="http://schemas.openxmlformats.org/drawingml/2006/main">
            <a:off x="8315325" y="5505450"/>
            <a:ext cx="3343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E2629"/>
                </a:solidFill>
                <a:latin typeface="Arial"/>
                <a:ea typeface="Arial"/>
                <a:cs typeface="Arial"/>
              </a:defRPr>
            </a:pPr>
            <a:r>
              <a:rPr sz="1650" b="1">
                <a:solidFill>
                  <a:srgbClr val="1E2629"/>
                </a:solidFill>
                <a:latin typeface="Arial"/>
                <a:ea typeface="Arial"/>
                <a:cs typeface="Arial"/>
              </a:rPr>
              <a:t>Jayanth C, Assistant Professor</a:t>
            </a:r>
          </a:p>
        </p:txBody>
      </p:sp>
      <p:sp>
        <p:nvSpPr>
          <p:cNvPr id="24" name="Co-guide">
            <a:extLst xmlns:a="http://schemas.openxmlformats.org/drawingml/2006/main">
              <a:ext uri="{FF2B5EF4-FFF2-40B4-BE49-F238E27FC236}">
                <a16:creationId xmlns:a16="http://schemas.microsoft.com/office/drawing/2014/main" id="{DB6739F3-3B84-4AD6-A3EB-EB7400DE956F}"/>
              </a:ext>
            </a:extLst>
          </p:cNvPr>
          <p:cNvSpPr>
            <a:spLocks xmlns:a="http://schemas.openxmlformats.org/drawingml/2006/main" noGrp="1"/>
          </p:cNvSpPr>
          <p:nvPr/>
        </p:nvSpPr>
        <p:spPr>
          <a:xfrm xmlns:a="http://schemas.openxmlformats.org/drawingml/2006/main">
            <a:off x="8315325" y="5886450"/>
            <a:ext cx="3343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B7F70"/>
                </a:solidFill>
                <a:latin typeface="Arial"/>
                <a:ea typeface="Arial"/>
                <a:cs typeface="Arial"/>
              </a:defRPr>
            </a:pPr>
            <a:r>
              <a:rPr sz="1275" b="1">
                <a:solidFill>
                  <a:srgbClr val="0B7F70"/>
                </a:solidFill>
                <a:latin typeface="Arial"/>
                <a:ea typeface="Arial"/>
                <a:cs typeface="Arial"/>
              </a:rPr>
              <a:t>Co-guide</a:t>
            </a:r>
          </a:p>
        </p:txBody>
      </p:sp>
      <p:sp>
        <p:nvSpPr>
          <p:cNvPr id="25" name="Dr. Smitha Sasi, Associate Professor">
            <a:extLst xmlns:a="http://schemas.openxmlformats.org/drawingml/2006/main">
              <a:ext uri="{FF2B5EF4-FFF2-40B4-BE49-F238E27FC236}">
                <a16:creationId xmlns:a16="http://schemas.microsoft.com/office/drawing/2014/main" id="{A7EBFFA3-FDCE-4F35-95DA-2C1C9BCDF30C}"/>
              </a:ext>
            </a:extLst>
          </p:cNvPr>
          <p:cNvSpPr>
            <a:spLocks xmlns:a="http://schemas.openxmlformats.org/drawingml/2006/main" noGrp="1"/>
          </p:cNvSpPr>
          <p:nvPr/>
        </p:nvSpPr>
        <p:spPr>
          <a:xfrm xmlns:a="http://schemas.openxmlformats.org/drawingml/2006/main">
            <a:off x="8315325" y="6143625"/>
            <a:ext cx="33432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E2629"/>
                </a:solidFill>
                <a:latin typeface="Arial"/>
                <a:ea typeface="Arial"/>
                <a:cs typeface="Arial"/>
              </a:defRPr>
            </a:pPr>
            <a:r>
              <a:rPr sz="1350" b="1">
                <a:solidFill>
                  <a:srgbClr val="1E2629"/>
                </a:solidFill>
                <a:latin typeface="Arial"/>
                <a:ea typeface="Arial"/>
                <a:cs typeface="Arial"/>
              </a:rPr>
              <a:t>Dr. Smitha Sasi, Associate Professor</a:t>
            </a:r>
          </a:p>
        </p:txBody>
      </p:sp>
    </p:spTree>
    <p:extLst>
      <p:ext uri="{BB962C8B-B14F-4D97-AF65-F5344CB8AC3E}">
        <p14:creationId xmlns:p14="http://schemas.microsoft.com/office/powerpoint/2010/main" val="762977245"/>
      </p:ext>
    </p:extLst>
  </p:cSld>
</p:sld>
</file>

<file path=ppt/slides/slide2.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be4354cd925484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nts">
            <a:extLst xmlns:a="http://schemas.openxmlformats.org/drawingml/2006/main">
              <a:ext uri="{FF2B5EF4-FFF2-40B4-BE49-F238E27FC236}">
                <a16:creationId xmlns:a16="http://schemas.microsoft.com/office/drawing/2014/main" id="{C16C960B-B4A1-448E-B179-0D565622C35A}"/>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Contents</a:t>
            </a:r>
          </a:p>
        </p:txBody>
      </p:sp>
      <p:sp>
        <p:nvSpPr>
          <p:cNvPr id="3" name="">
            <a:extLst xmlns:a="http://schemas.openxmlformats.org/drawingml/2006/main">
              <a:ext uri="{FF2B5EF4-FFF2-40B4-BE49-F238E27FC236}">
                <a16:creationId xmlns:a16="http://schemas.microsoft.com/office/drawing/2014/main" id="{7F20A408-75C1-42F0-B8EE-B55F2D5A685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B83413CC-D64E-4B95-8788-CAA951FF6187}"/>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02">
            <a:extLst xmlns:a="http://schemas.openxmlformats.org/drawingml/2006/main">
              <a:ext uri="{FF2B5EF4-FFF2-40B4-BE49-F238E27FC236}">
                <a16:creationId xmlns:a16="http://schemas.microsoft.com/office/drawing/2014/main" id="{B56E374C-A2D1-43E7-B52E-0D3C6FA9FB09}"/>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02</a:t>
            </a:r>
          </a:p>
        </p:txBody>
      </p:sp>
      <p:sp>
        <p:nvSpPr>
          <p:cNvPr id="6" name="01">
            <a:extLst xmlns:a="http://schemas.openxmlformats.org/drawingml/2006/main">
              <a:ext uri="{FF2B5EF4-FFF2-40B4-BE49-F238E27FC236}">
                <a16:creationId xmlns:a16="http://schemas.microsoft.com/office/drawing/2014/main" id="{04AC5731-947F-4F4B-A25F-BE3E5A5D1CAF}"/>
              </a:ext>
            </a:extLst>
          </p:cNvPr>
          <p:cNvSpPr>
            <a:spLocks xmlns:a="http://schemas.openxmlformats.org/drawingml/2006/main" noGrp="1"/>
          </p:cNvSpPr>
          <p:nvPr/>
        </p:nvSpPr>
        <p:spPr>
          <a:xfrm xmlns:a="http://schemas.openxmlformats.org/drawingml/2006/main">
            <a:off x="533400" y="1638300"/>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0B7F70"/>
                </a:solidFill>
                <a:latin typeface="Arial"/>
                <a:ea typeface="Arial"/>
                <a:cs typeface="Arial"/>
              </a:defRPr>
            </a:pPr>
            <a:r>
              <a:rPr sz="4800" b="1">
                <a:solidFill>
                  <a:srgbClr val="0B7F70"/>
                </a:solidFill>
                <a:latin typeface="Arial"/>
                <a:ea typeface="Arial"/>
                <a:cs typeface="Arial"/>
              </a:rPr>
              <a:t>01</a:t>
            </a:r>
          </a:p>
        </p:txBody>
      </p:sp>
      <p:sp>
        <p:nvSpPr>
          <p:cNvPr id="7" name="Context and&#10;objectives">
            <a:extLst xmlns:a="http://schemas.openxmlformats.org/drawingml/2006/main">
              <a:ext uri="{FF2B5EF4-FFF2-40B4-BE49-F238E27FC236}">
                <a16:creationId xmlns:a16="http://schemas.microsoft.com/office/drawing/2014/main" id="{34F19184-D8DB-4734-9D2C-F59CE0805340}"/>
              </a:ext>
            </a:extLst>
          </p:cNvPr>
          <p:cNvSpPr>
            <a:spLocks xmlns:a="http://schemas.openxmlformats.org/drawingml/2006/main" noGrp="1"/>
          </p:cNvSpPr>
          <p:nvPr/>
        </p:nvSpPr>
        <p:spPr>
          <a:xfrm xmlns:a="http://schemas.openxmlformats.org/drawingml/2006/main">
            <a:off x="1647825" y="1647825"/>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Context and</a:t>
            </a:r>
          </a:p>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objectives</a:t>
            </a:r>
          </a:p>
        </p:txBody>
      </p:sp>
      <p:sp>
        <p:nvSpPr>
          <p:cNvPr id="8" name="Slides 03-05">
            <a:extLst xmlns:a="http://schemas.openxmlformats.org/drawingml/2006/main">
              <a:ext uri="{FF2B5EF4-FFF2-40B4-BE49-F238E27FC236}">
                <a16:creationId xmlns:a16="http://schemas.microsoft.com/office/drawing/2014/main" id="{E87F95FC-7857-4EA2-8657-6613FBA36187}"/>
              </a:ext>
            </a:extLst>
          </p:cNvPr>
          <p:cNvSpPr>
            <a:spLocks xmlns:a="http://schemas.openxmlformats.org/drawingml/2006/main" noGrp="1"/>
          </p:cNvSpPr>
          <p:nvPr/>
        </p:nvSpPr>
        <p:spPr>
          <a:xfrm xmlns:a="http://schemas.openxmlformats.org/drawingml/2006/main">
            <a:off x="1647825" y="2533650"/>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B5859"/>
                </a:solidFill>
                <a:latin typeface="Arial"/>
                <a:ea typeface="Arial"/>
                <a:cs typeface="Arial"/>
              </a:defRPr>
            </a:pPr>
            <a:r>
              <a:rPr sz="1575" b="0">
                <a:solidFill>
                  <a:srgbClr val="4B5859"/>
                </a:solidFill>
                <a:latin typeface="Arial"/>
                <a:ea typeface="Arial"/>
                <a:cs typeface="Arial"/>
              </a:rPr>
              <a:t>Slides 03-05</a:t>
            </a:r>
          </a:p>
        </p:txBody>
      </p:sp>
      <p:sp>
        <p:nvSpPr>
          <p:cNvPr id="9" name="">
            <a:extLst xmlns:a="http://schemas.openxmlformats.org/drawingml/2006/main">
              <a:ext uri="{FF2B5EF4-FFF2-40B4-BE49-F238E27FC236}">
                <a16:creationId xmlns:a16="http://schemas.microsoft.com/office/drawing/2014/main" id="{CA177ADF-19C4-49FD-ABAE-EAEA387F0FEB}"/>
              </a:ext>
            </a:extLst>
          </p:cNvPr>
          <p:cNvSpPr>
            <a:spLocks xmlns:a="http://schemas.openxmlformats.org/drawingml/2006/main" noGrp="1"/>
          </p:cNvSpPr>
          <p:nvPr/>
        </p:nvSpPr>
        <p:spPr>
          <a:xfrm xmlns:a="http://schemas.openxmlformats.org/drawingml/2006/main">
            <a:off x="533400" y="2914650"/>
            <a:ext cx="5267325"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10" name="02">
            <a:extLst xmlns:a="http://schemas.openxmlformats.org/drawingml/2006/main">
              <a:ext uri="{FF2B5EF4-FFF2-40B4-BE49-F238E27FC236}">
                <a16:creationId xmlns:a16="http://schemas.microsoft.com/office/drawing/2014/main" id="{DC74B4C2-CE29-4914-AF97-BA2C4710AAC8}"/>
              </a:ext>
            </a:extLst>
          </p:cNvPr>
          <p:cNvSpPr>
            <a:spLocks xmlns:a="http://schemas.openxmlformats.org/drawingml/2006/main" noGrp="1"/>
          </p:cNvSpPr>
          <p:nvPr/>
        </p:nvSpPr>
        <p:spPr>
          <a:xfrm xmlns:a="http://schemas.openxmlformats.org/drawingml/2006/main">
            <a:off x="533400" y="3114675"/>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0B7F70"/>
                </a:solidFill>
                <a:latin typeface="Arial"/>
                <a:ea typeface="Arial"/>
                <a:cs typeface="Arial"/>
              </a:defRPr>
            </a:pPr>
            <a:r>
              <a:rPr sz="4800" b="1">
                <a:solidFill>
                  <a:srgbClr val="0B7F70"/>
                </a:solidFill>
                <a:latin typeface="Arial"/>
                <a:ea typeface="Arial"/>
                <a:cs typeface="Arial"/>
              </a:rPr>
              <a:t>02</a:t>
            </a:r>
          </a:p>
        </p:txBody>
      </p:sp>
      <p:sp>
        <p:nvSpPr>
          <p:cNvPr id="11" name="Literature&#10;survey">
            <a:extLst xmlns:a="http://schemas.openxmlformats.org/drawingml/2006/main">
              <a:ext uri="{FF2B5EF4-FFF2-40B4-BE49-F238E27FC236}">
                <a16:creationId xmlns:a16="http://schemas.microsoft.com/office/drawing/2014/main" id="{BA3194BE-D960-4BCA-A384-85437A730114}"/>
              </a:ext>
            </a:extLst>
          </p:cNvPr>
          <p:cNvSpPr>
            <a:spLocks xmlns:a="http://schemas.openxmlformats.org/drawingml/2006/main" noGrp="1"/>
          </p:cNvSpPr>
          <p:nvPr/>
        </p:nvSpPr>
        <p:spPr>
          <a:xfrm xmlns:a="http://schemas.openxmlformats.org/drawingml/2006/main">
            <a:off x="1647825" y="3124200"/>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Literature</a:t>
            </a:r>
          </a:p>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survey</a:t>
            </a:r>
          </a:p>
        </p:txBody>
      </p:sp>
      <p:sp>
        <p:nvSpPr>
          <p:cNvPr id="12" name="Slide 06">
            <a:extLst xmlns:a="http://schemas.openxmlformats.org/drawingml/2006/main">
              <a:ext uri="{FF2B5EF4-FFF2-40B4-BE49-F238E27FC236}">
                <a16:creationId xmlns:a16="http://schemas.microsoft.com/office/drawing/2014/main" id="{31DFBBFF-F5B9-4F67-BCE3-FB140CC8C05B}"/>
              </a:ext>
            </a:extLst>
          </p:cNvPr>
          <p:cNvSpPr>
            <a:spLocks xmlns:a="http://schemas.openxmlformats.org/drawingml/2006/main" noGrp="1"/>
          </p:cNvSpPr>
          <p:nvPr/>
        </p:nvSpPr>
        <p:spPr>
          <a:xfrm xmlns:a="http://schemas.openxmlformats.org/drawingml/2006/main">
            <a:off x="1647825" y="4010025"/>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B5859"/>
                </a:solidFill>
                <a:latin typeface="Arial"/>
                <a:ea typeface="Arial"/>
                <a:cs typeface="Arial"/>
              </a:defRPr>
            </a:pPr>
            <a:r>
              <a:rPr sz="1575" b="0">
                <a:solidFill>
                  <a:srgbClr val="4B5859"/>
                </a:solidFill>
                <a:latin typeface="Arial"/>
                <a:ea typeface="Arial"/>
                <a:cs typeface="Arial"/>
              </a:rPr>
              <a:t>Slide 06</a:t>
            </a:r>
          </a:p>
        </p:txBody>
      </p:sp>
      <p:sp>
        <p:nvSpPr>
          <p:cNvPr id="13" name="">
            <a:extLst xmlns:a="http://schemas.openxmlformats.org/drawingml/2006/main">
              <a:ext uri="{FF2B5EF4-FFF2-40B4-BE49-F238E27FC236}">
                <a16:creationId xmlns:a16="http://schemas.microsoft.com/office/drawing/2014/main" id="{7201EA2C-480F-4FD9-B7CC-027A643672DD}"/>
              </a:ext>
            </a:extLst>
          </p:cNvPr>
          <p:cNvSpPr>
            <a:spLocks xmlns:a="http://schemas.openxmlformats.org/drawingml/2006/main" noGrp="1"/>
          </p:cNvSpPr>
          <p:nvPr/>
        </p:nvSpPr>
        <p:spPr>
          <a:xfrm xmlns:a="http://schemas.openxmlformats.org/drawingml/2006/main">
            <a:off x="533400" y="4391025"/>
            <a:ext cx="5267325"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14" name="03">
            <a:extLst xmlns:a="http://schemas.openxmlformats.org/drawingml/2006/main">
              <a:ext uri="{FF2B5EF4-FFF2-40B4-BE49-F238E27FC236}">
                <a16:creationId xmlns:a16="http://schemas.microsoft.com/office/drawing/2014/main" id="{5A0C017E-6C4F-486C-A66F-6B394E944829}"/>
              </a:ext>
            </a:extLst>
          </p:cNvPr>
          <p:cNvSpPr>
            <a:spLocks xmlns:a="http://schemas.openxmlformats.org/drawingml/2006/main" noGrp="1"/>
          </p:cNvSpPr>
          <p:nvPr/>
        </p:nvSpPr>
        <p:spPr>
          <a:xfrm xmlns:a="http://schemas.openxmlformats.org/drawingml/2006/main">
            <a:off x="533400" y="4591050"/>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0B7F70"/>
                </a:solidFill>
                <a:latin typeface="Arial"/>
                <a:ea typeface="Arial"/>
                <a:cs typeface="Arial"/>
              </a:defRPr>
            </a:pPr>
            <a:r>
              <a:rPr sz="4800" b="1">
                <a:solidFill>
                  <a:srgbClr val="0B7F70"/>
                </a:solidFill>
                <a:latin typeface="Arial"/>
                <a:ea typeface="Arial"/>
                <a:cs typeface="Arial"/>
              </a:rPr>
              <a:t>03</a:t>
            </a:r>
          </a:p>
        </p:txBody>
      </p:sp>
      <p:sp>
        <p:nvSpPr>
          <p:cNvPr id="15" name="Block diagram and&#10;methodology">
            <a:extLst xmlns:a="http://schemas.openxmlformats.org/drawingml/2006/main">
              <a:ext uri="{FF2B5EF4-FFF2-40B4-BE49-F238E27FC236}">
                <a16:creationId xmlns:a16="http://schemas.microsoft.com/office/drawing/2014/main" id="{1BDEA27E-46FE-4FE0-B561-BB29BFD980B9}"/>
              </a:ext>
            </a:extLst>
          </p:cNvPr>
          <p:cNvSpPr>
            <a:spLocks xmlns:a="http://schemas.openxmlformats.org/drawingml/2006/main" noGrp="1"/>
          </p:cNvSpPr>
          <p:nvPr/>
        </p:nvSpPr>
        <p:spPr>
          <a:xfrm xmlns:a="http://schemas.openxmlformats.org/drawingml/2006/main">
            <a:off x="1647825" y="4600575"/>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Architecture and</a:t>
            </a:r>
          </a:p>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methodology</a:t>
            </a:r>
          </a:p>
        </p:txBody>
      </p:sp>
      <p:sp>
        <p:nvSpPr>
          <p:cNvPr id="16" name="Slides 07-08">
            <a:extLst xmlns:a="http://schemas.openxmlformats.org/drawingml/2006/main">
              <a:ext uri="{FF2B5EF4-FFF2-40B4-BE49-F238E27FC236}">
                <a16:creationId xmlns:a16="http://schemas.microsoft.com/office/drawing/2014/main" id="{81107126-44E9-4A3D-963E-13E76FBA03C9}"/>
              </a:ext>
            </a:extLst>
          </p:cNvPr>
          <p:cNvSpPr>
            <a:spLocks xmlns:a="http://schemas.openxmlformats.org/drawingml/2006/main" noGrp="1"/>
          </p:cNvSpPr>
          <p:nvPr/>
        </p:nvSpPr>
        <p:spPr>
          <a:xfrm xmlns:a="http://schemas.openxmlformats.org/drawingml/2006/main">
            <a:off x="1647825" y="5486400"/>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B5859"/>
                </a:solidFill>
                <a:latin typeface="Arial"/>
                <a:ea typeface="Arial"/>
                <a:cs typeface="Arial"/>
              </a:defRPr>
            </a:pPr>
            <a:r>
              <a:rPr sz="1575" b="0">
                <a:solidFill>
                  <a:srgbClr val="4B5859"/>
                </a:solidFill>
                <a:latin typeface="Arial"/>
                <a:ea typeface="Arial"/>
                <a:cs typeface="Arial"/>
              </a:rPr>
              <a:t>Slides 07-10</a:t>
            </a:r>
          </a:p>
        </p:txBody>
      </p:sp>
      <p:sp>
        <p:nvSpPr>
          <p:cNvPr id="17" name="04">
            <a:extLst xmlns:a="http://schemas.openxmlformats.org/drawingml/2006/main">
              <a:ext uri="{FF2B5EF4-FFF2-40B4-BE49-F238E27FC236}">
                <a16:creationId xmlns:a16="http://schemas.microsoft.com/office/drawing/2014/main" id="{30B7AF85-E422-4469-BE6D-A202BC0622EB}"/>
              </a:ext>
            </a:extLst>
          </p:cNvPr>
          <p:cNvSpPr>
            <a:spLocks xmlns:a="http://schemas.openxmlformats.org/drawingml/2006/main" noGrp="1"/>
          </p:cNvSpPr>
          <p:nvPr/>
        </p:nvSpPr>
        <p:spPr>
          <a:xfrm xmlns:a="http://schemas.openxmlformats.org/drawingml/2006/main">
            <a:off x="6391275" y="1638300"/>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0B7F70"/>
                </a:solidFill>
                <a:latin typeface="Arial"/>
                <a:ea typeface="Arial"/>
                <a:cs typeface="Arial"/>
              </a:defRPr>
            </a:pPr>
            <a:r>
              <a:rPr sz="4800" b="1">
                <a:solidFill>
                  <a:srgbClr val="0B7F70"/>
                </a:solidFill>
                <a:latin typeface="Arial"/>
                <a:ea typeface="Arial"/>
                <a:cs typeface="Arial"/>
              </a:rPr>
              <a:t>04</a:t>
            </a:r>
          </a:p>
        </p:txBody>
      </p:sp>
      <p:sp>
        <p:nvSpPr>
          <p:cNvPr id="18" name="CAD mechanism and&#10;Phase-I results">
            <a:extLst xmlns:a="http://schemas.openxmlformats.org/drawingml/2006/main">
              <a:ext uri="{FF2B5EF4-FFF2-40B4-BE49-F238E27FC236}">
                <a16:creationId xmlns:a16="http://schemas.microsoft.com/office/drawing/2014/main" id="{D2F655E5-F78E-4572-9981-ED91D99757DF}"/>
              </a:ext>
            </a:extLst>
          </p:cNvPr>
          <p:cNvSpPr>
            <a:spLocks xmlns:a="http://schemas.openxmlformats.org/drawingml/2006/main" noGrp="1"/>
          </p:cNvSpPr>
          <p:nvPr/>
        </p:nvSpPr>
        <p:spPr>
          <a:xfrm xmlns:a="http://schemas.openxmlformats.org/drawingml/2006/main">
            <a:off x="7505700" y="1647825"/>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CAD, components</a:t>
            </a:r>
          </a:p>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and PCB</a:t>
            </a:r>
          </a:p>
        </p:txBody>
      </p:sp>
      <p:sp>
        <p:nvSpPr>
          <p:cNvPr id="19" name="Slides 09-10">
            <a:extLst xmlns:a="http://schemas.openxmlformats.org/drawingml/2006/main">
              <a:ext uri="{FF2B5EF4-FFF2-40B4-BE49-F238E27FC236}">
                <a16:creationId xmlns:a16="http://schemas.microsoft.com/office/drawing/2014/main" id="{9608EDEA-0BE5-4780-BDAC-068451BB1928}"/>
              </a:ext>
            </a:extLst>
          </p:cNvPr>
          <p:cNvSpPr>
            <a:spLocks xmlns:a="http://schemas.openxmlformats.org/drawingml/2006/main" noGrp="1"/>
          </p:cNvSpPr>
          <p:nvPr/>
        </p:nvSpPr>
        <p:spPr>
          <a:xfrm xmlns:a="http://schemas.openxmlformats.org/drawingml/2006/main">
            <a:off x="7505700" y="2533650"/>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B5859"/>
                </a:solidFill>
                <a:latin typeface="Arial"/>
                <a:ea typeface="Arial"/>
                <a:cs typeface="Arial"/>
              </a:defRPr>
            </a:pPr>
            <a:r>
              <a:rPr sz="1575" b="0">
                <a:solidFill>
                  <a:srgbClr val="4B5859"/>
                </a:solidFill>
                <a:latin typeface="Arial"/>
                <a:ea typeface="Arial"/>
                <a:cs typeface="Arial"/>
              </a:rPr>
              <a:t>Slides 11-13</a:t>
            </a:r>
          </a:p>
        </p:txBody>
      </p:sp>
      <p:sp>
        <p:nvSpPr>
          <p:cNvPr id="20" name="">
            <a:extLst xmlns:a="http://schemas.openxmlformats.org/drawingml/2006/main">
              <a:ext uri="{FF2B5EF4-FFF2-40B4-BE49-F238E27FC236}">
                <a16:creationId xmlns:a16="http://schemas.microsoft.com/office/drawing/2014/main" id="{4B4013EB-F549-4893-AB84-394A7BB0F7DE}"/>
              </a:ext>
            </a:extLst>
          </p:cNvPr>
          <p:cNvSpPr>
            <a:spLocks xmlns:a="http://schemas.openxmlformats.org/drawingml/2006/main" noGrp="1"/>
          </p:cNvSpPr>
          <p:nvPr/>
        </p:nvSpPr>
        <p:spPr>
          <a:xfrm xmlns:a="http://schemas.openxmlformats.org/drawingml/2006/main">
            <a:off x="6391275" y="2914650"/>
            <a:ext cx="5267325"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21" name="05">
            <a:extLst xmlns:a="http://schemas.openxmlformats.org/drawingml/2006/main">
              <a:ext uri="{FF2B5EF4-FFF2-40B4-BE49-F238E27FC236}">
                <a16:creationId xmlns:a16="http://schemas.microsoft.com/office/drawing/2014/main" id="{4A621801-E556-4B6D-8BC2-CCC6FE67F2BC}"/>
              </a:ext>
            </a:extLst>
          </p:cNvPr>
          <p:cNvSpPr>
            <a:spLocks xmlns:a="http://schemas.openxmlformats.org/drawingml/2006/main" noGrp="1"/>
          </p:cNvSpPr>
          <p:nvPr/>
        </p:nvSpPr>
        <p:spPr>
          <a:xfrm xmlns:a="http://schemas.openxmlformats.org/drawingml/2006/main">
            <a:off x="6391275" y="3114675"/>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0B7F70"/>
                </a:solidFill>
                <a:latin typeface="Arial"/>
                <a:ea typeface="Arial"/>
                <a:cs typeface="Arial"/>
              </a:defRPr>
            </a:pPr>
            <a:r>
              <a:rPr sz="4800" b="1">
                <a:solidFill>
                  <a:srgbClr val="0B7F70"/>
                </a:solidFill>
                <a:latin typeface="Arial"/>
                <a:ea typeface="Arial"/>
                <a:cs typeface="Arial"/>
              </a:rPr>
              <a:t>05</a:t>
            </a:r>
          </a:p>
        </p:txBody>
      </p:sp>
      <p:sp>
        <p:nvSpPr>
          <p:cNvPr id="22" name="Project progress">
            <a:extLst xmlns:a="http://schemas.openxmlformats.org/drawingml/2006/main">
              <a:ext uri="{FF2B5EF4-FFF2-40B4-BE49-F238E27FC236}">
                <a16:creationId xmlns:a16="http://schemas.microsoft.com/office/drawing/2014/main" id="{4A25F094-9E96-4190-B652-84DD24C414FE}"/>
              </a:ext>
            </a:extLst>
          </p:cNvPr>
          <p:cNvSpPr>
            <a:spLocks xmlns:a="http://schemas.openxmlformats.org/drawingml/2006/main" noGrp="1"/>
          </p:cNvSpPr>
          <p:nvPr/>
        </p:nvSpPr>
        <p:spPr>
          <a:xfrm xmlns:a="http://schemas.openxmlformats.org/drawingml/2006/main">
            <a:off x="7505700" y="3124200"/>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Results, dashboard</a:t>
            </a:r>
          </a:p>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and USPs</a:t>
            </a:r>
          </a:p>
        </p:txBody>
      </p:sp>
      <p:sp>
        <p:nvSpPr>
          <p:cNvPr id="23" name="Slide 11">
            <a:extLst xmlns:a="http://schemas.openxmlformats.org/drawingml/2006/main">
              <a:ext uri="{FF2B5EF4-FFF2-40B4-BE49-F238E27FC236}">
                <a16:creationId xmlns:a16="http://schemas.microsoft.com/office/drawing/2014/main" id="{349212DF-687E-4218-BBB6-F85D1478015F}"/>
              </a:ext>
            </a:extLst>
          </p:cNvPr>
          <p:cNvSpPr>
            <a:spLocks xmlns:a="http://schemas.openxmlformats.org/drawingml/2006/main" noGrp="1"/>
          </p:cNvSpPr>
          <p:nvPr/>
        </p:nvSpPr>
        <p:spPr>
          <a:xfrm xmlns:a="http://schemas.openxmlformats.org/drawingml/2006/main">
            <a:off x="7505700" y="4010025"/>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B5859"/>
                </a:solidFill>
                <a:latin typeface="Arial"/>
                <a:ea typeface="Arial"/>
                <a:cs typeface="Arial"/>
              </a:defRPr>
            </a:pPr>
            <a:r>
              <a:rPr sz="1575" b="0">
                <a:solidFill>
                  <a:srgbClr val="4B5859"/>
                </a:solidFill>
                <a:latin typeface="Arial"/>
                <a:ea typeface="Arial"/>
                <a:cs typeface="Arial"/>
              </a:rPr>
              <a:t>Slides 14-16</a:t>
            </a:r>
          </a:p>
        </p:txBody>
      </p:sp>
      <p:sp>
        <p:nvSpPr>
          <p:cNvPr id="24" name="">
            <a:extLst xmlns:a="http://schemas.openxmlformats.org/drawingml/2006/main">
              <a:ext uri="{FF2B5EF4-FFF2-40B4-BE49-F238E27FC236}">
                <a16:creationId xmlns:a16="http://schemas.microsoft.com/office/drawing/2014/main" id="{3781DAC2-B244-41DD-9210-70B536D7CC98}"/>
              </a:ext>
            </a:extLst>
          </p:cNvPr>
          <p:cNvSpPr>
            <a:spLocks xmlns:a="http://schemas.openxmlformats.org/drawingml/2006/main" noGrp="1"/>
          </p:cNvSpPr>
          <p:nvPr/>
        </p:nvSpPr>
        <p:spPr>
          <a:xfrm xmlns:a="http://schemas.openxmlformats.org/drawingml/2006/main">
            <a:off x="6391275" y="4391025"/>
            <a:ext cx="5267325"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25" name="06">
            <a:extLst xmlns:a="http://schemas.openxmlformats.org/drawingml/2006/main">
              <a:ext uri="{FF2B5EF4-FFF2-40B4-BE49-F238E27FC236}">
                <a16:creationId xmlns:a16="http://schemas.microsoft.com/office/drawing/2014/main" id="{D3EB53C9-03C1-4BD5-AE8E-46C57D96ADBB}"/>
              </a:ext>
            </a:extLst>
          </p:cNvPr>
          <p:cNvSpPr>
            <a:spLocks xmlns:a="http://schemas.openxmlformats.org/drawingml/2006/main" noGrp="1"/>
          </p:cNvSpPr>
          <p:nvPr/>
        </p:nvSpPr>
        <p:spPr>
          <a:xfrm xmlns:a="http://schemas.openxmlformats.org/drawingml/2006/main">
            <a:off x="6391275" y="4591050"/>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0B7F70"/>
                </a:solidFill>
                <a:latin typeface="Arial"/>
                <a:ea typeface="Arial"/>
                <a:cs typeface="Arial"/>
              </a:defRPr>
            </a:pPr>
            <a:r>
              <a:rPr sz="4800" b="1">
                <a:solidFill>
                  <a:srgbClr val="0B7F70"/>
                </a:solidFill>
                <a:latin typeface="Arial"/>
                <a:ea typeface="Arial"/>
                <a:cs typeface="Arial"/>
              </a:rPr>
              <a:t>06</a:t>
            </a:r>
          </a:p>
        </p:txBody>
      </p:sp>
      <p:sp>
        <p:nvSpPr>
          <p:cNvPr id="26" name="References and&#10;publication details">
            <a:extLst xmlns:a="http://schemas.openxmlformats.org/drawingml/2006/main">
              <a:ext uri="{FF2B5EF4-FFF2-40B4-BE49-F238E27FC236}">
                <a16:creationId xmlns:a16="http://schemas.microsoft.com/office/drawing/2014/main" id="{2A01C0F1-7E0D-4DC1-9AEB-3ED880331BFF}"/>
              </a:ext>
            </a:extLst>
          </p:cNvPr>
          <p:cNvSpPr>
            <a:spLocks xmlns:a="http://schemas.openxmlformats.org/drawingml/2006/main" noGrp="1"/>
          </p:cNvSpPr>
          <p:nvPr/>
        </p:nvSpPr>
        <p:spPr>
          <a:xfrm xmlns:a="http://schemas.openxmlformats.org/drawingml/2006/main">
            <a:off x="7505700" y="4600575"/>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Progress, roadmap</a:t>
            </a:r>
          </a:p>
          <a:p xmlns:a="http://schemas.openxmlformats.org/drawingml/2006/main">
            <a:pPr algn="l">
              <a:defRPr sz="2400" b="1">
                <a:solidFill>
                  <a:srgbClr val="1E2629"/>
                </a:solidFill>
                <a:latin typeface="Arial"/>
                <a:ea typeface="Arial"/>
                <a:cs typeface="Arial"/>
              </a:defRPr>
            </a:pPr>
            <a:r>
              <a:rPr sz="2400" b="1">
                <a:solidFill>
                  <a:srgbClr val="1E2629"/>
                </a:solidFill>
                <a:latin typeface="Arial"/>
                <a:ea typeface="Arial"/>
                <a:cs typeface="Arial"/>
              </a:rPr>
              <a:t>and references</a:t>
            </a:r>
          </a:p>
        </p:txBody>
      </p:sp>
      <p:sp>
        <p:nvSpPr>
          <p:cNvPr id="27" name="Slides 12-13">
            <a:extLst xmlns:a="http://schemas.openxmlformats.org/drawingml/2006/main">
              <a:ext uri="{FF2B5EF4-FFF2-40B4-BE49-F238E27FC236}">
                <a16:creationId xmlns:a16="http://schemas.microsoft.com/office/drawing/2014/main" id="{9FB9055D-2AAA-42CD-A8A4-0FCCD71FE98E}"/>
              </a:ext>
            </a:extLst>
          </p:cNvPr>
          <p:cNvSpPr>
            <a:spLocks xmlns:a="http://schemas.openxmlformats.org/drawingml/2006/main" noGrp="1"/>
          </p:cNvSpPr>
          <p:nvPr/>
        </p:nvSpPr>
        <p:spPr>
          <a:xfrm xmlns:a="http://schemas.openxmlformats.org/drawingml/2006/main">
            <a:off x="7505700" y="5486400"/>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B5859"/>
                </a:solidFill>
                <a:latin typeface="Arial"/>
                <a:ea typeface="Arial"/>
                <a:cs typeface="Arial"/>
              </a:defRPr>
            </a:pPr>
            <a:r>
              <a:rPr sz="1575" b="0">
                <a:solidFill>
                  <a:srgbClr val="4B5859"/>
                </a:solidFill>
                <a:latin typeface="Arial"/>
                <a:ea typeface="Arial"/>
                <a:cs typeface="Arial"/>
              </a:rPr>
              <a:t>Slides 17-20</a:t>
            </a:r>
          </a:p>
        </p:txBody>
      </p:sp>
      <p:sp>
        <p:nvSpPr>
          <p:cNvPr id="28" name="">
            <a:extLst xmlns:a="http://schemas.openxmlformats.org/drawingml/2006/main">
              <a:ext uri="{FF2B5EF4-FFF2-40B4-BE49-F238E27FC236}">
                <a16:creationId xmlns:a16="http://schemas.microsoft.com/office/drawing/2014/main" id="{77059928-CAAE-401D-8931-AE7CCB714CA4}"/>
              </a:ext>
            </a:extLst>
          </p:cNvPr>
          <p:cNvSpPr>
            <a:spLocks xmlns:a="http://schemas.openxmlformats.org/drawingml/2006/main" noGrp="1"/>
          </p:cNvSpPr>
          <p:nvPr/>
        </p:nvSpPr>
        <p:spPr>
          <a:xfrm xmlns:a="http://schemas.openxmlformats.org/drawingml/2006/main">
            <a:off x="6057900" y="1562100"/>
            <a:ext cx="0" cy="4391025"/>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Tree>
    <p:extLst>
      <p:ext uri="{BB962C8B-B14F-4D97-AF65-F5344CB8AC3E}">
        <p14:creationId xmlns:p14="http://schemas.microsoft.com/office/powerpoint/2010/main" val="1959579260"/>
      </p:ext>
    </p:extLst>
  </p:cSld>
</p:sld>
</file>

<file path=ppt/slides/slide3.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7c28b7230c244a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Introduction">
            <a:extLst xmlns:a="http://schemas.openxmlformats.org/drawingml/2006/main">
              <a:ext uri="{FF2B5EF4-FFF2-40B4-BE49-F238E27FC236}">
                <a16:creationId xmlns:a16="http://schemas.microsoft.com/office/drawing/2014/main" id="{D1099768-D436-4C2B-925A-6320E51756CF}"/>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3B89B7F8-F9DE-4FC7-A0C9-661564607C3C}"/>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4" name="Phase-I presentation">
            <a:extLst xmlns:a="http://schemas.openxmlformats.org/drawingml/2006/main">
              <a:ext uri="{FF2B5EF4-FFF2-40B4-BE49-F238E27FC236}">
                <a16:creationId xmlns:a16="http://schemas.microsoft.com/office/drawing/2014/main" id="{5E46F7B3-111C-4F86-B7F7-52359B74C66F}"/>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03">
            <a:extLst xmlns:a="http://schemas.openxmlformats.org/drawingml/2006/main">
              <a:ext uri="{FF2B5EF4-FFF2-40B4-BE49-F238E27FC236}">
                <a16:creationId xmlns:a16="http://schemas.microsoft.com/office/drawing/2014/main" id="{098B1643-B6AA-4D24-AC1B-CD5A1D774326}"/>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03</a:t>
            </a:r>
          </a:p>
        </p:txBody>
      </p:sp>
      <p:sp>
        <p:nvSpPr>
          <p:cNvPr id="6" name="Indoor search&#10;with limited sensing&#10;and compute">
            <a:extLst xmlns:a="http://schemas.openxmlformats.org/drawingml/2006/main">
              <a:ext uri="{FF2B5EF4-FFF2-40B4-BE49-F238E27FC236}">
                <a16:creationId xmlns:a16="http://schemas.microsoft.com/office/drawing/2014/main" id="{19D182A0-A76A-4D94-91B1-312D4964906B}"/>
              </a:ext>
            </a:extLst>
          </p:cNvPr>
          <p:cNvSpPr>
            <a:spLocks xmlns:a="http://schemas.openxmlformats.org/drawingml/2006/main" noGrp="1"/>
          </p:cNvSpPr>
          <p:nvPr/>
        </p:nvSpPr>
        <p:spPr>
          <a:xfrm xmlns:a="http://schemas.openxmlformats.org/drawingml/2006/main">
            <a:off x="533400" y="1695450"/>
            <a:ext cx="56959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E2629"/>
                </a:solidFill>
                <a:latin typeface="Arial"/>
                <a:ea typeface="Arial"/>
                <a:cs typeface="Arial"/>
              </a:defRPr>
            </a:pPr>
            <a:r>
              <a:rPr sz="3450" b="1">
                <a:solidFill>
                  <a:srgbClr val="1E2629"/>
                </a:solidFill>
                <a:latin typeface="Arial"/>
                <a:ea typeface="Arial"/>
                <a:cs typeface="Arial"/>
              </a:rPr>
              <a:t>Indoor search</a:t>
            </a:r>
          </a:p>
          <a:p xmlns:a="http://schemas.openxmlformats.org/drawingml/2006/main">
            <a:pPr algn="l">
              <a:defRPr sz="3450" b="1">
                <a:solidFill>
                  <a:srgbClr val="1E2629"/>
                </a:solidFill>
                <a:latin typeface="Arial"/>
                <a:ea typeface="Arial"/>
                <a:cs typeface="Arial"/>
              </a:defRPr>
            </a:pPr>
            <a:r>
              <a:rPr sz="3450" b="1">
                <a:solidFill>
                  <a:srgbClr val="1E2629"/>
                </a:solidFill>
                <a:latin typeface="Arial"/>
                <a:ea typeface="Arial"/>
                <a:cs typeface="Arial"/>
              </a:rPr>
              <a:t>with limited sensing</a:t>
            </a:r>
          </a:p>
          <a:p xmlns:a="http://schemas.openxmlformats.org/drawingml/2006/main">
            <a:pPr algn="l">
              <a:defRPr sz="3450" b="1">
                <a:solidFill>
                  <a:srgbClr val="1E2629"/>
                </a:solidFill>
                <a:latin typeface="Arial"/>
                <a:ea typeface="Arial"/>
                <a:cs typeface="Arial"/>
              </a:defRPr>
            </a:pPr>
            <a:r>
              <a:rPr sz="3450" b="1">
                <a:solidFill>
                  <a:srgbClr val="1E2629"/>
                </a:solidFill>
                <a:latin typeface="Arial"/>
                <a:ea typeface="Arial"/>
                <a:cs typeface="Arial"/>
              </a:rPr>
              <a:t>and compute</a:t>
            </a:r>
          </a:p>
        </p:txBody>
      </p:sp>
      <p:sp>
        <p:nvSpPr>
          <p:cNvPr id="7" name="A useful payload must describe the space and surface acousti">
            <a:extLst xmlns:a="http://schemas.openxmlformats.org/drawingml/2006/main">
              <a:ext uri="{FF2B5EF4-FFF2-40B4-BE49-F238E27FC236}">
                <a16:creationId xmlns:a16="http://schemas.microsoft.com/office/drawing/2014/main" id="{CEB67CF8-3CE9-4FD0-9F2C-57799100A1FA}"/>
              </a:ext>
            </a:extLst>
          </p:cNvPr>
          <p:cNvSpPr>
            <a:spLocks xmlns:a="http://schemas.openxmlformats.org/drawingml/2006/main" noGrp="1"/>
          </p:cNvSpPr>
          <p:nvPr/>
        </p:nvSpPr>
        <p:spPr>
          <a:xfrm xmlns:a="http://schemas.openxmlformats.org/drawingml/2006/main">
            <a:off x="533400" y="4105275"/>
            <a:ext cx="5314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B5859"/>
                </a:solidFill>
                <a:latin typeface="Arial"/>
                <a:ea typeface="Arial"/>
                <a:cs typeface="Arial"/>
              </a:defRPr>
            </a:pPr>
            <a:r>
              <a:rPr sz="2100" b="0">
                <a:solidFill>
                  <a:srgbClr val="4B5859"/>
                </a:solidFill>
                <a:latin typeface="Arial"/>
                <a:ea typeface="Arial"/>
                <a:cs typeface="Arial"/>
              </a:rPr>
              <a:t>A useful payload must describe the space and surface acoustic cues that an operator can investigate.</a:t>
            </a:r>
          </a:p>
        </p:txBody>
      </p:sp>
      <p:sp>
        <p:nvSpPr>
          <p:cNvPr id="8" name="">
            <a:extLst xmlns:a="http://schemas.openxmlformats.org/drawingml/2006/main">
              <a:ext uri="{FF2B5EF4-FFF2-40B4-BE49-F238E27FC236}">
                <a16:creationId xmlns:a16="http://schemas.microsoft.com/office/drawing/2014/main" id="{DE8F9188-62D4-458C-88FB-8B7170104629}"/>
              </a:ext>
            </a:extLst>
          </p:cNvPr>
          <p:cNvSpPr>
            <a:spLocks xmlns:a="http://schemas.openxmlformats.org/drawingml/2006/main" noGrp="1"/>
          </p:cNvSpPr>
          <p:nvPr/>
        </p:nvSpPr>
        <p:spPr>
          <a:xfrm xmlns:a="http://schemas.openxmlformats.org/drawingml/2006/main">
            <a:off x="6315075" y="1685925"/>
            <a:ext cx="0" cy="3876675"/>
          </a:xfrm>
          <a:prstGeom xmlns:a="http://schemas.openxmlformats.org/drawingml/2006/main" prst="line">
            <a:avLst/>
          </a:prstGeom>
          <a:noFill xmlns:a="http://schemas.openxmlformats.org/drawingml/2006/main"/>
          <a:ln xmlns:a="http://schemas.openxmlformats.org/drawingml/2006/main" w="9525">
            <a:solidFill>
              <a:srgbClr val="C5CFCE"/>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166f67be47f4d4d">
            <a:extLst>
              <a:ext uri="{96DAC541-7B7A-43D3-8B79-37D633B846F1}">
                <asvg:svgBlip xmlns:asvg="http://schemas.microsoft.com/office/drawing/2016/SVG/main" r:embed="R76e0149073de48e4"/>
              </a:ext>
            </a:extLst>
          </a:blip>
          <a:stretch xmlns:a="http://schemas.openxmlformats.org/drawingml/2006/main"/>
        </p:blipFill>
        <p:spPr>
          <a:xfrm xmlns:a="http://schemas.openxmlformats.org/drawingml/2006/main">
            <a:off x="6943725" y="1695450"/>
            <a:ext cx="685800" cy="685800"/>
          </a:xfrm>
          <a:prstGeom xmlns:a="http://schemas.openxmlformats.org/drawingml/2006/main" prst="rect">
            <a:avLst/>
          </a:prstGeom>
        </p:spPr>
      </p:pic>
      <p:sp>
        <p:nvSpPr>
          <p:cNvPr id="10" name="SLAM">
            <a:extLst xmlns:a="http://schemas.openxmlformats.org/drawingml/2006/main">
              <a:ext uri="{FF2B5EF4-FFF2-40B4-BE49-F238E27FC236}">
                <a16:creationId xmlns:a16="http://schemas.microsoft.com/office/drawing/2014/main" id="{957362AC-151B-47E6-85C4-A2058B644853}"/>
              </a:ext>
            </a:extLst>
          </p:cNvPr>
          <p:cNvSpPr>
            <a:spLocks xmlns:a="http://schemas.openxmlformats.org/drawingml/2006/main" noGrp="1"/>
          </p:cNvSpPr>
          <p:nvPr/>
        </p:nvSpPr>
        <p:spPr>
          <a:xfrm xmlns:a="http://schemas.openxmlformats.org/drawingml/2006/main">
            <a:off x="7867650" y="1695450"/>
            <a:ext cx="3790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B7F70"/>
                </a:solidFill>
                <a:latin typeface="Arial"/>
                <a:ea typeface="Arial"/>
                <a:cs typeface="Arial"/>
              </a:defRPr>
            </a:pPr>
            <a:r>
              <a:rPr sz="2550" b="1">
                <a:solidFill>
                  <a:srgbClr val="0B7F70"/>
                </a:solidFill>
                <a:latin typeface="Arial"/>
                <a:ea typeface="Arial"/>
                <a:cs typeface="Arial"/>
              </a:rPr>
              <a:t>SLAM</a:t>
            </a:r>
          </a:p>
        </p:txBody>
      </p:sp>
      <p:sp>
        <p:nvSpPr>
          <p:cNvPr id="11" name="Estimate sensor motion while building a map of an unknown en">
            <a:extLst xmlns:a="http://schemas.openxmlformats.org/drawingml/2006/main">
              <a:ext uri="{FF2B5EF4-FFF2-40B4-BE49-F238E27FC236}">
                <a16:creationId xmlns:a16="http://schemas.microsoft.com/office/drawing/2014/main" id="{AAB8CE7D-536C-4029-B742-CDF06DE23E74}"/>
              </a:ext>
            </a:extLst>
          </p:cNvPr>
          <p:cNvSpPr>
            <a:spLocks xmlns:a="http://schemas.openxmlformats.org/drawingml/2006/main" noGrp="1"/>
          </p:cNvSpPr>
          <p:nvPr/>
        </p:nvSpPr>
        <p:spPr>
          <a:xfrm xmlns:a="http://schemas.openxmlformats.org/drawingml/2006/main">
            <a:off x="7867650" y="2295525"/>
            <a:ext cx="37909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E2629"/>
                </a:solidFill>
                <a:latin typeface="Arial"/>
                <a:ea typeface="Arial"/>
                <a:cs typeface="Arial"/>
              </a:defRPr>
            </a:pPr>
            <a:r>
              <a:rPr sz="2025" b="0">
                <a:solidFill>
                  <a:srgbClr val="1E2629"/>
                </a:solidFill>
                <a:latin typeface="Arial"/>
                <a:ea typeface="Arial"/>
                <a:cs typeface="Arial"/>
              </a:rPr>
              <a:t>Estimate sensor motion while building a map of an unknown environment.</a:t>
            </a:r>
          </a:p>
        </p:txBody>
      </p:sp>
      <p:sp>
        <p:nvSpPr>
          <p:cNvPr id="12" name="">
            <a:extLst xmlns:a="http://schemas.openxmlformats.org/drawingml/2006/main">
              <a:ext uri="{FF2B5EF4-FFF2-40B4-BE49-F238E27FC236}">
                <a16:creationId xmlns:a16="http://schemas.microsoft.com/office/drawing/2014/main" id="{0E2CECFD-EFB2-41E8-8C59-FF7CF6C9546F}"/>
              </a:ext>
            </a:extLst>
          </p:cNvPr>
          <p:cNvSpPr>
            <a:spLocks xmlns:a="http://schemas.openxmlformats.org/drawingml/2006/main" noGrp="1"/>
          </p:cNvSpPr>
          <p:nvPr/>
        </p:nvSpPr>
        <p:spPr>
          <a:xfrm xmlns:a="http://schemas.openxmlformats.org/drawingml/2006/main">
            <a:off x="6943725" y="3714750"/>
            <a:ext cx="4714875" cy="0"/>
          </a:xfrm>
          <a:prstGeom xmlns:a="http://schemas.openxmlformats.org/drawingml/2006/main" prst="line">
            <a:avLst/>
          </a:prstGeom>
          <a:noFill xmlns:a="http://schemas.openxmlformats.org/drawingml/2006/main"/>
          <a:ln xmlns:a="http://schemas.openxmlformats.org/drawingml/2006/main" w="9525">
            <a:solidFill>
              <a:srgbClr val="C5CFCE"/>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13ee4d95be44d0b">
            <a:extLst>
              <a:ext uri="{96DAC541-7B7A-43D3-8B79-37D633B846F1}">
                <asvg:svgBlip xmlns:asvg="http://schemas.microsoft.com/office/drawing/2016/SVG/main" r:embed="Re8e4634814914150"/>
              </a:ext>
            </a:extLst>
          </a:blip>
          <a:stretch xmlns:a="http://schemas.openxmlformats.org/drawingml/2006/main"/>
        </p:blipFill>
        <p:spPr>
          <a:xfrm xmlns:a="http://schemas.openxmlformats.org/drawingml/2006/main">
            <a:off x="6943725" y="4048125"/>
            <a:ext cx="685800" cy="685800"/>
          </a:xfrm>
          <a:prstGeom xmlns:a="http://schemas.openxmlformats.org/drawingml/2006/main" prst="rect">
            <a:avLst/>
          </a:prstGeom>
        </p:spPr>
      </p:pic>
      <p:sp>
        <p:nvSpPr>
          <p:cNvPr id="14" name="Acoustic sensing">
            <a:extLst xmlns:a="http://schemas.openxmlformats.org/drawingml/2006/main">
              <a:ext uri="{FF2B5EF4-FFF2-40B4-BE49-F238E27FC236}">
                <a16:creationId xmlns:a16="http://schemas.microsoft.com/office/drawing/2014/main" id="{BF064C2A-1870-46C8-9134-B658D2D844DB}"/>
              </a:ext>
            </a:extLst>
          </p:cNvPr>
          <p:cNvSpPr>
            <a:spLocks xmlns:a="http://schemas.openxmlformats.org/drawingml/2006/main" noGrp="1"/>
          </p:cNvSpPr>
          <p:nvPr/>
        </p:nvSpPr>
        <p:spPr>
          <a:xfrm xmlns:a="http://schemas.openxmlformats.org/drawingml/2006/main">
            <a:off x="7867650" y="4038600"/>
            <a:ext cx="3790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B7F70"/>
                </a:solidFill>
                <a:latin typeface="Arial"/>
                <a:ea typeface="Arial"/>
                <a:cs typeface="Arial"/>
              </a:defRPr>
            </a:pPr>
            <a:r>
              <a:rPr sz="2475" b="1">
                <a:solidFill>
                  <a:srgbClr val="0B7F70"/>
                </a:solidFill>
                <a:latin typeface="Arial"/>
                <a:ea typeface="Arial"/>
                <a:cs typeface="Arial"/>
              </a:rPr>
              <a:t>Acoustic sensing</a:t>
            </a:r>
          </a:p>
        </p:txBody>
      </p:sp>
      <p:sp>
        <p:nvSpPr>
          <p:cNvPr id="15" name="Detect sounds of interest and estimate their bearing relativ">
            <a:extLst xmlns:a="http://schemas.openxmlformats.org/drawingml/2006/main">
              <a:ext uri="{FF2B5EF4-FFF2-40B4-BE49-F238E27FC236}">
                <a16:creationId xmlns:a16="http://schemas.microsoft.com/office/drawing/2014/main" id="{1320805B-CFC4-44FE-BAED-A393E25F9D9D}"/>
              </a:ext>
            </a:extLst>
          </p:cNvPr>
          <p:cNvSpPr>
            <a:spLocks xmlns:a="http://schemas.openxmlformats.org/drawingml/2006/main" noGrp="1"/>
          </p:cNvSpPr>
          <p:nvPr/>
        </p:nvSpPr>
        <p:spPr>
          <a:xfrm xmlns:a="http://schemas.openxmlformats.org/drawingml/2006/main">
            <a:off x="7867650" y="4629150"/>
            <a:ext cx="3790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E2629"/>
                </a:solidFill>
                <a:latin typeface="Arial"/>
                <a:ea typeface="Arial"/>
                <a:cs typeface="Arial"/>
              </a:defRPr>
            </a:pPr>
            <a:r>
              <a:rPr sz="1950" b="0">
                <a:solidFill>
                  <a:srgbClr val="1E2629"/>
                </a:solidFill>
                <a:latin typeface="Arial"/>
                <a:ea typeface="Arial"/>
                <a:cs typeface="Arial"/>
              </a:rPr>
              <a:t>Detect sounds of interest and estimate their bearing relative to the sensor.</a:t>
            </a:r>
          </a:p>
        </p:txBody>
      </p:sp>
      <p:sp>
        <p:nvSpPr>
          <p:cNvPr id="16" name="">
            <a:extLst xmlns:a="http://schemas.openxmlformats.org/drawingml/2006/main">
              <a:ext uri="{FF2B5EF4-FFF2-40B4-BE49-F238E27FC236}">
                <a16:creationId xmlns:a16="http://schemas.microsoft.com/office/drawing/2014/main" id="{D076C8E2-BED3-455F-A99D-0433CBDCC348}"/>
              </a:ext>
            </a:extLst>
          </p:cNvPr>
          <p:cNvSpPr>
            <a:spLocks xmlns:a="http://schemas.openxmlformats.org/drawingml/2006/main" noGrp="1"/>
          </p:cNvSpPr>
          <p:nvPr/>
        </p:nvSpPr>
        <p:spPr>
          <a:xfrm xmlns:a="http://schemas.openxmlformats.org/drawingml/2006/main">
            <a:off x="533400" y="59626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17" name="Review scope: embedded SLAM, 3-D collaboration, loop closure">
            <a:extLst xmlns:a="http://schemas.openxmlformats.org/drawingml/2006/main">
              <a:ext uri="{FF2B5EF4-FFF2-40B4-BE49-F238E27FC236}">
                <a16:creationId xmlns:a16="http://schemas.microsoft.com/office/drawing/2014/main" id="{D6F58EDA-C0FE-4A40-9AA4-430A72251CA4}"/>
              </a:ext>
            </a:extLst>
          </p:cNvPr>
          <p:cNvSpPr>
            <a:spLocks xmlns:a="http://schemas.openxmlformats.org/drawingml/2006/main" noGrp="1"/>
          </p:cNvSpPr>
          <p:nvPr/>
        </p:nvSpPr>
        <p:spPr>
          <a:xfrm xmlns:a="http://schemas.openxmlformats.org/drawingml/2006/main">
            <a:off x="533400" y="61245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4B5859"/>
                </a:solidFill>
                <a:latin typeface="Arial"/>
                <a:ea typeface="Arial"/>
                <a:cs typeface="Arial"/>
              </a:defRPr>
            </a:pPr>
            <a:r>
              <a:rPr sz="1650" b="0">
                <a:solidFill>
                  <a:srgbClr val="4B5859"/>
                </a:solidFill>
                <a:latin typeface="Arial"/>
                <a:ea typeface="Arial"/>
                <a:cs typeface="Arial"/>
              </a:rPr>
              <a:t>Review scope: embedded SLAM, 3-D collaboration, loop closure and drone acoustics</a:t>
            </a:r>
          </a:p>
        </p:txBody>
      </p:sp>
    </p:spTree>
    <p:extLst>
      <p:ext uri="{BB962C8B-B14F-4D97-AF65-F5344CB8AC3E}">
        <p14:creationId xmlns:p14="http://schemas.microsoft.com/office/powerpoint/2010/main" val="1618951282"/>
      </p:ext>
    </p:extLst>
  </p:cSld>
</p:sld>
</file>

<file path=ppt/slides/slide4.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4d563b0c04c4dd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roblem statement">
            <a:extLst xmlns:a="http://schemas.openxmlformats.org/drawingml/2006/main">
              <a:ext uri="{FF2B5EF4-FFF2-40B4-BE49-F238E27FC236}">
                <a16:creationId xmlns:a16="http://schemas.microsoft.com/office/drawing/2014/main" id="{7113D3DC-38E8-476E-97B4-EE38174F67F5}"/>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Problem statement</a:t>
            </a:r>
          </a:p>
        </p:txBody>
      </p:sp>
      <p:sp>
        <p:nvSpPr>
          <p:cNvPr id="3" name="">
            <a:extLst xmlns:a="http://schemas.openxmlformats.org/drawingml/2006/main">
              <a:ext uri="{FF2B5EF4-FFF2-40B4-BE49-F238E27FC236}">
                <a16:creationId xmlns:a16="http://schemas.microsoft.com/office/drawing/2014/main" id="{33F69843-94EB-4397-ACB7-2830FF5A3A26}"/>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4" name="Phase-I presentation">
            <a:extLst xmlns:a="http://schemas.openxmlformats.org/drawingml/2006/main">
              <a:ext uri="{FF2B5EF4-FFF2-40B4-BE49-F238E27FC236}">
                <a16:creationId xmlns:a16="http://schemas.microsoft.com/office/drawing/2014/main" id="{B3923B40-BEC9-45BA-979E-CA5DD9671D8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04">
            <a:extLst xmlns:a="http://schemas.openxmlformats.org/drawingml/2006/main">
              <a:ext uri="{FF2B5EF4-FFF2-40B4-BE49-F238E27FC236}">
                <a16:creationId xmlns:a16="http://schemas.microsoft.com/office/drawing/2014/main" id="{F8E55120-7EE8-420F-BACF-D6C45050DA1E}"/>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04</a:t>
            </a:r>
          </a:p>
        </p:txBody>
      </p:sp>
      <p:sp>
        <p:nvSpPr>
          <p:cNvPr id="6" name="Develop and evaluate a low-cost system that maps GPS-denied ">
            <a:extLst xmlns:a="http://schemas.openxmlformats.org/drawingml/2006/main">
              <a:ext uri="{FF2B5EF4-FFF2-40B4-BE49-F238E27FC236}">
                <a16:creationId xmlns:a16="http://schemas.microsoft.com/office/drawing/2014/main" id="{A9F53C33-022D-43B8-B598-094994A51481}"/>
              </a:ext>
            </a:extLst>
          </p:cNvPr>
          <p:cNvSpPr>
            <a:spLocks xmlns:a="http://schemas.openxmlformats.org/drawingml/2006/main" noGrp="1"/>
          </p:cNvSpPr>
          <p:nvPr/>
        </p:nvSpPr>
        <p:spPr>
          <a:xfrm xmlns:a="http://schemas.openxmlformats.org/drawingml/2006/main">
            <a:off x="533400" y="1733550"/>
            <a:ext cx="6143625" cy="3552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E2629"/>
                </a:solidFill>
                <a:latin typeface="Arial"/>
                <a:ea typeface="Arial"/>
                <a:cs typeface="Arial"/>
              </a:defRPr>
            </a:pPr>
            <a:r>
              <a:rPr sz="3225" b="1">
                <a:solidFill>
                  <a:srgbClr val="1E2629"/>
                </a:solidFill>
                <a:latin typeface="Arial"/>
                <a:ea typeface="Arial"/>
                <a:cs typeface="Arial"/>
              </a:rPr>
              <a:t>Develop and evaluate a low-cost system that maps GPS-denied indoor spaces and provides acoustic cues for survivor search.</a:t>
            </a:r>
          </a:p>
        </p:txBody>
      </p:sp>
      <p:sp>
        <p:nvSpPr>
          <p:cNvPr id="7" name="">
            <a:extLst xmlns:a="http://schemas.openxmlformats.org/drawingml/2006/main">
              <a:ext uri="{FF2B5EF4-FFF2-40B4-BE49-F238E27FC236}">
                <a16:creationId xmlns:a16="http://schemas.microsoft.com/office/drawing/2014/main" id="{E0E00034-C460-43E4-9407-A41847051889}"/>
              </a:ext>
            </a:extLst>
          </p:cNvPr>
          <p:cNvSpPr>
            <a:spLocks xmlns:a="http://schemas.openxmlformats.org/drawingml/2006/main" noGrp="1"/>
          </p:cNvSpPr>
          <p:nvPr/>
        </p:nvSpPr>
        <p:spPr>
          <a:xfrm xmlns:a="http://schemas.openxmlformats.org/drawingml/2006/main">
            <a:off x="7058025" y="1704975"/>
            <a:ext cx="0" cy="4219575"/>
          </a:xfrm>
          <a:prstGeom xmlns:a="http://schemas.openxmlformats.org/drawingml/2006/main" prst="line">
            <a:avLst/>
          </a:prstGeom>
          <a:noFill xmlns:a="http://schemas.openxmlformats.org/drawingml/2006/main"/>
          <a:ln xmlns:a="http://schemas.openxmlformats.org/drawingml/2006/main" w="9525">
            <a:solidFill>
              <a:srgbClr val="C5CFCE"/>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82b7b6ce7ff488e">
            <a:extLst>
              <a:ext uri="{96DAC541-7B7A-43D3-8B79-37D633B846F1}">
                <asvg:svgBlip xmlns:asvg="http://schemas.microsoft.com/office/drawing/2016/SVG/main" r:embed="Rc4c7d62de8a3426a"/>
              </a:ext>
            </a:extLst>
          </a:blip>
          <a:stretch xmlns:a="http://schemas.openxmlformats.org/drawingml/2006/main"/>
        </p:blipFill>
        <p:spPr>
          <a:xfrm xmlns:a="http://schemas.openxmlformats.org/drawingml/2006/main">
            <a:off x="7458075" y="1743075"/>
            <a:ext cx="466725" cy="466725"/>
          </a:xfrm>
          <a:prstGeom xmlns:a="http://schemas.openxmlformats.org/drawingml/2006/main" prst="rect">
            <a:avLst/>
          </a:prstGeom>
        </p:spPr>
      </p:pic>
      <p:sp>
        <p:nvSpPr>
          <p:cNvPr id="9" name="Combined sensing">
            <a:extLst xmlns:a="http://schemas.openxmlformats.org/drawingml/2006/main">
              <a:ext uri="{FF2B5EF4-FFF2-40B4-BE49-F238E27FC236}">
                <a16:creationId xmlns:a16="http://schemas.microsoft.com/office/drawing/2014/main" id="{F9113477-3363-467E-A8E5-9CE1A2E71C9E}"/>
              </a:ext>
            </a:extLst>
          </p:cNvPr>
          <p:cNvSpPr>
            <a:spLocks xmlns:a="http://schemas.openxmlformats.org/drawingml/2006/main" noGrp="1"/>
          </p:cNvSpPr>
          <p:nvPr/>
        </p:nvSpPr>
        <p:spPr>
          <a:xfrm xmlns:a="http://schemas.openxmlformats.org/drawingml/2006/main">
            <a:off x="8134350" y="1724025"/>
            <a:ext cx="3524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B7F70"/>
                </a:solidFill>
                <a:latin typeface="Arial"/>
                <a:ea typeface="Arial"/>
                <a:cs typeface="Arial"/>
              </a:defRPr>
            </a:pPr>
            <a:r>
              <a:rPr sz="2025" b="1">
                <a:solidFill>
                  <a:srgbClr val="0B7F70"/>
                </a:solidFill>
                <a:latin typeface="Arial"/>
                <a:ea typeface="Arial"/>
                <a:cs typeface="Arial"/>
              </a:rPr>
              <a:t>Combined sensing</a:t>
            </a:r>
          </a:p>
        </p:txBody>
      </p:sp>
      <p:sp>
        <p:nvSpPr>
          <p:cNvPr id="10" name="Low-cost mapping needs a practical acoustic-search path.">
            <a:extLst xmlns:a="http://schemas.openxmlformats.org/drawingml/2006/main">
              <a:ext uri="{FF2B5EF4-FFF2-40B4-BE49-F238E27FC236}">
                <a16:creationId xmlns:a16="http://schemas.microsoft.com/office/drawing/2014/main" id="{A2DD2606-AEB4-493A-BB42-D23206D66EBB}"/>
              </a:ext>
            </a:extLst>
          </p:cNvPr>
          <p:cNvSpPr>
            <a:spLocks xmlns:a="http://schemas.openxmlformats.org/drawingml/2006/main" noGrp="1"/>
          </p:cNvSpPr>
          <p:nvPr/>
        </p:nvSpPr>
        <p:spPr>
          <a:xfrm xmlns:a="http://schemas.openxmlformats.org/drawingml/2006/main">
            <a:off x="8134350" y="2219325"/>
            <a:ext cx="352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4B5859"/>
                </a:solidFill>
                <a:latin typeface="Arial"/>
                <a:ea typeface="Arial"/>
                <a:cs typeface="Arial"/>
              </a:defRPr>
            </a:pPr>
            <a:r>
              <a:rPr sz="1875" b="0">
                <a:solidFill>
                  <a:srgbClr val="4B5859"/>
                </a:solidFill>
                <a:latin typeface="Arial"/>
                <a:ea typeface="Arial"/>
                <a:cs typeface="Arial"/>
              </a:rPr>
              <a:t>Low-cost mapping needs a practical acoustic-search path.</a:t>
            </a:r>
          </a:p>
        </p:txBody>
      </p:sp>
      <p:sp>
        <p:nvSpPr>
          <p:cNvPr id="11" name="">
            <a:extLst xmlns:a="http://schemas.openxmlformats.org/drawingml/2006/main">
              <a:ext uri="{FF2B5EF4-FFF2-40B4-BE49-F238E27FC236}">
                <a16:creationId xmlns:a16="http://schemas.microsoft.com/office/drawing/2014/main" id="{1CAD7F0A-76FC-497E-95DF-B5B81FADD320}"/>
              </a:ext>
            </a:extLst>
          </p:cNvPr>
          <p:cNvSpPr>
            <a:spLocks xmlns:a="http://schemas.openxmlformats.org/drawingml/2006/main" noGrp="1"/>
          </p:cNvSpPr>
          <p:nvPr/>
        </p:nvSpPr>
        <p:spPr>
          <a:xfrm xmlns:a="http://schemas.openxmlformats.org/drawingml/2006/main">
            <a:off x="7458075" y="3000375"/>
            <a:ext cx="4200525" cy="0"/>
          </a:xfrm>
          <a:prstGeom xmlns:a="http://schemas.openxmlformats.org/drawingml/2006/main" prst="line">
            <a:avLst/>
          </a:prstGeom>
          <a:noFill xmlns:a="http://schemas.openxmlformats.org/drawingml/2006/main"/>
          <a:ln xmlns:a="http://schemas.openxmlformats.org/drawingml/2006/main" w="9525">
            <a:solidFill>
              <a:srgbClr val="C5CFCE"/>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ca5679af6b749aa">
            <a:extLst>
              <a:ext uri="{96DAC541-7B7A-43D3-8B79-37D633B846F1}">
                <asvg:svgBlip xmlns:asvg="http://schemas.microsoft.com/office/drawing/2016/SVG/main" r:embed="R70491649d59b4f3b"/>
              </a:ext>
            </a:extLst>
          </a:blip>
          <a:stretch xmlns:a="http://schemas.openxmlformats.org/drawingml/2006/main"/>
        </p:blipFill>
        <p:spPr>
          <a:xfrm xmlns:a="http://schemas.openxmlformats.org/drawingml/2006/main">
            <a:off x="7458075" y="3200400"/>
            <a:ext cx="466725" cy="466725"/>
          </a:xfrm>
          <a:prstGeom xmlns:a="http://schemas.openxmlformats.org/drawingml/2006/main" prst="rect">
            <a:avLst/>
          </a:prstGeom>
        </p:spPr>
      </p:pic>
      <p:sp>
        <p:nvSpPr>
          <p:cNvPr id="13" name="Measured performance">
            <a:extLst xmlns:a="http://schemas.openxmlformats.org/drawingml/2006/main">
              <a:ext uri="{FF2B5EF4-FFF2-40B4-BE49-F238E27FC236}">
                <a16:creationId xmlns:a16="http://schemas.microsoft.com/office/drawing/2014/main" id="{85AF5123-F34C-42D0-AA4F-856342531FDE}"/>
              </a:ext>
            </a:extLst>
          </p:cNvPr>
          <p:cNvSpPr>
            <a:spLocks xmlns:a="http://schemas.openxmlformats.org/drawingml/2006/main" noGrp="1"/>
          </p:cNvSpPr>
          <p:nvPr/>
        </p:nvSpPr>
        <p:spPr>
          <a:xfrm xmlns:a="http://schemas.openxmlformats.org/drawingml/2006/main">
            <a:off x="8134350" y="3181350"/>
            <a:ext cx="3524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B7F70"/>
                </a:solidFill>
                <a:latin typeface="Arial"/>
                <a:ea typeface="Arial"/>
                <a:cs typeface="Arial"/>
              </a:defRPr>
            </a:pPr>
            <a:r>
              <a:rPr sz="2025" b="1">
                <a:solidFill>
                  <a:srgbClr val="0B7F70"/>
                </a:solidFill>
                <a:latin typeface="Arial"/>
                <a:ea typeface="Arial"/>
                <a:cs typeface="Arial"/>
              </a:rPr>
              <a:t>Measured performance</a:t>
            </a:r>
          </a:p>
        </p:txBody>
      </p:sp>
      <p:sp>
        <p:nvSpPr>
          <p:cNvPr id="14" name="Map appearance alone cannot establish accuracy.">
            <a:extLst xmlns:a="http://schemas.openxmlformats.org/drawingml/2006/main">
              <a:ext uri="{FF2B5EF4-FFF2-40B4-BE49-F238E27FC236}">
                <a16:creationId xmlns:a16="http://schemas.microsoft.com/office/drawing/2014/main" id="{AD28D2E3-1CB2-4FB3-BF6B-C24738905B9B}"/>
              </a:ext>
            </a:extLst>
          </p:cNvPr>
          <p:cNvSpPr>
            <a:spLocks xmlns:a="http://schemas.openxmlformats.org/drawingml/2006/main" noGrp="1"/>
          </p:cNvSpPr>
          <p:nvPr/>
        </p:nvSpPr>
        <p:spPr>
          <a:xfrm xmlns:a="http://schemas.openxmlformats.org/drawingml/2006/main">
            <a:off x="8134350" y="3676650"/>
            <a:ext cx="352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4B5859"/>
                </a:solidFill>
                <a:latin typeface="Arial"/>
                <a:ea typeface="Arial"/>
                <a:cs typeface="Arial"/>
              </a:defRPr>
            </a:pPr>
            <a:r>
              <a:rPr sz="1875" b="0">
                <a:solidFill>
                  <a:srgbClr val="4B5859"/>
                </a:solidFill>
                <a:latin typeface="Arial"/>
                <a:ea typeface="Arial"/>
                <a:cs typeface="Arial"/>
              </a:rPr>
              <a:t>Map appearance alone cannot establish accuracy.</a:t>
            </a:r>
          </a:p>
        </p:txBody>
      </p:sp>
      <p:sp>
        <p:nvSpPr>
          <p:cNvPr id="15" name="">
            <a:extLst xmlns:a="http://schemas.openxmlformats.org/drawingml/2006/main">
              <a:ext uri="{FF2B5EF4-FFF2-40B4-BE49-F238E27FC236}">
                <a16:creationId xmlns:a16="http://schemas.microsoft.com/office/drawing/2014/main" id="{4B387DC5-BDE9-4DCB-B14B-10D74CF4B3DF}"/>
              </a:ext>
            </a:extLst>
          </p:cNvPr>
          <p:cNvSpPr>
            <a:spLocks xmlns:a="http://schemas.openxmlformats.org/drawingml/2006/main" noGrp="1"/>
          </p:cNvSpPr>
          <p:nvPr/>
        </p:nvSpPr>
        <p:spPr>
          <a:xfrm xmlns:a="http://schemas.openxmlformats.org/drawingml/2006/main">
            <a:off x="7458075" y="4457700"/>
            <a:ext cx="4200525" cy="0"/>
          </a:xfrm>
          <a:prstGeom xmlns:a="http://schemas.openxmlformats.org/drawingml/2006/main" prst="line">
            <a:avLst/>
          </a:prstGeom>
          <a:noFill xmlns:a="http://schemas.openxmlformats.org/drawingml/2006/main"/>
          <a:ln xmlns:a="http://schemas.openxmlformats.org/drawingml/2006/main" w="9525">
            <a:solidFill>
              <a:srgbClr val="C5CFCE"/>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2d2a8ccfd10450b">
            <a:extLst>
              <a:ext uri="{96DAC541-7B7A-43D3-8B79-37D633B846F1}">
                <asvg:svgBlip xmlns:asvg="http://schemas.microsoft.com/office/drawing/2016/SVG/main" r:embed="R6182d9ffb8d64158"/>
              </a:ext>
            </a:extLst>
          </a:blip>
          <a:stretch xmlns:a="http://schemas.openxmlformats.org/drawingml/2006/main"/>
        </p:blipFill>
        <p:spPr>
          <a:xfrm xmlns:a="http://schemas.openxmlformats.org/drawingml/2006/main">
            <a:off x="7458075" y="4657725"/>
            <a:ext cx="466725" cy="466725"/>
          </a:xfrm>
          <a:prstGeom xmlns:a="http://schemas.openxmlformats.org/drawingml/2006/main" prst="rect">
            <a:avLst/>
          </a:prstGeom>
        </p:spPr>
      </p:pic>
      <p:sp>
        <p:nvSpPr>
          <p:cNvPr id="17" name="Limited resources">
            <a:extLst xmlns:a="http://schemas.openxmlformats.org/drawingml/2006/main">
              <a:ext uri="{FF2B5EF4-FFF2-40B4-BE49-F238E27FC236}">
                <a16:creationId xmlns:a16="http://schemas.microsoft.com/office/drawing/2014/main" id="{248DBCD8-EC90-4E49-A75D-2F5901FA216C}"/>
              </a:ext>
            </a:extLst>
          </p:cNvPr>
          <p:cNvSpPr>
            <a:spLocks xmlns:a="http://schemas.openxmlformats.org/drawingml/2006/main" noGrp="1"/>
          </p:cNvSpPr>
          <p:nvPr/>
        </p:nvSpPr>
        <p:spPr>
          <a:xfrm xmlns:a="http://schemas.openxmlformats.org/drawingml/2006/main">
            <a:off x="8134350" y="4638675"/>
            <a:ext cx="3524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B7F70"/>
                </a:solidFill>
                <a:latin typeface="Arial"/>
                <a:ea typeface="Arial"/>
                <a:cs typeface="Arial"/>
              </a:defRPr>
            </a:pPr>
            <a:r>
              <a:rPr sz="2025" b="1">
                <a:solidFill>
                  <a:srgbClr val="0B7F70"/>
                </a:solidFill>
                <a:latin typeface="Arial"/>
                <a:ea typeface="Arial"/>
                <a:cs typeface="Arial"/>
              </a:rPr>
              <a:t>Limited resources</a:t>
            </a:r>
          </a:p>
        </p:txBody>
      </p:sp>
      <p:sp>
        <p:nvSpPr>
          <p:cNvPr id="18" name="Compute, power and rotor noise constrain the design.">
            <a:extLst xmlns:a="http://schemas.openxmlformats.org/drawingml/2006/main">
              <a:ext uri="{FF2B5EF4-FFF2-40B4-BE49-F238E27FC236}">
                <a16:creationId xmlns:a16="http://schemas.microsoft.com/office/drawing/2014/main" id="{0E002DAC-E98C-47F4-BC0F-A4DF484CC071}"/>
              </a:ext>
            </a:extLst>
          </p:cNvPr>
          <p:cNvSpPr>
            <a:spLocks xmlns:a="http://schemas.openxmlformats.org/drawingml/2006/main" noGrp="1"/>
          </p:cNvSpPr>
          <p:nvPr/>
        </p:nvSpPr>
        <p:spPr>
          <a:xfrm xmlns:a="http://schemas.openxmlformats.org/drawingml/2006/main">
            <a:off x="8134350" y="5133975"/>
            <a:ext cx="352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4B5859"/>
                </a:solidFill>
                <a:latin typeface="Arial"/>
                <a:ea typeface="Arial"/>
                <a:cs typeface="Arial"/>
              </a:defRPr>
            </a:pPr>
            <a:r>
              <a:rPr sz="1875" b="0">
                <a:solidFill>
                  <a:srgbClr val="4B5859"/>
                </a:solidFill>
                <a:latin typeface="Arial"/>
                <a:ea typeface="Arial"/>
                <a:cs typeface="Arial"/>
              </a:rPr>
              <a:t>Compute, power and rotor noise constrain the design.</a:t>
            </a:r>
          </a:p>
        </p:txBody>
      </p:sp>
    </p:spTree>
    <p:extLst>
      <p:ext uri="{BB962C8B-B14F-4D97-AF65-F5344CB8AC3E}">
        <p14:creationId xmlns:p14="http://schemas.microsoft.com/office/powerpoint/2010/main" val="833177417"/>
      </p:ext>
    </p:extLst>
  </p:cSld>
</p:sld>
</file>

<file path=ppt/slides/slide5.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1135c1e388b49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Objectives">
            <a:extLst xmlns:a="http://schemas.openxmlformats.org/drawingml/2006/main">
              <a:ext uri="{FF2B5EF4-FFF2-40B4-BE49-F238E27FC236}">
                <a16:creationId xmlns:a16="http://schemas.microsoft.com/office/drawing/2014/main" id="{13896E6E-E600-4956-8D3D-A0CDE7B5FCF1}"/>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Objectives</a:t>
            </a:r>
          </a:p>
        </p:txBody>
      </p:sp>
      <p:sp>
        <p:nvSpPr>
          <p:cNvPr id="3" name="">
            <a:extLst xmlns:a="http://schemas.openxmlformats.org/drawingml/2006/main">
              <a:ext uri="{FF2B5EF4-FFF2-40B4-BE49-F238E27FC236}">
                <a16:creationId xmlns:a16="http://schemas.microsoft.com/office/drawing/2014/main" id="{5523D199-9B0C-4913-A45C-7BAD795C3A17}"/>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4" name="Phase-I presentation">
            <a:extLst xmlns:a="http://schemas.openxmlformats.org/drawingml/2006/main">
              <a:ext uri="{FF2B5EF4-FFF2-40B4-BE49-F238E27FC236}">
                <a16:creationId xmlns:a16="http://schemas.microsoft.com/office/drawing/2014/main" id="{1300DA26-F553-4A22-93A3-93981FAC0129}"/>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05">
            <a:extLst xmlns:a="http://schemas.openxmlformats.org/drawingml/2006/main">
              <a:ext uri="{FF2B5EF4-FFF2-40B4-BE49-F238E27FC236}">
                <a16:creationId xmlns:a16="http://schemas.microsoft.com/office/drawing/2014/main" id="{0903B8A4-0356-43ED-B959-8E8B7702767B}"/>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05</a:t>
            </a:r>
          </a:p>
        </p:txBody>
      </p:sp>
      <p:sp>
        <p:nvSpPr>
          <p:cNvPr id="6" name="Targets for the complete project">
            <a:extLst xmlns:a="http://schemas.openxmlformats.org/drawingml/2006/main">
              <a:ext uri="{FF2B5EF4-FFF2-40B4-BE49-F238E27FC236}">
                <a16:creationId xmlns:a16="http://schemas.microsoft.com/office/drawing/2014/main" id="{51625F8B-F24F-4CC7-8964-D4E24265A171}"/>
              </a:ext>
            </a:extLst>
          </p:cNvPr>
          <p:cNvSpPr>
            <a:spLocks xmlns:a="http://schemas.openxmlformats.org/drawingml/2006/main" noGrp="1"/>
          </p:cNvSpPr>
          <p:nvPr/>
        </p:nvSpPr>
        <p:spPr>
          <a:xfrm xmlns:a="http://schemas.openxmlformats.org/drawingml/2006/main">
            <a:off x="533400" y="14097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Targets for the complete project</a:t>
            </a:r>
          </a:p>
        </p:txBody>
      </p:sp>
      <p:sp>
        <p:nvSpPr>
          <p:cNvPr id="7" name="">
            <a:extLst xmlns:a="http://schemas.openxmlformats.org/drawingml/2006/main">
              <a:ext uri="{FF2B5EF4-FFF2-40B4-BE49-F238E27FC236}">
                <a16:creationId xmlns:a16="http://schemas.microsoft.com/office/drawing/2014/main" id="{7F09A0B9-683E-4B1B-8B0F-74EFAB70F574}"/>
              </a:ext>
            </a:extLst>
          </p:cNvPr>
          <p:cNvSpPr>
            <a:spLocks xmlns:a="http://schemas.openxmlformats.org/drawingml/2006/main" noGrp="1"/>
          </p:cNvSpPr>
          <p:nvPr/>
        </p:nvSpPr>
        <p:spPr>
          <a:xfrm xmlns:a="http://schemas.openxmlformats.org/drawingml/2006/main">
            <a:off x="533400" y="4010025"/>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8" name="">
            <a:extLst xmlns:a="http://schemas.openxmlformats.org/drawingml/2006/main">
              <a:ext uri="{FF2B5EF4-FFF2-40B4-BE49-F238E27FC236}">
                <a16:creationId xmlns:a16="http://schemas.microsoft.com/office/drawing/2014/main" id="{3F43E89F-5737-47B9-B6ED-7CB7326FD078}"/>
              </a:ext>
            </a:extLst>
          </p:cNvPr>
          <p:cNvSpPr>
            <a:spLocks xmlns:a="http://schemas.openxmlformats.org/drawingml/2006/main" noGrp="1"/>
          </p:cNvSpPr>
          <p:nvPr/>
        </p:nvSpPr>
        <p:spPr>
          <a:xfrm xmlns:a="http://schemas.openxmlformats.org/drawingml/2006/main">
            <a:off x="6105525" y="1971675"/>
            <a:ext cx="0" cy="4143375"/>
          </a:xfrm>
          <a:prstGeom xmlns:a="http://schemas.openxmlformats.org/drawingml/2006/main" prst="line">
            <a:avLst/>
          </a:prstGeom>
          <a:noFill xmlns:a="http://schemas.openxmlformats.org/drawingml/2006/main"/>
          <a:ln xmlns:a="http://schemas.openxmlformats.org/drawingml/2006/main" w="9525">
            <a:solidFill>
              <a:srgbClr val="C5CFCE"/>
            </a:solid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dc96a228d02499c">
            <a:extLst>
              <a:ext uri="{96DAC541-7B7A-43D3-8B79-37D633B846F1}">
                <asvg:svgBlip xmlns:asvg="http://schemas.microsoft.com/office/drawing/2016/SVG/main" r:embed="R1c43300de8a9491a"/>
              </a:ext>
            </a:extLst>
          </a:blip>
          <a:stretch xmlns:a="http://schemas.openxmlformats.org/drawingml/2006/main"/>
        </p:blipFill>
        <p:spPr>
          <a:xfrm xmlns:a="http://schemas.openxmlformats.org/drawingml/2006/main">
            <a:off x="533400" y="2019300"/>
            <a:ext cx="504825" cy="504825"/>
          </a:xfrm>
          <a:prstGeom xmlns:a="http://schemas.openxmlformats.org/drawingml/2006/main" prst="rect">
            <a:avLst/>
          </a:prstGeom>
        </p:spPr>
      </p:pic>
      <p:sp>
        <p:nvSpPr>
          <p:cNvPr id="10" name="01">
            <a:extLst xmlns:a="http://schemas.openxmlformats.org/drawingml/2006/main">
              <a:ext uri="{FF2B5EF4-FFF2-40B4-BE49-F238E27FC236}">
                <a16:creationId xmlns:a16="http://schemas.microsoft.com/office/drawing/2014/main" id="{81A41D5A-8650-4842-9B5A-BFD422810A9D}"/>
              </a:ext>
            </a:extLst>
          </p:cNvPr>
          <p:cNvSpPr>
            <a:spLocks xmlns:a="http://schemas.openxmlformats.org/drawingml/2006/main" noGrp="1"/>
          </p:cNvSpPr>
          <p:nvPr/>
        </p:nvSpPr>
        <p:spPr>
          <a:xfrm xmlns:a="http://schemas.openxmlformats.org/drawingml/2006/main">
            <a:off x="1266825" y="19812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6E7C7D"/>
                </a:solidFill>
                <a:latin typeface="Arial"/>
                <a:ea typeface="Arial"/>
                <a:cs typeface="Arial"/>
              </a:defRPr>
            </a:pPr>
            <a:r>
              <a:rPr sz="3225" b="1">
                <a:solidFill>
                  <a:srgbClr val="6E7C7D"/>
                </a:solidFill>
                <a:latin typeface="Arial"/>
                <a:ea typeface="Arial"/>
                <a:cs typeface="Arial"/>
              </a:rPr>
              <a:t>01</a:t>
            </a:r>
          </a:p>
        </p:txBody>
      </p:sp>
      <p:sp>
        <p:nvSpPr>
          <p:cNvPr id="11" name="Onboard indoor mapping">
            <a:extLst xmlns:a="http://schemas.openxmlformats.org/drawingml/2006/main">
              <a:ext uri="{FF2B5EF4-FFF2-40B4-BE49-F238E27FC236}">
                <a16:creationId xmlns:a16="http://schemas.microsoft.com/office/drawing/2014/main" id="{1297D57B-E70A-410B-A84A-2844266D153F}"/>
              </a:ext>
            </a:extLst>
          </p:cNvPr>
          <p:cNvSpPr>
            <a:spLocks xmlns:a="http://schemas.openxmlformats.org/drawingml/2006/main" noGrp="1"/>
          </p:cNvSpPr>
          <p:nvPr/>
        </p:nvSpPr>
        <p:spPr>
          <a:xfrm xmlns:a="http://schemas.openxmlformats.org/drawingml/2006/main">
            <a:off x="533400" y="265747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E2629"/>
                </a:solidFill>
                <a:latin typeface="Arial"/>
                <a:ea typeface="Arial"/>
                <a:cs typeface="Arial"/>
              </a:defRPr>
            </a:pPr>
            <a:r>
              <a:rPr sz="2250" b="1">
                <a:solidFill>
                  <a:srgbClr val="1E2629"/>
                </a:solidFill>
                <a:latin typeface="Arial"/>
                <a:ea typeface="Arial"/>
                <a:cs typeface="Arial"/>
              </a:rPr>
              <a:t>Onboard indoor mapping</a:t>
            </a:r>
          </a:p>
        </p:txBody>
      </p:sp>
      <p:sp>
        <p:nvSpPr>
          <p:cNvPr id="12" name="Develop a mapping pipeline suited to constrained sensing and">
            <a:extLst xmlns:a="http://schemas.openxmlformats.org/drawingml/2006/main">
              <a:ext uri="{FF2B5EF4-FFF2-40B4-BE49-F238E27FC236}">
                <a16:creationId xmlns:a16="http://schemas.microsoft.com/office/drawing/2014/main" id="{7AC2B24C-0E97-44ED-91D2-74392F499A5F}"/>
              </a:ext>
            </a:extLst>
          </p:cNvPr>
          <p:cNvSpPr>
            <a:spLocks xmlns:a="http://schemas.openxmlformats.org/drawingml/2006/main" noGrp="1"/>
          </p:cNvSpPr>
          <p:nvPr/>
        </p:nvSpPr>
        <p:spPr>
          <a:xfrm xmlns:a="http://schemas.openxmlformats.org/drawingml/2006/main">
            <a:off x="533400" y="3371850"/>
            <a:ext cx="5219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B5859"/>
                </a:solidFill>
                <a:latin typeface="Arial"/>
                <a:ea typeface="Arial"/>
                <a:cs typeface="Arial"/>
              </a:defRPr>
            </a:pPr>
            <a:r>
              <a:rPr sz="1800" b="0">
                <a:solidFill>
                  <a:srgbClr val="4B5859"/>
                </a:solidFill>
                <a:latin typeface="Arial"/>
                <a:ea typeface="Arial"/>
                <a:cs typeface="Arial"/>
              </a:rPr>
              <a:t>Develop a mapping pipeline suited to constrained sensing and compute.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850312a58644da0">
            <a:extLst>
              <a:ext uri="{96DAC541-7B7A-43D3-8B79-37D633B846F1}">
                <asvg:svgBlip xmlns:asvg="http://schemas.microsoft.com/office/drawing/2016/SVG/main" r:embed="R25f79fb5d55c4573"/>
              </a:ext>
            </a:extLst>
          </a:blip>
          <a:stretch xmlns:a="http://schemas.openxmlformats.org/drawingml/2006/main"/>
        </p:blipFill>
        <p:spPr>
          <a:xfrm xmlns:a="http://schemas.openxmlformats.org/drawingml/2006/main">
            <a:off x="6391275" y="2019300"/>
            <a:ext cx="504825" cy="504825"/>
          </a:xfrm>
          <a:prstGeom xmlns:a="http://schemas.openxmlformats.org/drawingml/2006/main" prst="rect">
            <a:avLst/>
          </a:prstGeom>
        </p:spPr>
      </p:pic>
      <p:sp>
        <p:nvSpPr>
          <p:cNvPr id="14" name="02">
            <a:extLst xmlns:a="http://schemas.openxmlformats.org/drawingml/2006/main">
              <a:ext uri="{FF2B5EF4-FFF2-40B4-BE49-F238E27FC236}">
                <a16:creationId xmlns:a16="http://schemas.microsoft.com/office/drawing/2014/main" id="{A47971BE-61F7-490A-A56C-AA33245D782C}"/>
              </a:ext>
            </a:extLst>
          </p:cNvPr>
          <p:cNvSpPr>
            <a:spLocks xmlns:a="http://schemas.openxmlformats.org/drawingml/2006/main" noGrp="1"/>
          </p:cNvSpPr>
          <p:nvPr/>
        </p:nvSpPr>
        <p:spPr>
          <a:xfrm xmlns:a="http://schemas.openxmlformats.org/drawingml/2006/main">
            <a:off x="7124700" y="19812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6E7C7D"/>
                </a:solidFill>
                <a:latin typeface="Arial"/>
                <a:ea typeface="Arial"/>
                <a:cs typeface="Arial"/>
              </a:defRPr>
            </a:pPr>
            <a:r>
              <a:rPr sz="3225" b="1">
                <a:solidFill>
                  <a:srgbClr val="6E7C7D"/>
                </a:solidFill>
                <a:latin typeface="Arial"/>
                <a:ea typeface="Arial"/>
                <a:cs typeface="Arial"/>
              </a:rPr>
              <a:t>02</a:t>
            </a:r>
          </a:p>
        </p:txBody>
      </p:sp>
      <p:sp>
        <p:nvSpPr>
          <p:cNvPr id="15" name="Spatial and collaborative mapping">
            <a:extLst xmlns:a="http://schemas.openxmlformats.org/drawingml/2006/main">
              <a:ext uri="{FF2B5EF4-FFF2-40B4-BE49-F238E27FC236}">
                <a16:creationId xmlns:a16="http://schemas.microsoft.com/office/drawing/2014/main" id="{45BDD3F9-FF35-47B9-8F74-A592A7F3B171}"/>
              </a:ext>
            </a:extLst>
          </p:cNvPr>
          <p:cNvSpPr>
            <a:spLocks xmlns:a="http://schemas.openxmlformats.org/drawingml/2006/main" noGrp="1"/>
          </p:cNvSpPr>
          <p:nvPr/>
        </p:nvSpPr>
        <p:spPr>
          <a:xfrm xmlns:a="http://schemas.openxmlformats.org/drawingml/2006/main">
            <a:off x="6391275" y="265747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E2629"/>
                </a:solidFill>
                <a:latin typeface="Arial"/>
                <a:ea typeface="Arial"/>
                <a:cs typeface="Arial"/>
              </a:defRPr>
            </a:pPr>
            <a:r>
              <a:rPr sz="2250" b="1">
                <a:solidFill>
                  <a:srgbClr val="1E2629"/>
                </a:solidFill>
                <a:latin typeface="Arial"/>
                <a:ea typeface="Arial"/>
                <a:cs typeface="Arial"/>
              </a:rPr>
              <a:t>Spatial and collaborative mapping</a:t>
            </a:r>
          </a:p>
        </p:txBody>
      </p:sp>
      <p:sp>
        <p:nvSpPr>
          <p:cNvPr id="16" name="Extend planar scans to height maps and study offline 3-D / m">
            <a:extLst xmlns:a="http://schemas.openxmlformats.org/drawingml/2006/main">
              <a:ext uri="{FF2B5EF4-FFF2-40B4-BE49-F238E27FC236}">
                <a16:creationId xmlns:a16="http://schemas.microsoft.com/office/drawing/2014/main" id="{B7950369-1EF4-4797-8F4F-A0EC1079C292}"/>
              </a:ext>
            </a:extLst>
          </p:cNvPr>
          <p:cNvSpPr>
            <a:spLocks xmlns:a="http://schemas.openxmlformats.org/drawingml/2006/main" noGrp="1"/>
          </p:cNvSpPr>
          <p:nvPr/>
        </p:nvSpPr>
        <p:spPr>
          <a:xfrm xmlns:a="http://schemas.openxmlformats.org/drawingml/2006/main">
            <a:off x="6391275" y="3371850"/>
            <a:ext cx="5219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B5859"/>
                </a:solidFill>
                <a:latin typeface="Arial"/>
                <a:ea typeface="Arial"/>
                <a:cs typeface="Arial"/>
              </a:defRPr>
            </a:pPr>
            <a:r>
              <a:rPr sz="1800" b="0">
                <a:solidFill>
                  <a:srgbClr val="4B5859"/>
                </a:solidFill>
                <a:latin typeface="Arial"/>
                <a:ea typeface="Arial"/>
                <a:cs typeface="Arial"/>
              </a:rPr>
              <a:t>Extend planar scans to height maps and study offline 3-D / multi-agent methods.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cc7244ff8514b4f">
            <a:extLst>
              <a:ext uri="{96DAC541-7B7A-43D3-8B79-37D633B846F1}">
                <asvg:svgBlip xmlns:asvg="http://schemas.microsoft.com/office/drawing/2016/SVG/main" r:embed="R8dfd59526568498e"/>
              </a:ext>
            </a:extLst>
          </a:blip>
          <a:stretch xmlns:a="http://schemas.openxmlformats.org/drawingml/2006/main"/>
        </p:blipFill>
        <p:spPr>
          <a:xfrm xmlns:a="http://schemas.openxmlformats.org/drawingml/2006/main">
            <a:off x="533400" y="4248150"/>
            <a:ext cx="504825" cy="504825"/>
          </a:xfrm>
          <a:prstGeom xmlns:a="http://schemas.openxmlformats.org/drawingml/2006/main" prst="rect">
            <a:avLst/>
          </a:prstGeom>
        </p:spPr>
      </p:pic>
      <p:sp>
        <p:nvSpPr>
          <p:cNvPr id="18" name="03">
            <a:extLst xmlns:a="http://schemas.openxmlformats.org/drawingml/2006/main">
              <a:ext uri="{FF2B5EF4-FFF2-40B4-BE49-F238E27FC236}">
                <a16:creationId xmlns:a16="http://schemas.microsoft.com/office/drawing/2014/main" id="{6323A9F9-CDE1-4234-855A-3476A9C9D404}"/>
              </a:ext>
            </a:extLst>
          </p:cNvPr>
          <p:cNvSpPr>
            <a:spLocks xmlns:a="http://schemas.openxmlformats.org/drawingml/2006/main" noGrp="1"/>
          </p:cNvSpPr>
          <p:nvPr/>
        </p:nvSpPr>
        <p:spPr>
          <a:xfrm xmlns:a="http://schemas.openxmlformats.org/drawingml/2006/main">
            <a:off x="1266825" y="42100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6E7C7D"/>
                </a:solidFill>
                <a:latin typeface="Arial"/>
                <a:ea typeface="Arial"/>
                <a:cs typeface="Arial"/>
              </a:defRPr>
            </a:pPr>
            <a:r>
              <a:rPr sz="3225" b="1">
                <a:solidFill>
                  <a:srgbClr val="6E7C7D"/>
                </a:solidFill>
                <a:latin typeface="Arial"/>
                <a:ea typeface="Arial"/>
                <a:cs typeface="Arial"/>
              </a:rPr>
              <a:t>03</a:t>
            </a:r>
          </a:p>
        </p:txBody>
      </p:sp>
      <p:sp>
        <p:nvSpPr>
          <p:cNvPr id="19" name="Acoustic event detection and bearing">
            <a:extLst xmlns:a="http://schemas.openxmlformats.org/drawingml/2006/main">
              <a:ext uri="{FF2B5EF4-FFF2-40B4-BE49-F238E27FC236}">
                <a16:creationId xmlns:a16="http://schemas.microsoft.com/office/drawing/2014/main" id="{E1284A57-2CF8-4BE3-B027-23DC72094DA9}"/>
              </a:ext>
            </a:extLst>
          </p:cNvPr>
          <p:cNvSpPr>
            <a:spLocks xmlns:a="http://schemas.openxmlformats.org/drawingml/2006/main" noGrp="1"/>
          </p:cNvSpPr>
          <p:nvPr/>
        </p:nvSpPr>
        <p:spPr>
          <a:xfrm xmlns:a="http://schemas.openxmlformats.org/drawingml/2006/main">
            <a:off x="533400" y="488632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E2629"/>
                </a:solidFill>
                <a:latin typeface="Arial"/>
                <a:ea typeface="Arial"/>
                <a:cs typeface="Arial"/>
              </a:defRPr>
            </a:pPr>
            <a:r>
              <a:rPr sz="2250" b="1">
                <a:solidFill>
                  <a:srgbClr val="1E2629"/>
                </a:solidFill>
                <a:latin typeface="Arial"/>
                <a:ea typeface="Arial"/>
                <a:cs typeface="Arial"/>
              </a:rPr>
              <a:t>Acoustic event detection and bearing</a:t>
            </a:r>
          </a:p>
        </p:txBody>
      </p:sp>
      <p:sp>
        <p:nvSpPr>
          <p:cNvPr id="20" name="Characterise performance with background noise and, later, r">
            <a:extLst xmlns:a="http://schemas.openxmlformats.org/drawingml/2006/main">
              <a:ext uri="{FF2B5EF4-FFF2-40B4-BE49-F238E27FC236}">
                <a16:creationId xmlns:a16="http://schemas.microsoft.com/office/drawing/2014/main" id="{1CDB056C-8D18-4B9B-A477-1D3E6B3756B5}"/>
              </a:ext>
            </a:extLst>
          </p:cNvPr>
          <p:cNvSpPr>
            <a:spLocks xmlns:a="http://schemas.openxmlformats.org/drawingml/2006/main" noGrp="1"/>
          </p:cNvSpPr>
          <p:nvPr/>
        </p:nvSpPr>
        <p:spPr>
          <a:xfrm xmlns:a="http://schemas.openxmlformats.org/drawingml/2006/main">
            <a:off x="533400" y="5600700"/>
            <a:ext cx="5219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B5859"/>
                </a:solidFill>
                <a:latin typeface="Arial"/>
                <a:ea typeface="Arial"/>
                <a:cs typeface="Arial"/>
              </a:defRPr>
            </a:pPr>
            <a:r>
              <a:rPr sz="1800" b="0">
                <a:solidFill>
                  <a:srgbClr val="4B5859"/>
                </a:solidFill>
                <a:latin typeface="Arial"/>
                <a:ea typeface="Arial"/>
                <a:cs typeface="Arial"/>
              </a:rPr>
              <a:t>Characterise performance with background noise and, later, rotor noise.</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9a0207fd5dba48fd">
            <a:extLst>
              <a:ext uri="{96DAC541-7B7A-43D3-8B79-37D633B846F1}">
                <asvg:svgBlip xmlns:asvg="http://schemas.microsoft.com/office/drawing/2016/SVG/main" r:embed="Ra81494a18d654b45"/>
              </a:ext>
            </a:extLst>
          </a:blip>
          <a:stretch xmlns:a="http://schemas.openxmlformats.org/drawingml/2006/main"/>
        </p:blipFill>
        <p:spPr>
          <a:xfrm xmlns:a="http://schemas.openxmlformats.org/drawingml/2006/main">
            <a:off x="6391275" y="4248150"/>
            <a:ext cx="504825" cy="504825"/>
          </a:xfrm>
          <a:prstGeom xmlns:a="http://schemas.openxmlformats.org/drawingml/2006/main" prst="rect">
            <a:avLst/>
          </a:prstGeom>
        </p:spPr>
      </p:pic>
      <p:sp>
        <p:nvSpPr>
          <p:cNvPr id="22" name="04">
            <a:extLst xmlns:a="http://schemas.openxmlformats.org/drawingml/2006/main">
              <a:ext uri="{FF2B5EF4-FFF2-40B4-BE49-F238E27FC236}">
                <a16:creationId xmlns:a16="http://schemas.microsoft.com/office/drawing/2014/main" id="{1175EFF4-27D0-4D60-9678-66005D0C5C38}"/>
              </a:ext>
            </a:extLst>
          </p:cNvPr>
          <p:cNvSpPr>
            <a:spLocks xmlns:a="http://schemas.openxmlformats.org/drawingml/2006/main" noGrp="1"/>
          </p:cNvSpPr>
          <p:nvPr/>
        </p:nvSpPr>
        <p:spPr>
          <a:xfrm xmlns:a="http://schemas.openxmlformats.org/drawingml/2006/main">
            <a:off x="7124700" y="42100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6E7C7D"/>
                </a:solidFill>
                <a:latin typeface="Arial"/>
                <a:ea typeface="Arial"/>
                <a:cs typeface="Arial"/>
              </a:defRPr>
            </a:pPr>
            <a:r>
              <a:rPr sz="3225" b="1">
                <a:solidFill>
                  <a:srgbClr val="6E7C7D"/>
                </a:solidFill>
                <a:latin typeface="Arial"/>
                <a:ea typeface="Arial"/>
                <a:cs typeface="Arial"/>
              </a:rPr>
              <a:t>04</a:t>
            </a:r>
          </a:p>
        </p:txBody>
      </p:sp>
      <p:sp>
        <p:nvSpPr>
          <p:cNvPr id="23" name="Reproducible quantitative evaluation">
            <a:extLst xmlns:a="http://schemas.openxmlformats.org/drawingml/2006/main">
              <a:ext uri="{FF2B5EF4-FFF2-40B4-BE49-F238E27FC236}">
                <a16:creationId xmlns:a16="http://schemas.microsoft.com/office/drawing/2014/main" id="{44EB90E2-7898-48D3-AD78-183C94506DDD}"/>
              </a:ext>
            </a:extLst>
          </p:cNvPr>
          <p:cNvSpPr>
            <a:spLocks xmlns:a="http://schemas.openxmlformats.org/drawingml/2006/main" noGrp="1"/>
          </p:cNvSpPr>
          <p:nvPr/>
        </p:nvSpPr>
        <p:spPr>
          <a:xfrm xmlns:a="http://schemas.openxmlformats.org/drawingml/2006/main">
            <a:off x="6391275" y="488632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E2629"/>
                </a:solidFill>
                <a:latin typeface="Arial"/>
                <a:ea typeface="Arial"/>
                <a:cs typeface="Arial"/>
              </a:defRPr>
            </a:pPr>
            <a:r>
              <a:rPr sz="2250" b="1">
                <a:solidFill>
                  <a:srgbClr val="1E2629"/>
                </a:solidFill>
                <a:latin typeface="Arial"/>
                <a:ea typeface="Arial"/>
                <a:cs typeface="Arial"/>
              </a:rPr>
              <a:t>Reproducible quantitative evaluation</a:t>
            </a:r>
          </a:p>
        </p:txBody>
      </p:sp>
      <p:sp>
        <p:nvSpPr>
          <p:cNvPr id="24" name="Measure map error, sensor-fidelity effects and acoustic fals">
            <a:extLst xmlns:a="http://schemas.openxmlformats.org/drawingml/2006/main">
              <a:ext uri="{FF2B5EF4-FFF2-40B4-BE49-F238E27FC236}">
                <a16:creationId xmlns:a16="http://schemas.microsoft.com/office/drawing/2014/main" id="{32EA6D08-B223-4C64-91F6-1297765194D0}"/>
              </a:ext>
            </a:extLst>
          </p:cNvPr>
          <p:cNvSpPr>
            <a:spLocks xmlns:a="http://schemas.openxmlformats.org/drawingml/2006/main" noGrp="1"/>
          </p:cNvSpPr>
          <p:nvPr/>
        </p:nvSpPr>
        <p:spPr>
          <a:xfrm xmlns:a="http://schemas.openxmlformats.org/drawingml/2006/main">
            <a:off x="6391275" y="5600700"/>
            <a:ext cx="5219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B5859"/>
                </a:solidFill>
                <a:latin typeface="Arial"/>
                <a:ea typeface="Arial"/>
                <a:cs typeface="Arial"/>
              </a:defRPr>
            </a:pPr>
            <a:r>
              <a:rPr sz="1800" b="0">
                <a:solidFill>
                  <a:srgbClr val="4B5859"/>
                </a:solidFill>
                <a:latin typeface="Arial"/>
                <a:ea typeface="Arial"/>
                <a:cs typeface="Arial"/>
              </a:rPr>
              <a:t>Measure map error, sensor-fidelity effects and acoustic false-alarm rates.</a:t>
            </a:r>
          </a:p>
        </p:txBody>
      </p:sp>
    </p:spTree>
    <p:extLst>
      <p:ext uri="{BB962C8B-B14F-4D97-AF65-F5344CB8AC3E}">
        <p14:creationId xmlns:p14="http://schemas.microsoft.com/office/powerpoint/2010/main" val="527554205"/>
      </p:ext>
    </p:extLst>
  </p:cSld>
</p:sld>
</file>

<file path=ppt/slides/slide6.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647ec44e5fa459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terature survey">
            <a:extLst xmlns:a="http://schemas.openxmlformats.org/drawingml/2006/main">
              <a:ext uri="{FF2B5EF4-FFF2-40B4-BE49-F238E27FC236}">
                <a16:creationId xmlns:a16="http://schemas.microsoft.com/office/drawing/2014/main" id="{E7314D66-58CC-4E3C-BBF2-5998E71ED73B}"/>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Literature survey</a:t>
            </a:r>
          </a:p>
        </p:txBody>
      </p:sp>
      <p:sp>
        <p:nvSpPr>
          <p:cNvPr id="3" name="">
            <a:extLst xmlns:a="http://schemas.openxmlformats.org/drawingml/2006/main">
              <a:ext uri="{FF2B5EF4-FFF2-40B4-BE49-F238E27FC236}">
                <a16:creationId xmlns:a16="http://schemas.microsoft.com/office/drawing/2014/main" id="{A2491704-B9B3-4306-84C5-D84DB0EEA66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4" name="Phase-I presentation">
            <a:extLst xmlns:a="http://schemas.openxmlformats.org/drawingml/2006/main">
              <a:ext uri="{FF2B5EF4-FFF2-40B4-BE49-F238E27FC236}">
                <a16:creationId xmlns:a16="http://schemas.microsoft.com/office/drawing/2014/main" id="{4AEFCB74-3648-42D4-9EF8-C081096F0ABF}"/>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06">
            <a:extLst xmlns:a="http://schemas.openxmlformats.org/drawingml/2006/main">
              <a:ext uri="{FF2B5EF4-FFF2-40B4-BE49-F238E27FC236}">
                <a16:creationId xmlns:a16="http://schemas.microsoft.com/office/drawing/2014/main" id="{9C7948D6-95BF-4A35-A0B7-F1EBE1BCF4A4}"/>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06</a:t>
            </a:r>
          </a:p>
        </p:txBody>
      </p:sp>
      <p:sp>
        <p:nvSpPr>
          <p:cNvPr id="6" name="Selected studies from the 26-work review">
            <a:extLst xmlns:a="http://schemas.openxmlformats.org/drawingml/2006/main">
              <a:ext uri="{FF2B5EF4-FFF2-40B4-BE49-F238E27FC236}">
                <a16:creationId xmlns:a16="http://schemas.microsoft.com/office/drawing/2014/main" id="{909A3B53-6B2F-4E5B-B4DA-E19869F87001}"/>
              </a:ext>
            </a:extLst>
          </p:cNvPr>
          <p:cNvSpPr>
            <a:spLocks xmlns:a="http://schemas.openxmlformats.org/drawingml/2006/main" noGrp="1"/>
          </p:cNvSpPr>
          <p:nvPr/>
        </p:nvSpPr>
        <p:spPr>
          <a:xfrm xmlns:a="http://schemas.openxmlformats.org/drawingml/2006/main">
            <a:off x="533400" y="14001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Selected studies from the 26-work review</a:t>
            </a:r>
          </a:p>
        </p:txBody>
      </p:sp>
      <p:graphicFrame>
        <p:nvGraphicFramePr>
          <p:cNvPr id="14" name=""/>
          <p:cNvGraphicFramePr/>
          <p:nvPr/>
        </p:nvGraphicFramePr>
        <p:xfrm>
          <a:off xmlns:a="http://schemas.openxmlformats.org/drawingml/2006/main" x="533400" y="1847850"/>
          <a:ext xmlns:a="http://schemas.openxmlformats.org/drawingml/2006/main" cx="11125200" cy="4200525"/>
        </p:xfrm>
        <a:graphic xmlns:a="http://schemas.openxmlformats.org/drawingml/2006/main">
          <a:graphicData uri="http://schemas.openxmlformats.org/drawingml/2006/table">
            <a:tbl>
              <a:tblPr firstRow="1" bandRow="0"/>
              <a:tblGrid>
                <a:gridCol w="2876550"/>
                <a:gridCol w="4171950"/>
                <a:gridCol w="4076700"/>
              </a:tblGrid>
              <a:tr h="485775">
                <a:tc>
                  <a:txBody>
                    <a:bodyPr lIns="114300" tIns="76200" rIns="114300" bIns="76200">
                      <a:noAutofit/>
                    </a:bodyPr>
                    <a:lstStyle/>
                    <a:p>
                      <a:r>
                        <a:rPr sz="1725" b="1">
                          <a:solidFill>
                            <a:srgbClr val="1E2629"/>
                          </a:solidFill>
                          <a:latin typeface="Arial"/>
                          <a:ea typeface="Arial"/>
                          <a:cs typeface="Arial"/>
                        </a:rPr>
                        <a:t>Work</a:t>
                      </a:r>
                    </a:p>
                  </a:txBody>
                  <a:tcPr marL="91440" marR="91440" marT="45720" marB="45720" anchor="ctr">
                    <a:solidFill>
                      <a:srgbClr val="CDEBE6"/>
                    </a:solidFill>
                  </a:tcPr>
                </a:tc>
                <a:tc>
                  <a:txBody>
                    <a:bodyPr lIns="114300" tIns="76200" rIns="114300" bIns="76200">
                      <a:noAutofit/>
                    </a:bodyPr>
                    <a:lstStyle/>
                    <a:p>
                      <a:r>
                        <a:rPr sz="1725" b="1">
                          <a:solidFill>
                            <a:srgbClr val="1E2629"/>
                          </a:solidFill>
                          <a:latin typeface="Arial"/>
                          <a:ea typeface="Arial"/>
                          <a:cs typeface="Arial"/>
                        </a:rPr>
                        <a:t>Reported contribution</a:t>
                      </a:r>
                    </a:p>
                  </a:txBody>
                  <a:tcPr marL="91440" marR="91440" marT="45720" marB="45720" anchor="ctr">
                    <a:solidFill>
                      <a:srgbClr val="CDEBE6"/>
                    </a:solidFill>
                  </a:tcPr>
                </a:tc>
                <a:tc>
                  <a:txBody>
                    <a:bodyPr lIns="114300" tIns="76200" rIns="114300" bIns="76200">
                      <a:noAutofit/>
                    </a:bodyPr>
                    <a:lstStyle/>
                    <a:p>
                      <a:r>
                        <a:rPr sz="1725" b="1">
                          <a:solidFill>
                            <a:srgbClr val="1E2629"/>
                          </a:solidFill>
                          <a:latin typeface="Arial"/>
                          <a:ea typeface="Arial"/>
                          <a:cs typeface="Arial"/>
                        </a:rPr>
                        <a:t>Implication for this project</a:t>
                      </a:r>
                    </a:p>
                  </a:txBody>
                  <a:tcPr marL="91440" marR="91440" marT="45720" marB="45720" anchor="ctr">
                    <a:solidFill>
                      <a:srgbClr val="CDEBE6"/>
                    </a:solidFill>
                  </a:tcPr>
                </a:tc>
              </a:tr>
              <a:tr h="619125">
                <a:tc>
                  <a:txBody>
                    <a:bodyPr lIns="114300" tIns="76200" rIns="114300" bIns="76200">
                      <a:noAutofit/>
                    </a:bodyPr>
                    <a:lstStyle/>
                    <a:p>
                      <a:r>
                        <a:rPr sz="1650" b="0">
                          <a:solidFill>
                            <a:srgbClr val="1E2629"/>
                          </a:solidFill>
                          <a:latin typeface="Arial"/>
                          <a:ea typeface="Arial"/>
                          <a:cs typeface="Arial"/>
                        </a:rPr>
                        <a:t>Steux &amp; El Hamzaoui</a:t>
                      </a:r>
                    </a:p>
                    <a:p>
                      <a:r>
                        <a:rPr sz="1650" b="0">
                          <a:solidFill>
                            <a:srgbClr val="1E2629"/>
                          </a:solidFill>
                          <a:latin typeface="Arial"/>
                          <a:ea typeface="Arial"/>
                          <a:cs typeface="Arial"/>
                        </a:rPr>
                        <a:t>2010 [1]</a:t>
                      </a:r>
                    </a:p>
                  </a:txBody>
                  <a:tcPr marL="91440" marR="91440" marT="45720" marB="45720" anchor="ctr">
                    <a:solidFill>
                      <a:srgbClr val="E6ECEB"/>
                    </a:solidFill>
                  </a:tcPr>
                </a:tc>
                <a:tc>
                  <a:txBody>
                    <a:bodyPr lIns="114300" tIns="76200" rIns="114300" bIns="76200">
                      <a:noAutofit/>
                    </a:bodyPr>
                    <a:lstStyle/>
                    <a:p>
                      <a:r>
                        <a:rPr sz="1650" b="0">
                          <a:solidFill>
                            <a:srgbClr val="1E2629"/>
                          </a:solidFill>
                          <a:latin typeface="Arial"/>
                          <a:ea typeface="Arial"/>
                          <a:cs typeface="Arial"/>
                        </a:rPr>
                        <a:t>Compact occupancy-grid SLAM</a:t>
                      </a:r>
                    </a:p>
                  </a:txBody>
                  <a:tcPr marL="91440" marR="91440" marT="45720" marB="45720" anchor="ctr">
                    <a:solidFill>
                      <a:srgbClr val="E6ECEB"/>
                    </a:solidFill>
                  </a:tcPr>
                </a:tc>
                <a:tc>
                  <a:txBody>
                    <a:bodyPr lIns="114300" tIns="76200" rIns="114300" bIns="76200">
                      <a:noAutofit/>
                    </a:bodyPr>
                    <a:lstStyle/>
                    <a:p>
                      <a:r>
                        <a:rPr sz="1650" b="0">
                          <a:solidFill>
                            <a:srgbClr val="1E2629"/>
                          </a:solidFill>
                          <a:latin typeface="Arial"/>
                          <a:ea typeface="Arial"/>
                          <a:cs typeface="Arial"/>
                        </a:rPr>
                        <a:t>Start with a small mapping baseline</a:t>
                      </a:r>
                    </a:p>
                  </a:txBody>
                  <a:tcPr marL="91440" marR="91440" marT="45720" marB="45720" anchor="ctr">
                    <a:solidFill>
                      <a:srgbClr val="E6ECEB"/>
                    </a:solidFill>
                  </a:tcPr>
                </a:tc>
              </a:tr>
              <a:tr h="619125">
                <a:tc>
                  <a:txBody>
                    <a:bodyPr lIns="114300" tIns="76200" rIns="114300" bIns="76200">
                      <a:noAutofit/>
                    </a:bodyPr>
                    <a:lstStyle/>
                    <a:p>
                      <a:r>
                        <a:rPr sz="1650" b="0">
                          <a:solidFill>
                            <a:srgbClr val="1E2629"/>
                          </a:solidFill>
                          <a:latin typeface="Arial"/>
                          <a:ea typeface="Arial"/>
                          <a:cs typeface="Arial"/>
                        </a:rPr>
                        <a:t>Markdahl &amp; Vikgren</a:t>
                      </a:r>
                    </a:p>
                    <a:p>
                      <a:r>
                        <a:rPr sz="1650" b="0">
                          <a:solidFill>
                            <a:srgbClr val="1E2629"/>
                          </a:solidFill>
                          <a:latin typeface="Arial"/>
                          <a:ea typeface="Arial"/>
                          <a:cs typeface="Arial"/>
                        </a:rPr>
                        <a:t>2023 [2]</a:t>
                      </a:r>
                    </a:p>
                  </a:txBody>
                  <a:tcPr marL="91440" marR="91440" marT="45720" marB="45720" anchor="ctr">
                    <a:solidFill>
                      <a:srgbClr val="EAF0EF"/>
                    </a:solidFill>
                  </a:tcPr>
                </a:tc>
                <a:tc>
                  <a:txBody>
                    <a:bodyPr lIns="114300" tIns="76200" rIns="114300" bIns="76200">
                      <a:noAutofit/>
                    </a:bodyPr>
                    <a:lstStyle/>
                    <a:p>
                      <a:r>
                        <a:rPr sz="1650" b="0">
                          <a:solidFill>
                            <a:srgbClr val="1E2629"/>
                          </a:solidFill>
                          <a:latin typeface="Arial"/>
                          <a:ea typeface="Arial"/>
                          <a:cs typeface="Arial"/>
                        </a:rPr>
                        <a:t>tinySLAM on nano-UAVs</a:t>
                      </a:r>
                    </a:p>
                  </a:txBody>
                  <a:tcPr marL="91440" marR="91440" marT="45720" marB="45720" anchor="ctr">
                    <a:solidFill>
                      <a:srgbClr val="EAF0EF"/>
                    </a:solidFill>
                  </a:tcPr>
                </a:tc>
                <a:tc>
                  <a:txBody>
                    <a:bodyPr lIns="114300" tIns="76200" rIns="114300" bIns="76200">
                      <a:noAutofit/>
                    </a:bodyPr>
                    <a:lstStyle/>
                    <a:p>
                      <a:r>
                        <a:rPr sz="1650" b="0">
                          <a:solidFill>
                            <a:srgbClr val="1E2629"/>
                          </a:solidFill>
                          <a:latin typeface="Arial"/>
                          <a:ea typeface="Arial"/>
                          <a:cs typeface="Arial"/>
                        </a:rPr>
                        <a:t>Evaluate mapping error quantitatively</a:t>
                      </a:r>
                    </a:p>
                  </a:txBody>
                  <a:tcPr marL="91440" marR="91440" marT="45720" marB="45720" anchor="ctr">
                    <a:solidFill>
                      <a:srgbClr val="EAF0EF"/>
                    </a:solidFill>
                  </a:tcPr>
                </a:tc>
              </a:tr>
              <a:tr h="619125">
                <a:tc>
                  <a:txBody>
                    <a:bodyPr lIns="114300" tIns="76200" rIns="114300" bIns="76200">
                      <a:noAutofit/>
                    </a:bodyPr>
                    <a:lstStyle/>
                    <a:p>
                      <a:r>
                        <a:rPr sz="1650" b="0">
                          <a:solidFill>
                            <a:srgbClr val="1E2629"/>
                          </a:solidFill>
                          <a:latin typeface="Arial"/>
                          <a:ea typeface="Arial"/>
                          <a:cs typeface="Arial"/>
                        </a:rPr>
                        <a:t>Niculescu et al.</a:t>
                      </a:r>
                    </a:p>
                    <a:p>
                      <a:r>
                        <a:rPr sz="1650" b="0">
                          <a:solidFill>
                            <a:srgbClr val="1E2629"/>
                          </a:solidFill>
                          <a:latin typeface="Arial"/>
                          <a:ea typeface="Arial"/>
                          <a:cs typeface="Arial"/>
                        </a:rPr>
                        <a:t>2024 [3]</a:t>
                      </a:r>
                    </a:p>
                  </a:txBody>
                  <a:tcPr marL="91440" marR="91440" marT="45720" marB="45720" anchor="ctr">
                    <a:solidFill>
                      <a:srgbClr val="E6ECEB"/>
                    </a:solidFill>
                  </a:tcPr>
                </a:tc>
                <a:tc>
                  <a:txBody>
                    <a:bodyPr lIns="114300" tIns="76200" rIns="114300" bIns="76200">
                      <a:noAutofit/>
                    </a:bodyPr>
                    <a:lstStyle/>
                    <a:p>
                      <a:r>
                        <a:rPr sz="1650" b="0">
                          <a:solidFill>
                            <a:srgbClr val="1E2629"/>
                          </a:solidFill>
                          <a:latin typeface="Arial"/>
                          <a:ea typeface="Arial"/>
                          <a:cs typeface="Arial"/>
                        </a:rPr>
                        <a:t>Collaborative mapping in 1.5 MB</a:t>
                      </a:r>
                    </a:p>
                  </a:txBody>
                  <a:tcPr marL="91440" marR="91440" marT="45720" marB="45720" anchor="ctr">
                    <a:solidFill>
                      <a:srgbClr val="E6ECEB"/>
                    </a:solidFill>
                  </a:tcPr>
                </a:tc>
                <a:tc>
                  <a:txBody>
                    <a:bodyPr lIns="114300" tIns="76200" rIns="114300" bIns="76200">
                      <a:noAutofit/>
                    </a:bodyPr>
                    <a:lstStyle/>
                    <a:p>
                      <a:r>
                        <a:rPr sz="1650" b="0">
                          <a:solidFill>
                            <a:srgbClr val="1E2629"/>
                          </a:solidFill>
                          <a:latin typeface="Arial"/>
                          <a:ea typeface="Arial"/>
                          <a:cs typeface="Arial"/>
                        </a:rPr>
                        <a:t>Embedded mapping is feasible</a:t>
                      </a:r>
                    </a:p>
                  </a:txBody>
                  <a:tcPr marL="91440" marR="91440" marT="45720" marB="45720" anchor="ctr">
                    <a:solidFill>
                      <a:srgbClr val="E6ECEB"/>
                    </a:solidFill>
                  </a:tcPr>
                </a:tc>
              </a:tr>
              <a:tr h="619125">
                <a:tc>
                  <a:txBody>
                    <a:bodyPr lIns="114300" tIns="76200" rIns="114300" bIns="76200">
                      <a:noAutofit/>
                    </a:bodyPr>
                    <a:lstStyle/>
                    <a:p>
                      <a:r>
                        <a:rPr sz="1650" b="0">
                          <a:solidFill>
                            <a:srgbClr val="1E2629"/>
                          </a:solidFill>
                          <a:latin typeface="Arial"/>
                          <a:ea typeface="Arial"/>
                          <a:cs typeface="Arial"/>
                        </a:rPr>
                        <a:t>Tranzatto et al.</a:t>
                      </a:r>
                    </a:p>
                    <a:p>
                      <a:r>
                        <a:rPr sz="1650" b="0">
                          <a:solidFill>
                            <a:srgbClr val="1E2629"/>
                          </a:solidFill>
                          <a:latin typeface="Arial"/>
                          <a:ea typeface="Arial"/>
                          <a:cs typeface="Arial"/>
                        </a:rPr>
                        <a:t>2022 [4]</a:t>
                      </a:r>
                    </a:p>
                  </a:txBody>
                  <a:tcPr marL="91440" marR="91440" marT="45720" marB="45720" anchor="ctr">
                    <a:solidFill>
                      <a:srgbClr val="EAF0EF"/>
                    </a:solidFill>
                  </a:tcPr>
                </a:tc>
                <a:tc>
                  <a:txBody>
                    <a:bodyPr lIns="114300" tIns="76200" rIns="114300" bIns="76200">
                      <a:noAutofit/>
                    </a:bodyPr>
                    <a:lstStyle/>
                    <a:p>
                      <a:r>
                        <a:rPr sz="1650" b="0">
                          <a:solidFill>
                            <a:srgbClr val="1E2629"/>
                          </a:solidFill>
                          <a:latin typeface="Arial"/>
                          <a:ea typeface="Arial"/>
                          <a:cs typeface="Arial"/>
                        </a:rPr>
                        <a:t>Autonomous exploration and artifact search</a:t>
                      </a:r>
                    </a:p>
                  </a:txBody>
                  <a:tcPr marL="91440" marR="91440" marT="45720" marB="45720" anchor="ctr">
                    <a:solidFill>
                      <a:srgbClr val="EAF0EF"/>
                    </a:solidFill>
                  </a:tcPr>
                </a:tc>
                <a:tc>
                  <a:txBody>
                    <a:bodyPr lIns="114300" tIns="76200" rIns="114300" bIns="76200">
                      <a:noAutofit/>
                    </a:bodyPr>
                    <a:lstStyle/>
                    <a:p>
                      <a:r>
                        <a:rPr sz="1650" b="0">
                          <a:solidFill>
                            <a:srgbClr val="1E2629"/>
                          </a:solidFill>
                          <a:latin typeface="Arial"/>
                          <a:ea typeface="Arial"/>
                          <a:cs typeface="Arial"/>
                        </a:rPr>
                        <a:t>Field reference with larger resources</a:t>
                      </a:r>
                    </a:p>
                  </a:txBody>
                  <a:tcPr marL="91440" marR="91440" marT="45720" marB="45720" anchor="ctr">
                    <a:solidFill>
                      <a:srgbClr val="EAF0EF"/>
                    </a:solidFill>
                  </a:tcPr>
                </a:tc>
              </a:tr>
              <a:tr h="619125">
                <a:tc>
                  <a:txBody>
                    <a:bodyPr lIns="114300" tIns="76200" rIns="114300" bIns="76200">
                      <a:noAutofit/>
                    </a:bodyPr>
                    <a:lstStyle/>
                    <a:p>
                      <a:r>
                        <a:rPr sz="1650" b="0">
                          <a:solidFill>
                            <a:srgbClr val="1E2629"/>
                          </a:solidFill>
                          <a:latin typeface="Arial"/>
                          <a:ea typeface="Arial"/>
                          <a:cs typeface="Arial"/>
                        </a:rPr>
                        <a:t>Lajoie &amp; Beltrame</a:t>
                      </a:r>
                    </a:p>
                    <a:p>
                      <a:r>
                        <a:rPr sz="1650" b="0">
                          <a:solidFill>
                            <a:srgbClr val="1E2629"/>
                          </a:solidFill>
                          <a:latin typeface="Arial"/>
                          <a:ea typeface="Arial"/>
                          <a:cs typeface="Arial"/>
                        </a:rPr>
                        <a:t>2024 [5]</a:t>
                      </a:r>
                    </a:p>
                  </a:txBody>
                  <a:tcPr marL="91440" marR="91440" marT="45720" marB="45720" anchor="ctr">
                    <a:solidFill>
                      <a:srgbClr val="E6ECEB"/>
                    </a:solidFill>
                  </a:tcPr>
                </a:tc>
                <a:tc>
                  <a:txBody>
                    <a:bodyPr lIns="114300" tIns="76200" rIns="114300" bIns="76200">
                      <a:noAutofit/>
                    </a:bodyPr>
                    <a:lstStyle/>
                    <a:p>
                      <a:r>
                        <a:rPr sz="1650" b="0">
                          <a:solidFill>
                            <a:srgbClr val="1E2629"/>
                          </a:solidFill>
                          <a:latin typeface="Arial"/>
                          <a:ea typeface="Arial"/>
                          <a:cs typeface="Arial"/>
                        </a:rPr>
                        <a:t>Sparse decentralized map sharing</a:t>
                      </a:r>
                    </a:p>
                  </a:txBody>
                  <a:tcPr marL="91440" marR="91440" marT="45720" marB="45720" anchor="ctr">
                    <a:solidFill>
                      <a:srgbClr val="E6ECEB"/>
                    </a:solidFill>
                  </a:tcPr>
                </a:tc>
                <a:tc>
                  <a:txBody>
                    <a:bodyPr lIns="114300" tIns="76200" rIns="114300" bIns="76200">
                      <a:noAutofit/>
                    </a:bodyPr>
                    <a:lstStyle/>
                    <a:p>
                      <a:r>
                        <a:rPr sz="1650" b="0">
                          <a:solidFill>
                            <a:srgbClr val="1E2629"/>
                          </a:solidFill>
                          <a:latin typeface="Arial"/>
                          <a:ea typeface="Arial"/>
                          <a:cs typeface="Arial"/>
                        </a:rPr>
                        <a:t>Control communication cost</a:t>
                      </a:r>
                    </a:p>
                  </a:txBody>
                  <a:tcPr marL="91440" marR="91440" marT="45720" marB="45720" anchor="ctr">
                    <a:solidFill>
                      <a:srgbClr val="E6ECEB"/>
                    </a:solidFill>
                  </a:tcPr>
                </a:tc>
              </a:tr>
              <a:tr h="619125">
                <a:tc>
                  <a:txBody>
                    <a:bodyPr lIns="114300" tIns="76200" rIns="114300" bIns="76200">
                      <a:noAutofit/>
                    </a:bodyPr>
                    <a:lstStyle/>
                    <a:p>
                      <a:r>
                        <a:rPr sz="1650" b="0">
                          <a:solidFill>
                            <a:srgbClr val="1E2629"/>
                          </a:solidFill>
                          <a:latin typeface="Arial"/>
                          <a:ea typeface="Arial"/>
                          <a:cs typeface="Arial"/>
                        </a:rPr>
                        <a:t>Sun et al.</a:t>
                      </a:r>
                    </a:p>
                    <a:p>
                      <a:r>
                        <a:rPr sz="1650" b="0">
                          <a:solidFill>
                            <a:srgbClr val="1E2629"/>
                          </a:solidFill>
                          <a:latin typeface="Arial"/>
                          <a:ea typeface="Arial"/>
                          <a:cs typeface="Arial"/>
                        </a:rPr>
                        <a:t>2025 [6]</a:t>
                      </a:r>
                    </a:p>
                  </a:txBody>
                  <a:tcPr marL="91440" marR="91440" marT="45720" marB="45720" anchor="ctr">
                    <a:solidFill>
                      <a:srgbClr val="EAF0EF"/>
                    </a:solidFill>
                  </a:tcPr>
                </a:tc>
                <a:tc>
                  <a:txBody>
                    <a:bodyPr lIns="114300" tIns="76200" rIns="114300" bIns="76200">
                      <a:noAutofit/>
                    </a:bodyPr>
                    <a:lstStyle/>
                    <a:p>
                      <a:r>
                        <a:rPr sz="1650" b="0">
                          <a:solidFill>
                            <a:srgbClr val="1E2629"/>
                          </a:solidFill>
                          <a:latin typeface="Arial"/>
                          <a:ea typeface="Arial"/>
                          <a:cs typeface="Arial"/>
                        </a:rPr>
                        <a:t>Beamforming to suppress rotor noise</a:t>
                      </a:r>
                    </a:p>
                  </a:txBody>
                  <a:tcPr marL="91440" marR="91440" marT="45720" marB="45720" anchor="ctr">
                    <a:solidFill>
                      <a:srgbClr val="EAF0EF"/>
                    </a:solidFill>
                  </a:tcPr>
                </a:tc>
                <a:tc>
                  <a:txBody>
                    <a:bodyPr lIns="114300" tIns="76200" rIns="114300" bIns="76200">
                      <a:noAutofit/>
                    </a:bodyPr>
                    <a:lstStyle/>
                    <a:p>
                      <a:r>
                        <a:rPr sz="1650" b="0">
                          <a:solidFill>
                            <a:srgbClr val="1E2629"/>
                          </a:solidFill>
                          <a:latin typeface="Arial"/>
                          <a:ea typeface="Arial"/>
                          <a:cs typeface="Arial"/>
                        </a:rPr>
                        <a:t>Test acoustics under stated noise</a:t>
                      </a:r>
                    </a:p>
                  </a:txBody>
                  <a:tcPr marL="91440" marR="91440" marT="45720" marB="45720" anchor="ctr">
                    <a:solidFill>
                      <a:srgbClr val="EAF0EF"/>
                    </a:solidFill>
                  </a:tcPr>
                </a:tc>
              </a:tr>
            </a:tbl>
          </a:graphicData>
        </a:graphic>
      </p:graphicFrame>
    </p:spTree>
    <p:extLst>
      <p:ext uri="{BB962C8B-B14F-4D97-AF65-F5344CB8AC3E}">
        <p14:creationId xmlns:p14="http://schemas.microsoft.com/office/powerpoint/2010/main" val="649464080"/>
      </p:ext>
    </p:extLst>
  </p:cSld>
</p:sld>
</file>

<file path=ppt/slides/slide7.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4f1074f196534fd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lock diagram">
            <a:extLst xmlns:a="http://schemas.openxmlformats.org/drawingml/2006/main">
              <a:ext uri="{FF2B5EF4-FFF2-40B4-BE49-F238E27FC236}">
                <a16:creationId xmlns:a16="http://schemas.microsoft.com/office/drawing/2014/main" id="{C7043FCE-A470-4B18-9292-FEAFD2B2CABF}"/>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Block diagram</a:t>
            </a:r>
          </a:p>
        </p:txBody>
      </p:sp>
      <p:sp>
        <p:nvSpPr>
          <p:cNvPr id="3" name="">
            <a:extLst xmlns:a="http://schemas.openxmlformats.org/drawingml/2006/main">
              <a:ext uri="{FF2B5EF4-FFF2-40B4-BE49-F238E27FC236}">
                <a16:creationId xmlns:a16="http://schemas.microsoft.com/office/drawing/2014/main" id="{EBEF46CC-2744-46E4-B5E4-85D47EE7C8FC}"/>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4" name="Phase-I presentation">
            <a:extLst xmlns:a="http://schemas.openxmlformats.org/drawingml/2006/main">
              <a:ext uri="{FF2B5EF4-FFF2-40B4-BE49-F238E27FC236}">
                <a16:creationId xmlns:a16="http://schemas.microsoft.com/office/drawing/2014/main" id="{86F45D17-0A68-4DA4-A2F0-ADB5F364C966}"/>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07">
            <a:extLst xmlns:a="http://schemas.openxmlformats.org/drawingml/2006/main">
              <a:ext uri="{FF2B5EF4-FFF2-40B4-BE49-F238E27FC236}">
                <a16:creationId xmlns:a16="http://schemas.microsoft.com/office/drawing/2014/main" id="{CD98F355-A431-43AE-BB86-3F461C53148F}"/>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07</a:t>
            </a:r>
          </a:p>
        </p:txBody>
      </p:sp>
      <p:sp>
        <p:nvSpPr>
          <p:cNvPr id="6" name="Phase-I bench pipeline">
            <a:extLst xmlns:a="http://schemas.openxmlformats.org/drawingml/2006/main">
              <a:ext uri="{FF2B5EF4-FFF2-40B4-BE49-F238E27FC236}">
                <a16:creationId xmlns:a16="http://schemas.microsoft.com/office/drawing/2014/main" id="{05842DD8-A6FD-4FEF-9B64-C8CC6F2FBAEF}"/>
              </a:ext>
            </a:extLst>
          </p:cNvPr>
          <p:cNvSpPr>
            <a:spLocks xmlns:a="http://schemas.openxmlformats.org/drawingml/2006/main" noGrp="1"/>
          </p:cNvSpPr>
          <p:nvPr/>
        </p:nvSpPr>
        <p:spPr>
          <a:xfrm xmlns:a="http://schemas.openxmlformats.org/drawingml/2006/main">
            <a:off x="533400" y="14097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B7F70"/>
                </a:solidFill>
                <a:latin typeface="Arial"/>
                <a:ea typeface="Arial"/>
                <a:cs typeface="Arial"/>
              </a:defRPr>
            </a:pPr>
            <a:r>
              <a:rPr sz="2025" b="1">
                <a:solidFill>
                  <a:srgbClr val="0B7F70"/>
                </a:solidFill>
                <a:latin typeface="Arial"/>
                <a:ea typeface="Arial"/>
                <a:cs typeface="Arial"/>
              </a:rPr>
              <a:t>Phase-I bench pipeline</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9110a699be44f34"/>
          <a:stretch xmlns:a="http://schemas.openxmlformats.org/drawingml/2006/main"/>
        </p:blipFill>
        <p:spPr>
          <a:xfrm xmlns:a="http://schemas.openxmlformats.org/drawingml/2006/main">
            <a:off x="0" y="1750386"/>
            <a:ext cx="3714750" cy="2090404"/>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f1c1d33ecb0464d"/>
          <a:stretch xmlns:a="http://schemas.openxmlformats.org/drawingml/2006/main"/>
        </p:blipFill>
        <p:spPr>
          <a:xfrm xmlns:a="http://schemas.openxmlformats.org/drawingml/2006/main">
            <a:off x="4295775" y="1872704"/>
            <a:ext cx="2047875" cy="1779091"/>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fe9167fa9a14425">
            <a:extLst>
              <a:ext uri="{96DAC541-7B7A-43D3-8B79-37D633B846F1}">
                <asvg:svgBlip xmlns:asvg="http://schemas.microsoft.com/office/drawing/2016/SVG/main" r:embed="R0981ca1f557b4ed9"/>
              </a:ext>
            </a:extLst>
          </a:blip>
          <a:stretch xmlns:a="http://schemas.openxmlformats.org/drawingml/2006/main"/>
        </p:blipFill>
        <p:spPr>
          <a:xfrm xmlns:a="http://schemas.openxmlformats.org/drawingml/2006/main">
            <a:off x="8001000" y="1676400"/>
            <a:ext cx="2162175" cy="2162175"/>
          </a:xfrm>
          <a:prstGeom xmlns:a="http://schemas.openxmlformats.org/drawingml/2006/main" prst="rect">
            <a:avLst/>
          </a:prstGeom>
        </p:spPr>
      </p:pic>
      <p:sp>
        <p:nvSpPr>
          <p:cNvPr id="10" name="Decode&#10;Transform&#10;Elevation grid">
            <a:extLst xmlns:a="http://schemas.openxmlformats.org/drawingml/2006/main">
              <a:ext uri="{FF2B5EF4-FFF2-40B4-BE49-F238E27FC236}">
                <a16:creationId xmlns:a16="http://schemas.microsoft.com/office/drawing/2014/main" id="{87487F3E-3D9D-4855-871C-1F3C335D2629}"/>
              </a:ext>
            </a:extLst>
          </p:cNvPr>
          <p:cNvSpPr>
            <a:spLocks xmlns:a="http://schemas.openxmlformats.org/drawingml/2006/main" noGrp="1"/>
          </p:cNvSpPr>
          <p:nvPr/>
        </p:nvSpPr>
        <p:spPr>
          <a:xfrm xmlns:a="http://schemas.openxmlformats.org/drawingml/2006/main">
            <a:off x="8343900" y="2266950"/>
            <a:ext cx="147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0B7F70"/>
                </a:solidFill>
                <a:latin typeface="Arial"/>
                <a:ea typeface="Arial"/>
                <a:cs typeface="Arial"/>
              </a:defRPr>
            </a:pPr>
            <a:r>
              <a:rPr sz="1350" b="1">
                <a:solidFill>
                  <a:srgbClr val="0B7F70"/>
                </a:solidFill>
                <a:latin typeface="Arial"/>
                <a:ea typeface="Arial"/>
                <a:cs typeface="Arial"/>
              </a:rPr>
              <a:t>Decode</a:t>
            </a:r>
          </a:p>
          <a:p xmlns:a="http://schemas.openxmlformats.org/drawingml/2006/main">
            <a:pPr algn="ctr">
              <a:defRPr sz="1350" b="1">
                <a:solidFill>
                  <a:srgbClr val="0B7F70"/>
                </a:solidFill>
                <a:latin typeface="Arial"/>
                <a:ea typeface="Arial"/>
                <a:cs typeface="Arial"/>
              </a:defRPr>
            </a:pPr>
            <a:r>
              <a:rPr sz="1350" b="1">
                <a:solidFill>
                  <a:srgbClr val="0B7F70"/>
                </a:solidFill>
                <a:latin typeface="Arial"/>
                <a:ea typeface="Arial"/>
                <a:cs typeface="Arial"/>
              </a:rPr>
              <a:t>Transform</a:t>
            </a:r>
          </a:p>
          <a:p xmlns:a="http://schemas.openxmlformats.org/drawingml/2006/main">
            <a:pPr algn="ctr">
              <a:defRPr sz="1350" b="1">
                <a:solidFill>
                  <a:srgbClr val="0B7F70"/>
                </a:solidFill>
                <a:latin typeface="Arial"/>
                <a:ea typeface="Arial"/>
                <a:cs typeface="Arial"/>
              </a:defRPr>
            </a:pPr>
            <a:r>
              <a:rPr sz="1350" b="1">
                <a:solidFill>
                  <a:srgbClr val="0B7F70"/>
                </a:solidFill>
                <a:latin typeface="Arial"/>
                <a:ea typeface="Arial"/>
                <a:cs typeface="Arial"/>
              </a:rPr>
              <a:t>Elevation grid</a:t>
            </a:r>
          </a:p>
        </p:txBody>
      </p:sp>
      <p:sp>
        <p:nvSpPr>
          <p:cNvPr id="11" name="FLOW_ARROW">
            <a:extLst xmlns:a="http://schemas.openxmlformats.org/drawingml/2006/main">
              <a:ext uri="{FF2B5EF4-FFF2-40B4-BE49-F238E27FC236}">
                <a16:creationId xmlns:a16="http://schemas.microsoft.com/office/drawing/2014/main" id="{5C96FEA2-BC6F-4D96-914B-EE40CE291E8B}"/>
              </a:ext>
            </a:extLst>
          </p:cNvPr>
          <p:cNvSpPr>
            <a:spLocks xmlns:a="http://schemas.openxmlformats.org/drawingml/2006/main" noGrp="1"/>
          </p:cNvSpPr>
          <p:nvPr/>
        </p:nvSpPr>
        <p:spPr>
          <a:xfrm xmlns:a="http://schemas.openxmlformats.org/drawingml/2006/main">
            <a:off x="3190875" y="2667000"/>
            <a:ext cx="1085850" cy="0"/>
          </a:xfrm>
          <a:prstGeom xmlns:a="http://schemas.openxmlformats.org/drawingml/2006/main" prst="line">
            <a:avLst/>
          </a:prstGeom>
          <a:noFill xmlns:a="http://schemas.openxmlformats.org/drawingml/2006/main"/>
          <a:ln xmlns:a="http://schemas.openxmlformats.org/drawingml/2006/main" w="19050">
            <a:solidFill>
              <a:srgbClr val="0B7F70"/>
            </a:solidFill>
            <a:tailEnd type="triangle" w="med" len="med"/>
          </a:ln>
        </p:spPr>
      </p:sp>
      <p:sp>
        <p:nvSpPr>
          <p:cNvPr id="12" name="UART ranges">
            <a:extLst xmlns:a="http://schemas.openxmlformats.org/drawingml/2006/main">
              <a:ext uri="{FF2B5EF4-FFF2-40B4-BE49-F238E27FC236}">
                <a16:creationId xmlns:a16="http://schemas.microsoft.com/office/drawing/2014/main" id="{92A8C290-8999-40E2-B84F-66EE822CF20D}"/>
              </a:ext>
            </a:extLst>
          </p:cNvPr>
          <p:cNvSpPr>
            <a:spLocks xmlns:a="http://schemas.openxmlformats.org/drawingml/2006/main" noGrp="1"/>
          </p:cNvSpPr>
          <p:nvPr/>
        </p:nvSpPr>
        <p:spPr>
          <a:xfrm xmlns:a="http://schemas.openxmlformats.org/drawingml/2006/main">
            <a:off x="3162300" y="2266950"/>
            <a:ext cx="1181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4B5859"/>
                </a:solidFill>
                <a:latin typeface="Arial"/>
                <a:ea typeface="Arial"/>
                <a:cs typeface="Arial"/>
              </a:defRPr>
            </a:pPr>
            <a:r>
              <a:rPr sz="1350" b="0">
                <a:solidFill>
                  <a:srgbClr val="4B5859"/>
                </a:solidFill>
                <a:latin typeface="Arial"/>
                <a:ea typeface="Arial"/>
                <a:cs typeface="Arial"/>
              </a:rPr>
              <a:t>UART ranges</a:t>
            </a:r>
          </a:p>
        </p:txBody>
      </p:sp>
      <p:sp>
        <p:nvSpPr>
          <p:cNvPr id="13" name="FLOW_ARROW">
            <a:extLst xmlns:a="http://schemas.openxmlformats.org/drawingml/2006/main">
              <a:ext uri="{FF2B5EF4-FFF2-40B4-BE49-F238E27FC236}">
                <a16:creationId xmlns:a16="http://schemas.microsoft.com/office/drawing/2014/main" id="{1847E4E8-5B34-41C3-BC11-7B3014D3DB6F}"/>
              </a:ext>
            </a:extLst>
          </p:cNvPr>
          <p:cNvSpPr>
            <a:spLocks xmlns:a="http://schemas.openxmlformats.org/drawingml/2006/main" noGrp="1"/>
          </p:cNvSpPr>
          <p:nvPr/>
        </p:nvSpPr>
        <p:spPr>
          <a:xfrm xmlns:a="http://schemas.openxmlformats.org/drawingml/2006/main">
            <a:off x="6477000" y="2667000"/>
            <a:ext cx="1371600" cy="0"/>
          </a:xfrm>
          <a:prstGeom xmlns:a="http://schemas.openxmlformats.org/drawingml/2006/main" prst="line">
            <a:avLst/>
          </a:prstGeom>
          <a:noFill xmlns:a="http://schemas.openxmlformats.org/drawingml/2006/main"/>
          <a:ln xmlns:a="http://schemas.openxmlformats.org/drawingml/2006/main" w="19050">
            <a:solidFill>
              <a:srgbClr val="0B7F70"/>
            </a:solidFill>
            <a:tailEnd type="triangle" w="med" len="med"/>
          </a:ln>
        </p:spPr>
      </p:sp>
      <p:sp>
        <p:nvSpPr>
          <p:cNvPr id="14" name="Wi-Fi relay">
            <a:extLst xmlns:a="http://schemas.openxmlformats.org/drawingml/2006/main">
              <a:ext uri="{FF2B5EF4-FFF2-40B4-BE49-F238E27FC236}">
                <a16:creationId xmlns:a16="http://schemas.microsoft.com/office/drawing/2014/main" id="{90571488-09B0-4600-B368-937F11A5C4E4}"/>
              </a:ext>
            </a:extLst>
          </p:cNvPr>
          <p:cNvSpPr>
            <a:spLocks xmlns:a="http://schemas.openxmlformats.org/drawingml/2006/main" noGrp="1"/>
          </p:cNvSpPr>
          <p:nvPr/>
        </p:nvSpPr>
        <p:spPr>
          <a:xfrm xmlns:a="http://schemas.openxmlformats.org/drawingml/2006/main">
            <a:off x="6486525" y="2266950"/>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4B5859"/>
                </a:solidFill>
                <a:latin typeface="Arial"/>
                <a:ea typeface="Arial"/>
                <a:cs typeface="Arial"/>
              </a:defRPr>
            </a:pPr>
            <a:r>
              <a:rPr sz="1425" b="0">
                <a:solidFill>
                  <a:srgbClr val="4B5859"/>
                </a:solidFill>
                <a:latin typeface="Arial"/>
                <a:ea typeface="Arial"/>
                <a:cs typeface="Arial"/>
              </a:rPr>
              <a:t>Wi-Fi relay</a:t>
            </a:r>
          </a:p>
        </p:txBody>
      </p:sp>
      <p:sp>
        <p:nvSpPr>
          <p:cNvPr id="15" name="Range + tilt">
            <a:extLst xmlns:a="http://schemas.openxmlformats.org/drawingml/2006/main">
              <a:ext uri="{FF2B5EF4-FFF2-40B4-BE49-F238E27FC236}">
                <a16:creationId xmlns:a16="http://schemas.microsoft.com/office/drawing/2014/main" id="{1CB3CBE2-4DA5-4867-AC9A-C8E93B608679}"/>
              </a:ext>
            </a:extLst>
          </p:cNvPr>
          <p:cNvSpPr>
            <a:spLocks xmlns:a="http://schemas.openxmlformats.org/drawingml/2006/main" noGrp="1"/>
          </p:cNvSpPr>
          <p:nvPr/>
        </p:nvSpPr>
        <p:spPr>
          <a:xfrm xmlns:a="http://schemas.openxmlformats.org/drawingml/2006/main">
            <a:off x="533400" y="38481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E2629"/>
                </a:solidFill>
                <a:latin typeface="Arial"/>
                <a:ea typeface="Arial"/>
                <a:cs typeface="Arial"/>
              </a:defRPr>
            </a:pPr>
            <a:r>
              <a:rPr sz="2250" b="1">
                <a:solidFill>
                  <a:srgbClr val="1E2629"/>
                </a:solidFill>
                <a:latin typeface="Arial"/>
                <a:ea typeface="Arial"/>
                <a:cs typeface="Arial"/>
              </a:rPr>
              <a:t>Range + tilt</a:t>
            </a:r>
          </a:p>
        </p:txBody>
      </p:sp>
      <p:sp>
        <p:nvSpPr>
          <p:cNvPr id="16" name="LiDAR and cradle">
            <a:extLst xmlns:a="http://schemas.openxmlformats.org/drawingml/2006/main">
              <a:ext uri="{FF2B5EF4-FFF2-40B4-BE49-F238E27FC236}">
                <a16:creationId xmlns:a16="http://schemas.microsoft.com/office/drawing/2014/main" id="{AA0C7E8D-301B-44E2-9F07-FFC7FF46CFAD}"/>
              </a:ext>
            </a:extLst>
          </p:cNvPr>
          <p:cNvSpPr>
            <a:spLocks xmlns:a="http://schemas.openxmlformats.org/drawingml/2006/main" noGrp="1"/>
          </p:cNvSpPr>
          <p:nvPr/>
        </p:nvSpPr>
        <p:spPr>
          <a:xfrm xmlns:a="http://schemas.openxmlformats.org/drawingml/2006/main">
            <a:off x="533400" y="4295775"/>
            <a:ext cx="295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B5859"/>
                </a:solidFill>
                <a:latin typeface="Arial"/>
                <a:ea typeface="Arial"/>
                <a:cs typeface="Arial"/>
              </a:defRPr>
            </a:pPr>
            <a:r>
              <a:rPr sz="1800" b="0">
                <a:solidFill>
                  <a:srgbClr val="4B5859"/>
                </a:solidFill>
                <a:latin typeface="Arial"/>
                <a:ea typeface="Arial"/>
                <a:cs typeface="Arial"/>
              </a:rPr>
              <a:t>LiDAR and cradle</a:t>
            </a:r>
          </a:p>
        </p:txBody>
      </p:sp>
      <p:sp>
        <p:nvSpPr>
          <p:cNvPr id="17" name="ESP32-S3">
            <a:extLst xmlns:a="http://schemas.openxmlformats.org/drawingml/2006/main">
              <a:ext uri="{FF2B5EF4-FFF2-40B4-BE49-F238E27FC236}">
                <a16:creationId xmlns:a16="http://schemas.microsoft.com/office/drawing/2014/main" id="{133DAF05-4B8F-4079-9077-0CB857DCF5C4}"/>
              </a:ext>
            </a:extLst>
          </p:cNvPr>
          <p:cNvSpPr>
            <a:spLocks xmlns:a="http://schemas.openxmlformats.org/drawingml/2006/main" noGrp="1"/>
          </p:cNvSpPr>
          <p:nvPr/>
        </p:nvSpPr>
        <p:spPr>
          <a:xfrm xmlns:a="http://schemas.openxmlformats.org/drawingml/2006/main">
            <a:off x="4257675" y="3848100"/>
            <a:ext cx="2876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E2629"/>
                </a:solidFill>
                <a:latin typeface="Arial"/>
                <a:ea typeface="Arial"/>
                <a:cs typeface="Arial"/>
              </a:defRPr>
            </a:pPr>
            <a:r>
              <a:rPr sz="2250" b="1">
                <a:solidFill>
                  <a:srgbClr val="1E2629"/>
                </a:solidFill>
                <a:latin typeface="Arial"/>
                <a:ea typeface="Arial"/>
                <a:cs typeface="Arial"/>
              </a:rPr>
              <a:t>ESP32-S3</a:t>
            </a:r>
          </a:p>
        </p:txBody>
      </p:sp>
      <p:sp>
        <p:nvSpPr>
          <p:cNvPr id="18" name="Acquisition and Wi-Fi relay">
            <a:extLst xmlns:a="http://schemas.openxmlformats.org/drawingml/2006/main">
              <a:ext uri="{FF2B5EF4-FFF2-40B4-BE49-F238E27FC236}">
                <a16:creationId xmlns:a16="http://schemas.microsoft.com/office/drawing/2014/main" id="{8E610725-22CB-434D-8E8E-D0FF200020CC}"/>
              </a:ext>
            </a:extLst>
          </p:cNvPr>
          <p:cNvSpPr>
            <a:spLocks xmlns:a="http://schemas.openxmlformats.org/drawingml/2006/main" noGrp="1"/>
          </p:cNvSpPr>
          <p:nvPr/>
        </p:nvSpPr>
        <p:spPr>
          <a:xfrm xmlns:a="http://schemas.openxmlformats.org/drawingml/2006/main">
            <a:off x="4257675" y="429577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B5859"/>
                </a:solidFill>
                <a:latin typeface="Arial"/>
                <a:ea typeface="Arial"/>
                <a:cs typeface="Arial"/>
              </a:defRPr>
            </a:pPr>
            <a:r>
              <a:rPr sz="1800" b="0">
                <a:solidFill>
                  <a:srgbClr val="4B5859"/>
                </a:solidFill>
                <a:latin typeface="Arial"/>
                <a:ea typeface="Arial"/>
                <a:cs typeface="Arial"/>
              </a:rPr>
              <a:t>Acquisition and Wi-Fi relay</a:t>
            </a:r>
          </a:p>
        </p:txBody>
      </p:sp>
      <p:sp>
        <p:nvSpPr>
          <p:cNvPr id="19" name="Laptop processing">
            <a:extLst xmlns:a="http://schemas.openxmlformats.org/drawingml/2006/main">
              <a:ext uri="{FF2B5EF4-FFF2-40B4-BE49-F238E27FC236}">
                <a16:creationId xmlns:a16="http://schemas.microsoft.com/office/drawing/2014/main" id="{4C2E1C9D-453D-49EF-9BBE-217507560BBF}"/>
              </a:ext>
            </a:extLst>
          </p:cNvPr>
          <p:cNvSpPr>
            <a:spLocks xmlns:a="http://schemas.openxmlformats.org/drawingml/2006/main" noGrp="1"/>
          </p:cNvSpPr>
          <p:nvPr/>
        </p:nvSpPr>
        <p:spPr>
          <a:xfrm xmlns:a="http://schemas.openxmlformats.org/drawingml/2006/main">
            <a:off x="7991475" y="3848100"/>
            <a:ext cx="366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E2629"/>
                </a:solidFill>
                <a:latin typeface="Arial"/>
                <a:ea typeface="Arial"/>
                <a:cs typeface="Arial"/>
              </a:defRPr>
            </a:pPr>
            <a:r>
              <a:rPr sz="2250" b="1">
                <a:solidFill>
                  <a:srgbClr val="1E2629"/>
                </a:solidFill>
                <a:latin typeface="Arial"/>
                <a:ea typeface="Arial"/>
                <a:cs typeface="Arial"/>
              </a:rPr>
              <a:t>Laptop processing</a:t>
            </a:r>
          </a:p>
        </p:txBody>
      </p:sp>
      <p:sp>
        <p:nvSpPr>
          <p:cNvPr id="20" name="Slamtec SDK and Python">
            <a:extLst xmlns:a="http://schemas.openxmlformats.org/drawingml/2006/main">
              <a:ext uri="{FF2B5EF4-FFF2-40B4-BE49-F238E27FC236}">
                <a16:creationId xmlns:a16="http://schemas.microsoft.com/office/drawing/2014/main" id="{A09C1160-1D82-426A-8D8B-1ECEC7C1CE4B}"/>
              </a:ext>
            </a:extLst>
          </p:cNvPr>
          <p:cNvSpPr>
            <a:spLocks xmlns:a="http://schemas.openxmlformats.org/drawingml/2006/main" noGrp="1"/>
          </p:cNvSpPr>
          <p:nvPr/>
        </p:nvSpPr>
        <p:spPr>
          <a:xfrm xmlns:a="http://schemas.openxmlformats.org/drawingml/2006/main">
            <a:off x="7991475" y="4295775"/>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B5859"/>
                </a:solidFill>
                <a:latin typeface="Arial"/>
                <a:ea typeface="Arial"/>
                <a:cs typeface="Arial"/>
              </a:defRPr>
            </a:pPr>
            <a:r>
              <a:rPr sz="1800" b="0">
                <a:solidFill>
                  <a:srgbClr val="4B5859"/>
                </a:solidFill>
                <a:latin typeface="Arial"/>
                <a:ea typeface="Arial"/>
                <a:cs typeface="Arial"/>
              </a:rPr>
              <a:t>Slamtec SDK and Python</a:t>
            </a:r>
          </a:p>
        </p:txBody>
      </p:sp>
      <p:sp>
        <p:nvSpPr>
          <p:cNvPr id="21" name="Map, saved session and replay">
            <a:extLst xmlns:a="http://schemas.openxmlformats.org/drawingml/2006/main">
              <a:ext uri="{FF2B5EF4-FFF2-40B4-BE49-F238E27FC236}">
                <a16:creationId xmlns:a16="http://schemas.microsoft.com/office/drawing/2014/main" id="{BBC0319D-7D85-460D-9102-ED666EB459A4}"/>
              </a:ext>
            </a:extLst>
          </p:cNvPr>
          <p:cNvSpPr>
            <a:spLocks xmlns:a="http://schemas.openxmlformats.org/drawingml/2006/main" noGrp="1"/>
          </p:cNvSpPr>
          <p:nvPr/>
        </p:nvSpPr>
        <p:spPr>
          <a:xfrm xmlns:a="http://schemas.openxmlformats.org/drawingml/2006/main">
            <a:off x="7991475" y="4686300"/>
            <a:ext cx="366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B7F70"/>
                </a:solidFill>
                <a:latin typeface="Arial"/>
                <a:ea typeface="Arial"/>
                <a:cs typeface="Arial"/>
              </a:defRPr>
            </a:pPr>
            <a:r>
              <a:rPr sz="1650" b="0">
                <a:solidFill>
                  <a:srgbClr val="0B7F70"/>
                </a:solidFill>
                <a:latin typeface="Arial"/>
                <a:ea typeface="Arial"/>
                <a:cs typeface="Arial"/>
              </a:rPr>
              <a:t>Map, saved session and replay</a:t>
            </a:r>
          </a:p>
        </p:txBody>
      </p:sp>
      <p:sp>
        <p:nvSpPr>
          <p:cNvPr id="22" name="">
            <a:extLst xmlns:a="http://schemas.openxmlformats.org/drawingml/2006/main">
              <a:ext uri="{FF2B5EF4-FFF2-40B4-BE49-F238E27FC236}">
                <a16:creationId xmlns:a16="http://schemas.microsoft.com/office/drawing/2014/main" id="{4ABCAB5A-B0FD-4EFE-B93F-B46B96ECCAA1}"/>
              </a:ext>
            </a:extLst>
          </p:cNvPr>
          <p:cNvSpPr>
            <a:spLocks xmlns:a="http://schemas.openxmlformats.org/drawingml/2006/main" noGrp="1"/>
          </p:cNvSpPr>
          <p:nvPr/>
        </p:nvSpPr>
        <p:spPr>
          <a:xfrm xmlns:a="http://schemas.openxmlformats.org/drawingml/2006/main">
            <a:off x="533400" y="52006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23" name="Planned complete-system architecture">
            <a:extLst xmlns:a="http://schemas.openxmlformats.org/drawingml/2006/main">
              <a:ext uri="{FF2B5EF4-FFF2-40B4-BE49-F238E27FC236}">
                <a16:creationId xmlns:a16="http://schemas.microsoft.com/office/drawing/2014/main" id="{E2ABD80E-37F9-41C3-9CF8-AA18A0589BB1}"/>
              </a:ext>
            </a:extLst>
          </p:cNvPr>
          <p:cNvSpPr>
            <a:spLocks xmlns:a="http://schemas.openxmlformats.org/drawingml/2006/main" noGrp="1"/>
          </p:cNvSpPr>
          <p:nvPr/>
        </p:nvSpPr>
        <p:spPr>
          <a:xfrm xmlns:a="http://schemas.openxmlformats.org/drawingml/2006/main">
            <a:off x="533400" y="5314950"/>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4B5859"/>
                </a:solidFill>
                <a:latin typeface="Arial"/>
                <a:ea typeface="Arial"/>
                <a:cs typeface="Arial"/>
              </a:defRPr>
            </a:pPr>
            <a:r>
              <a:rPr sz="1725" b="1">
                <a:solidFill>
                  <a:srgbClr val="4B5859"/>
                </a:solidFill>
                <a:latin typeface="Arial"/>
                <a:ea typeface="Arial"/>
                <a:cs typeface="Arial"/>
              </a:rPr>
              <a:t>Planned complete-system architecture</a:t>
            </a:r>
          </a:p>
        </p:txBody>
      </p:sp>
      <p:sp>
        <p:nvSpPr>
          <p:cNvPr id="24" name="Sensor inputs">
            <a:extLst xmlns:a="http://schemas.openxmlformats.org/drawingml/2006/main">
              <a:ext uri="{FF2B5EF4-FFF2-40B4-BE49-F238E27FC236}">
                <a16:creationId xmlns:a16="http://schemas.microsoft.com/office/drawing/2014/main" id="{201CEFC6-9807-45FA-95AE-AD1CAD881CBB}"/>
              </a:ext>
            </a:extLst>
          </p:cNvPr>
          <p:cNvSpPr>
            <a:spLocks xmlns:a="http://schemas.openxmlformats.org/drawingml/2006/main" noGrp="1"/>
          </p:cNvSpPr>
          <p:nvPr/>
        </p:nvSpPr>
        <p:spPr>
          <a:xfrm xmlns:a="http://schemas.openxmlformats.org/drawingml/2006/main">
            <a:off x="533400" y="5724525"/>
            <a:ext cx="290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E2629"/>
                </a:solidFill>
                <a:latin typeface="Arial"/>
                <a:ea typeface="Arial"/>
                <a:cs typeface="Arial"/>
              </a:defRPr>
            </a:pPr>
            <a:r>
              <a:rPr sz="1725" b="1">
                <a:solidFill>
                  <a:srgbClr val="1E2629"/>
                </a:solidFill>
                <a:latin typeface="Arial"/>
                <a:ea typeface="Arial"/>
                <a:cs typeface="Arial"/>
              </a:rPr>
              <a:t>Sensor inputs</a:t>
            </a:r>
          </a:p>
        </p:txBody>
      </p:sp>
      <p:sp>
        <p:nvSpPr>
          <p:cNvPr id="25" name="LiDAR, motion sensors and microphone array">
            <a:extLst xmlns:a="http://schemas.openxmlformats.org/drawingml/2006/main">
              <a:ext uri="{FF2B5EF4-FFF2-40B4-BE49-F238E27FC236}">
                <a16:creationId xmlns:a16="http://schemas.microsoft.com/office/drawing/2014/main" id="{199994F0-0BF3-4595-8B52-A6D261B84F8C}"/>
              </a:ext>
            </a:extLst>
          </p:cNvPr>
          <p:cNvSpPr>
            <a:spLocks xmlns:a="http://schemas.openxmlformats.org/drawingml/2006/main" noGrp="1"/>
          </p:cNvSpPr>
          <p:nvPr/>
        </p:nvSpPr>
        <p:spPr>
          <a:xfrm xmlns:a="http://schemas.openxmlformats.org/drawingml/2006/main">
            <a:off x="533400" y="6057900"/>
            <a:ext cx="290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B5859"/>
                </a:solidFill>
                <a:latin typeface="Arial"/>
                <a:ea typeface="Arial"/>
                <a:cs typeface="Arial"/>
              </a:defRPr>
            </a:pPr>
            <a:r>
              <a:rPr sz="1275" b="0">
                <a:solidFill>
                  <a:srgbClr val="4B5859"/>
                </a:solidFill>
                <a:latin typeface="Arial"/>
                <a:ea typeface="Arial"/>
                <a:cs typeface="Arial"/>
              </a:rPr>
              <a:t>LiDAR, motion sensors and microphone array</a:t>
            </a:r>
          </a:p>
        </p:txBody>
      </p:sp>
      <p:sp>
        <p:nvSpPr>
          <p:cNvPr id="26" name="FLOW_ARROW">
            <a:extLst xmlns:a="http://schemas.openxmlformats.org/drawingml/2006/main">
              <a:ext uri="{FF2B5EF4-FFF2-40B4-BE49-F238E27FC236}">
                <a16:creationId xmlns:a16="http://schemas.microsoft.com/office/drawing/2014/main" id="{EA808CF7-1D7C-4053-8EDE-CD8D4C4814EA}"/>
              </a:ext>
            </a:extLst>
          </p:cNvPr>
          <p:cNvSpPr>
            <a:spLocks xmlns:a="http://schemas.openxmlformats.org/drawingml/2006/main" noGrp="1"/>
          </p:cNvSpPr>
          <p:nvPr/>
        </p:nvSpPr>
        <p:spPr>
          <a:xfrm xmlns:a="http://schemas.openxmlformats.org/drawingml/2006/main">
            <a:off x="3505200" y="5876925"/>
            <a:ext cx="504825" cy="0"/>
          </a:xfrm>
          <a:prstGeom xmlns:a="http://schemas.openxmlformats.org/drawingml/2006/main" prst="line">
            <a:avLst/>
          </a:prstGeom>
          <a:noFill xmlns:a="http://schemas.openxmlformats.org/drawingml/2006/main"/>
          <a:ln xmlns:a="http://schemas.openxmlformats.org/drawingml/2006/main" w="19050">
            <a:solidFill>
              <a:srgbClr val="6E7C7D"/>
            </a:solidFill>
            <a:tailEnd type="triangle" w="med" len="med"/>
          </a:ln>
        </p:spPr>
      </p:sp>
      <p:sp>
        <p:nvSpPr>
          <p:cNvPr id="27" name="Embedded processing">
            <a:extLst xmlns:a="http://schemas.openxmlformats.org/drawingml/2006/main">
              <a:ext uri="{FF2B5EF4-FFF2-40B4-BE49-F238E27FC236}">
                <a16:creationId xmlns:a16="http://schemas.microsoft.com/office/drawing/2014/main" id="{2B471B21-FAB0-4411-B23A-6C788EAFA0A4}"/>
              </a:ext>
            </a:extLst>
          </p:cNvPr>
          <p:cNvSpPr>
            <a:spLocks xmlns:a="http://schemas.openxmlformats.org/drawingml/2006/main" noGrp="1"/>
          </p:cNvSpPr>
          <p:nvPr/>
        </p:nvSpPr>
        <p:spPr>
          <a:xfrm xmlns:a="http://schemas.openxmlformats.org/drawingml/2006/main">
            <a:off x="4191000" y="5724525"/>
            <a:ext cx="333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E2629"/>
                </a:solidFill>
                <a:latin typeface="Arial"/>
                <a:ea typeface="Arial"/>
                <a:cs typeface="Arial"/>
              </a:defRPr>
            </a:pPr>
            <a:r>
              <a:rPr sz="1725" b="1">
                <a:solidFill>
                  <a:srgbClr val="1E2629"/>
                </a:solidFill>
                <a:latin typeface="Arial"/>
                <a:ea typeface="Arial"/>
                <a:cs typeface="Arial"/>
              </a:rPr>
              <a:t>Embedded processing</a:t>
            </a:r>
          </a:p>
        </p:txBody>
      </p:sp>
      <p:sp>
        <p:nvSpPr>
          <p:cNvPr id="28" name="Onboard SLAM and acoustic event / bearing">
            <a:extLst xmlns:a="http://schemas.openxmlformats.org/drawingml/2006/main">
              <a:ext uri="{FF2B5EF4-FFF2-40B4-BE49-F238E27FC236}">
                <a16:creationId xmlns:a16="http://schemas.microsoft.com/office/drawing/2014/main" id="{1DCEC62C-ED3A-4F15-ABBA-357D4870639B}"/>
              </a:ext>
            </a:extLst>
          </p:cNvPr>
          <p:cNvSpPr>
            <a:spLocks xmlns:a="http://schemas.openxmlformats.org/drawingml/2006/main" noGrp="1"/>
          </p:cNvSpPr>
          <p:nvPr/>
        </p:nvSpPr>
        <p:spPr>
          <a:xfrm xmlns:a="http://schemas.openxmlformats.org/drawingml/2006/main">
            <a:off x="4191000" y="60579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B5859"/>
                </a:solidFill>
                <a:latin typeface="Arial"/>
                <a:ea typeface="Arial"/>
                <a:cs typeface="Arial"/>
              </a:defRPr>
            </a:pPr>
            <a:r>
              <a:rPr sz="1275" b="0">
                <a:solidFill>
                  <a:srgbClr val="4B5859"/>
                </a:solidFill>
                <a:latin typeface="Arial"/>
                <a:ea typeface="Arial"/>
                <a:cs typeface="Arial"/>
              </a:rPr>
              <a:t>Onboard SLAM and acoustic event / bearing</a:t>
            </a:r>
          </a:p>
        </p:txBody>
      </p:sp>
      <p:sp>
        <p:nvSpPr>
          <p:cNvPr id="29" name="FLOW_ARROW">
            <a:extLst xmlns:a="http://schemas.openxmlformats.org/drawingml/2006/main">
              <a:ext uri="{FF2B5EF4-FFF2-40B4-BE49-F238E27FC236}">
                <a16:creationId xmlns:a16="http://schemas.microsoft.com/office/drawing/2014/main" id="{EFC975C8-E93E-418B-8E25-E28D63F6894C}"/>
              </a:ext>
            </a:extLst>
          </p:cNvPr>
          <p:cNvSpPr>
            <a:spLocks xmlns:a="http://schemas.openxmlformats.org/drawingml/2006/main" noGrp="1"/>
          </p:cNvSpPr>
          <p:nvPr/>
        </p:nvSpPr>
        <p:spPr>
          <a:xfrm xmlns:a="http://schemas.openxmlformats.org/drawingml/2006/main">
            <a:off x="7524750" y="5876925"/>
            <a:ext cx="495300" cy="0"/>
          </a:xfrm>
          <a:prstGeom xmlns:a="http://schemas.openxmlformats.org/drawingml/2006/main" prst="line">
            <a:avLst/>
          </a:prstGeom>
          <a:noFill xmlns:a="http://schemas.openxmlformats.org/drawingml/2006/main"/>
          <a:ln xmlns:a="http://schemas.openxmlformats.org/drawingml/2006/main" w="19050">
            <a:solidFill>
              <a:srgbClr val="6E7C7D"/>
            </a:solidFill>
            <a:tailEnd type="triangle" w="med" len="med"/>
          </a:ln>
        </p:spPr>
      </p:sp>
      <p:sp>
        <p:nvSpPr>
          <p:cNvPr id="30" name="Offline and collaborative">
            <a:extLst xmlns:a="http://schemas.openxmlformats.org/drawingml/2006/main">
              <a:ext uri="{FF2B5EF4-FFF2-40B4-BE49-F238E27FC236}">
                <a16:creationId xmlns:a16="http://schemas.microsoft.com/office/drawing/2014/main" id="{A4E8D5B4-2B04-48A5-823B-B648781535EF}"/>
              </a:ext>
            </a:extLst>
          </p:cNvPr>
          <p:cNvSpPr>
            <a:spLocks xmlns:a="http://schemas.openxmlformats.org/drawingml/2006/main" noGrp="1"/>
          </p:cNvSpPr>
          <p:nvPr/>
        </p:nvSpPr>
        <p:spPr>
          <a:xfrm xmlns:a="http://schemas.openxmlformats.org/drawingml/2006/main">
            <a:off x="8220075" y="5724525"/>
            <a:ext cx="3438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E2629"/>
                </a:solidFill>
                <a:latin typeface="Arial"/>
                <a:ea typeface="Arial"/>
                <a:cs typeface="Arial"/>
              </a:defRPr>
            </a:pPr>
            <a:r>
              <a:rPr sz="1725" b="1">
                <a:solidFill>
                  <a:srgbClr val="1E2629"/>
                </a:solidFill>
                <a:latin typeface="Arial"/>
                <a:ea typeface="Arial"/>
                <a:cs typeface="Arial"/>
              </a:rPr>
              <a:t>Offline and collaborative</a:t>
            </a:r>
          </a:p>
        </p:txBody>
      </p:sp>
      <p:sp>
        <p:nvSpPr>
          <p:cNvPr id="31" name="Dense 3-D reconstruction and map merging">
            <a:extLst xmlns:a="http://schemas.openxmlformats.org/drawingml/2006/main">
              <a:ext uri="{FF2B5EF4-FFF2-40B4-BE49-F238E27FC236}">
                <a16:creationId xmlns:a16="http://schemas.microsoft.com/office/drawing/2014/main" id="{198CE4A1-1BD5-4662-A955-4D1F6E95B135}"/>
              </a:ext>
            </a:extLst>
          </p:cNvPr>
          <p:cNvSpPr>
            <a:spLocks xmlns:a="http://schemas.openxmlformats.org/drawingml/2006/main" noGrp="1"/>
          </p:cNvSpPr>
          <p:nvPr/>
        </p:nvSpPr>
        <p:spPr>
          <a:xfrm xmlns:a="http://schemas.openxmlformats.org/drawingml/2006/main">
            <a:off x="8220075" y="6057900"/>
            <a:ext cx="34385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B5859"/>
                </a:solidFill>
                <a:latin typeface="Arial"/>
                <a:ea typeface="Arial"/>
                <a:cs typeface="Arial"/>
              </a:defRPr>
            </a:pPr>
            <a:r>
              <a:rPr sz="1275" b="0">
                <a:solidFill>
                  <a:srgbClr val="4B5859"/>
                </a:solidFill>
                <a:latin typeface="Arial"/>
                <a:ea typeface="Arial"/>
                <a:cs typeface="Arial"/>
              </a:rPr>
              <a:t>Dense 3-D reconstruction and map merging</a:t>
            </a:r>
          </a:p>
        </p:txBody>
      </p:sp>
      <p:sp>
        <p:nvSpPr>
          <p:cNvPr id="32" name="Hardware images are references. LiDAR model confirmation pen">
            <a:extLst xmlns:a="http://schemas.openxmlformats.org/drawingml/2006/main">
              <a:ext uri="{FF2B5EF4-FFF2-40B4-BE49-F238E27FC236}">
                <a16:creationId xmlns:a16="http://schemas.microsoft.com/office/drawing/2014/main" id="{F87C2427-59F5-4194-BDC9-183ED201C925}"/>
              </a:ext>
            </a:extLst>
          </p:cNvPr>
          <p:cNvSpPr>
            <a:spLocks xmlns:a="http://schemas.openxmlformats.org/drawingml/2006/main" noGrp="1"/>
          </p:cNvSpPr>
          <p:nvPr/>
        </p:nvSpPr>
        <p:spPr>
          <a:xfrm xmlns:a="http://schemas.openxmlformats.org/drawingml/2006/main">
            <a:off x="533400" y="4924425"/>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E7C7D"/>
                </a:solidFill>
                <a:latin typeface="Arial"/>
                <a:ea typeface="Arial"/>
                <a:cs typeface="Arial"/>
              </a:defRPr>
            </a:pPr>
            <a:r>
              <a:rPr sz="1275" b="0">
                <a:solidFill>
                  <a:srgbClr val="6E7C7D"/>
                </a:solidFill>
                <a:latin typeface="Arial"/>
                <a:ea typeface="Arial"/>
                <a:cs typeface="Arial"/>
              </a:rPr>
              <a:t>Hardware images are references. LiDAR model confirmation pending.</a:t>
            </a:r>
          </a:p>
        </p:txBody>
      </p:sp>
    </p:spTree>
    <p:extLst>
      <p:ext uri="{BB962C8B-B14F-4D97-AF65-F5344CB8AC3E}">
        <p14:creationId xmlns:p14="http://schemas.microsoft.com/office/powerpoint/2010/main" val="388534621"/>
      </p:ext>
    </p:extLst>
  </p:cSld>
</p:sld>
</file>

<file path=ppt/slides/slide8.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System architecture</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08</a:t>
            </a:r>
          </a:p>
        </p:txBody>
      </p:sp>
      <p:sp xmlns:a="http://schemas.openxmlformats.org/drawingml/2006/main">
        <p:nvSpPr>
          <p:cNvPr id="29" name="Rectangle 28"/>
          <p:cNvSpPr/>
          <p:nvPr/>
        </p:nvSpPr>
        <p:spPr>
          <a:xfrm>
            <a:off x="530352" y="1417320"/>
            <a:ext cx="3611880" cy="4069080"/>
          </a:xfrm>
          <a:prstGeom prst="rect">
            <a:avLst/>
          </a:prstGeom>
          <a:solidFill>
            <a:srgbClr val="F7F9F8"/>
          </a:solidFill>
          <a:ln w="9525">
            <a:solidFill>
              <a:srgbClr val="CFD8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685800" y="1508760"/>
            <a:ext cx="3337560" cy="274320"/>
          </a:xfrm>
          <a:prstGeom prst="rect">
            <a:avLst/>
          </a:prstGeom>
          <a:noFill/>
        </p:spPr>
        <p:txBody>
          <a:bodyPr wrap="square" lIns="0" rIns="0" tIns="0" bIns="0" anchor="t">
            <a:spAutoFit/>
          </a:bodyPr>
          <a:lstStyle/>
          <a:p>
            <a:pPr algn="l"/>
            <a:r>
              <a:rPr sz="1300" b="1">
                <a:solidFill>
                  <a:srgbClr val="0B7F70"/>
                </a:solidFill>
                <a:latin typeface="Arial"/>
              </a:rPr>
              <a:t>Rig</a:t>
            </a:r>
          </a:p>
        </p:txBody>
      </p:sp>
      <p:sp xmlns:a="http://schemas.openxmlformats.org/drawingml/2006/main">
        <p:nvSpPr>
          <p:cNvPr id="31" name="Rectangle 30"/>
          <p:cNvSpPr/>
          <p:nvPr/>
        </p:nvSpPr>
        <p:spPr>
          <a:xfrm>
            <a:off x="685800" y="1828800"/>
            <a:ext cx="1737360"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TextBox 31"/>
          <p:cNvSpPr txBox="1"/>
          <p:nvPr/>
        </p:nvSpPr>
        <p:spPr>
          <a:xfrm>
            <a:off x="795528" y="1828800"/>
            <a:ext cx="1554480" cy="658368"/>
          </a:xfrm>
          <a:prstGeom prst="rect">
            <a:avLst/>
          </a:prstGeom>
          <a:noFill/>
        </p:spPr>
        <p:txBody>
          <a:bodyPr wrap="square" lIns="0" rIns="0" tIns="0" bIns="0" anchor="ctr">
            <a:spAutoFit/>
          </a:bodyPr>
          <a:lstStyle/>
          <a:p>
            <a:pPr algn="l"/>
            <a:r>
              <a:rPr sz="1300" b="1">
                <a:solidFill>
                  <a:srgbClr val="1E2629"/>
                </a:solidFill>
                <a:latin typeface="Arial"/>
              </a:rPr>
              <a:t>RPLIDAR S3</a:t>
            </a:r>
          </a:p>
          <a:p>
            <a:pPr algn="l">
              <a:spcBef>
                <a:spcPts val="100"/>
              </a:spcBef>
            </a:pPr>
            <a:r>
              <a:rPr sz="1100" b="0">
                <a:solidFill>
                  <a:srgbClr val="4B5859"/>
                </a:solidFill>
                <a:latin typeface="Arial"/>
              </a:rPr>
              <a:t>2D laser · UART</a:t>
            </a:r>
          </a:p>
        </p:txBody>
      </p:sp>
      <p:sp xmlns:a="http://schemas.openxmlformats.org/drawingml/2006/main">
        <p:nvSpPr>
          <p:cNvPr id="33" name="Rectangle 32"/>
          <p:cNvSpPr/>
          <p:nvPr/>
        </p:nvSpPr>
        <p:spPr>
          <a:xfrm>
            <a:off x="685800" y="2670048"/>
            <a:ext cx="1737360"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795528" y="2670048"/>
            <a:ext cx="1554480" cy="658368"/>
          </a:xfrm>
          <a:prstGeom prst="rect">
            <a:avLst/>
          </a:prstGeom>
          <a:noFill/>
        </p:spPr>
        <p:txBody>
          <a:bodyPr wrap="square" lIns="0" rIns="0" tIns="0" bIns="0" anchor="ctr">
            <a:spAutoFit/>
          </a:bodyPr>
          <a:lstStyle/>
          <a:p>
            <a:pPr algn="l"/>
            <a:r>
              <a:rPr sz="1300" b="1">
                <a:solidFill>
                  <a:srgbClr val="1E2629"/>
                </a:solidFill>
                <a:latin typeface="Arial"/>
              </a:rPr>
              <a:t>Servo + cradle</a:t>
            </a:r>
          </a:p>
          <a:p>
            <a:pPr algn="l">
              <a:spcBef>
                <a:spcPts val="100"/>
              </a:spcBef>
            </a:pPr>
            <a:r>
              <a:rPr sz="1100" b="0">
                <a:solidFill>
                  <a:srgbClr val="4B5859"/>
                </a:solidFill>
                <a:latin typeface="Arial"/>
              </a:rPr>
              <a:t>tilt ±60° · PWM</a:t>
            </a:r>
          </a:p>
        </p:txBody>
      </p:sp>
      <p:sp xmlns:a="http://schemas.openxmlformats.org/drawingml/2006/main">
        <p:nvSpPr>
          <p:cNvPr id="35" name="Rectangle 34"/>
          <p:cNvSpPr/>
          <p:nvPr/>
        </p:nvSpPr>
        <p:spPr>
          <a:xfrm>
            <a:off x="685800" y="3511296"/>
            <a:ext cx="1737360"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3511296"/>
            <a:ext cx="1554480" cy="658368"/>
          </a:xfrm>
          <a:prstGeom prst="rect">
            <a:avLst/>
          </a:prstGeom>
          <a:noFill/>
        </p:spPr>
        <p:txBody>
          <a:bodyPr wrap="square" lIns="0" rIns="0" tIns="0" bIns="0" anchor="ctr">
            <a:spAutoFit/>
          </a:bodyPr>
          <a:lstStyle/>
          <a:p>
            <a:pPr algn="l"/>
            <a:r>
              <a:rPr sz="1300" b="1">
                <a:solidFill>
                  <a:srgbClr val="1E2629"/>
                </a:solidFill>
                <a:latin typeface="Arial"/>
              </a:rPr>
              <a:t>4 × INMP441</a:t>
            </a:r>
          </a:p>
          <a:p>
            <a:pPr algn="l">
              <a:spcBef>
                <a:spcPts val="100"/>
              </a:spcBef>
            </a:pPr>
            <a:r>
              <a:rPr sz="1100" b="0">
                <a:solidFill>
                  <a:srgbClr val="4B5859"/>
                </a:solidFill>
                <a:latin typeface="Arial"/>
              </a:rPr>
              <a:t>mics · I²S</a:t>
            </a:r>
          </a:p>
        </p:txBody>
      </p:sp>
      <p:sp xmlns:a="http://schemas.openxmlformats.org/drawingml/2006/main">
        <p:nvSpPr>
          <p:cNvPr id="37" name="Rectangle 36"/>
          <p:cNvSpPr/>
          <p:nvPr/>
        </p:nvSpPr>
        <p:spPr>
          <a:xfrm>
            <a:off x="685800" y="4352544"/>
            <a:ext cx="1737360"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TextBox 37"/>
          <p:cNvSpPr txBox="1"/>
          <p:nvPr/>
        </p:nvSpPr>
        <p:spPr>
          <a:xfrm>
            <a:off x="795528" y="4352544"/>
            <a:ext cx="1554480" cy="658368"/>
          </a:xfrm>
          <a:prstGeom prst="rect">
            <a:avLst/>
          </a:prstGeom>
          <a:noFill/>
        </p:spPr>
        <p:txBody>
          <a:bodyPr wrap="square" lIns="0" rIns="0" tIns="0" bIns="0" anchor="ctr">
            <a:spAutoFit/>
          </a:bodyPr>
          <a:lstStyle/>
          <a:p>
            <a:pPr algn="l"/>
            <a:r>
              <a:rPr sz="1300" b="1">
                <a:solidFill>
                  <a:srgbClr val="1E2629"/>
                </a:solidFill>
                <a:latin typeface="Arial"/>
              </a:rPr>
              <a:t>MPU-6050</a:t>
            </a:r>
          </a:p>
          <a:p>
            <a:pPr algn="l">
              <a:spcBef>
                <a:spcPts val="100"/>
              </a:spcBef>
            </a:pPr>
            <a:r>
              <a:rPr sz="1100" b="0">
                <a:solidFill>
                  <a:srgbClr val="4B5859"/>
                </a:solidFill>
                <a:latin typeface="Arial"/>
              </a:rPr>
              <a:t>tilt + motion · I²C</a:t>
            </a:r>
          </a:p>
        </p:txBody>
      </p:sp>
      <p:sp xmlns:a="http://schemas.openxmlformats.org/drawingml/2006/main">
        <p:nvSpPr>
          <p:cNvPr id="39" name="Rectangle 38"/>
          <p:cNvSpPr/>
          <p:nvPr/>
        </p:nvSpPr>
        <p:spPr>
          <a:xfrm>
            <a:off x="2788920" y="1828800"/>
            <a:ext cx="1188720" cy="3182112"/>
          </a:xfrm>
          <a:prstGeom prst="rect">
            <a:avLst/>
          </a:prstGeom>
          <a:solidFill>
            <a:srgbClr val="E2F2EF"/>
          </a:solidFill>
          <a:ln w="9525">
            <a:solidFill>
              <a:srgbClr val="8F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2898648" y="1828800"/>
            <a:ext cx="1005840" cy="3182112"/>
          </a:xfrm>
          <a:prstGeom prst="rect">
            <a:avLst/>
          </a:prstGeom>
          <a:noFill/>
        </p:spPr>
        <p:txBody>
          <a:bodyPr wrap="square" lIns="0" rIns="0" tIns="0" bIns="0" anchor="ctr">
            <a:spAutoFit/>
          </a:bodyPr>
          <a:lstStyle/>
          <a:p>
            <a:pPr algn="l"/>
            <a:r>
              <a:rPr sz="1300" b="1">
                <a:solidFill>
                  <a:srgbClr val="1E2629"/>
                </a:solidFill>
                <a:latin typeface="Arial"/>
              </a:rPr>
              <a:t>ESP32-S3</a:t>
            </a:r>
          </a:p>
          <a:p>
            <a:pPr algn="l">
              <a:spcBef>
                <a:spcPts val="100"/>
              </a:spcBef>
            </a:pPr>
            <a:r>
              <a:rPr sz="1100" b="0">
                <a:solidFill>
                  <a:srgbClr val="4B5859"/>
                </a:solidFill>
                <a:latin typeface="Arial"/>
              </a:rPr>
              <a:t>firmware
own Wi-Fi
SLAM-Test</a:t>
            </a:r>
          </a:p>
        </p:txBody>
      </p:sp>
      <p:cxnSp xmlns:a="http://schemas.openxmlformats.org/drawingml/2006/main">
        <p:nvCxnSpPr>
          <p:cNvPr id="41" name="Connector 40"/>
          <p:cNvCxnSpPr/>
          <p:nvPr/>
        </p:nvCxnSpPr>
        <p:spPr>
          <a:xfrm>
            <a:off x="2423160" y="2157984"/>
            <a:ext cx="365760" cy="0"/>
          </a:xfrm>
          <a:prstGeom prst="line">
            <a:avLst/>
          </a:prstGeom>
          <a:ln w="15875">
            <a:solidFill>
              <a:srgbClr val="0B7F7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flipH="1">
            <a:off x="2423160" y="2999232"/>
            <a:ext cx="365760" cy="0"/>
          </a:xfrm>
          <a:prstGeom prst="line">
            <a:avLst/>
          </a:prstGeom>
          <a:ln w="15875">
            <a:solidFill>
              <a:srgbClr val="0B7F7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2423160" y="3840480"/>
            <a:ext cx="365760" cy="0"/>
          </a:xfrm>
          <a:prstGeom prst="line">
            <a:avLst/>
          </a:prstGeom>
          <a:ln w="15875">
            <a:solidFill>
              <a:srgbClr val="0B7F7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2423160" y="4681728"/>
            <a:ext cx="365760" cy="0"/>
          </a:xfrm>
          <a:prstGeom prst="line">
            <a:avLst/>
          </a:prstGeom>
          <a:ln w="15875">
            <a:solidFill>
              <a:srgbClr val="0B7F7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5" name="TextBox 44"/>
          <p:cNvSpPr txBox="1"/>
          <p:nvPr/>
        </p:nvSpPr>
        <p:spPr>
          <a:xfrm>
            <a:off x="685800" y="5138928"/>
            <a:ext cx="3291840" cy="274320"/>
          </a:xfrm>
          <a:prstGeom prst="rect">
            <a:avLst/>
          </a:prstGeom>
          <a:noFill/>
        </p:spPr>
        <p:txBody>
          <a:bodyPr wrap="square" lIns="0" rIns="0" tIns="0" bIns="0" anchor="t">
            <a:spAutoFit/>
          </a:bodyPr>
          <a:lstStyle/>
          <a:p>
            <a:pPr algn="l"/>
            <a:r>
              <a:rPr sz="1050" b="0">
                <a:solidFill>
                  <a:srgbClr val="6E7C7D"/>
                </a:solidFill>
                <a:latin typeface="Arial"/>
              </a:rPr>
              <a:t>5 V power bank · servo on its own supply</a:t>
            </a:r>
          </a:p>
        </p:txBody>
      </p:sp>
      <p:cxnSp xmlns:a="http://schemas.openxmlformats.org/drawingml/2006/main">
        <p:nvCxnSpPr>
          <p:cNvPr id="46" name="Connector 45"/>
          <p:cNvCxnSpPr/>
          <p:nvPr/>
        </p:nvCxnSpPr>
        <p:spPr>
          <a:xfrm>
            <a:off x="3977639" y="3419856"/>
            <a:ext cx="640081" cy="0"/>
          </a:xfrm>
          <a:prstGeom prst="line">
            <a:avLst/>
          </a:prstGeom>
          <a:ln w="28575">
            <a:solidFill>
              <a:srgbClr val="0B7F7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7" name="TextBox 46"/>
          <p:cNvSpPr txBox="1"/>
          <p:nvPr/>
        </p:nvSpPr>
        <p:spPr>
          <a:xfrm>
            <a:off x="3931920" y="2999232"/>
            <a:ext cx="731520" cy="201168"/>
          </a:xfrm>
          <a:prstGeom prst="rect">
            <a:avLst/>
          </a:prstGeom>
          <a:noFill/>
        </p:spPr>
        <p:txBody>
          <a:bodyPr wrap="square" lIns="0" rIns="0" tIns="0" bIns="0" anchor="t">
            <a:spAutoFit/>
          </a:bodyPr>
          <a:lstStyle/>
          <a:p>
            <a:pPr algn="ctr"/>
            <a:r>
              <a:rPr sz="1050" b="0">
                <a:solidFill>
                  <a:srgbClr val="0B7F70"/>
                </a:solidFill>
                <a:latin typeface="Arial"/>
              </a:rPr>
              <a:t>Wi-Fi</a:t>
            </a:r>
          </a:p>
        </p:txBody>
      </p:sp>
      <p:sp xmlns:a="http://schemas.openxmlformats.org/drawingml/2006/main">
        <p:nvSpPr>
          <p:cNvPr id="48" name="TextBox 47"/>
          <p:cNvSpPr txBox="1"/>
          <p:nvPr/>
        </p:nvSpPr>
        <p:spPr>
          <a:xfrm>
            <a:off x="3931920" y="3511296"/>
            <a:ext cx="731520" cy="201168"/>
          </a:xfrm>
          <a:prstGeom prst="rect">
            <a:avLst/>
          </a:prstGeom>
          <a:noFill/>
        </p:spPr>
        <p:txBody>
          <a:bodyPr wrap="square" lIns="0" rIns="0" tIns="0" bIns="0" anchor="t">
            <a:spAutoFit/>
          </a:bodyPr>
          <a:lstStyle/>
          <a:p>
            <a:pPr algn="ctr"/>
            <a:r>
              <a:rPr sz="1050" b="0">
                <a:solidFill>
                  <a:srgbClr val="0B7F70"/>
                </a:solidFill>
                <a:latin typeface="Arial"/>
              </a:rPr>
              <a:t>TCP / UDP</a:t>
            </a:r>
          </a:p>
        </p:txBody>
      </p:sp>
      <p:sp xmlns:a="http://schemas.openxmlformats.org/drawingml/2006/main">
        <p:nvSpPr>
          <p:cNvPr id="49" name="Rectangle 48"/>
          <p:cNvSpPr/>
          <p:nvPr/>
        </p:nvSpPr>
        <p:spPr>
          <a:xfrm>
            <a:off x="4617720" y="1417320"/>
            <a:ext cx="4206240" cy="4069080"/>
          </a:xfrm>
          <a:prstGeom prst="rect">
            <a:avLst/>
          </a:prstGeom>
          <a:solidFill>
            <a:srgbClr val="F7F9F8"/>
          </a:solidFill>
          <a:ln w="9525">
            <a:solidFill>
              <a:srgbClr val="CFD8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TextBox 49"/>
          <p:cNvSpPr txBox="1"/>
          <p:nvPr/>
        </p:nvSpPr>
        <p:spPr>
          <a:xfrm>
            <a:off x="4773168" y="1508760"/>
            <a:ext cx="3931920" cy="274320"/>
          </a:xfrm>
          <a:prstGeom prst="rect">
            <a:avLst/>
          </a:prstGeom>
          <a:noFill/>
        </p:spPr>
        <p:txBody>
          <a:bodyPr wrap="square" lIns="0" rIns="0" tIns="0" bIns="0" anchor="t">
            <a:spAutoFit/>
          </a:bodyPr>
          <a:lstStyle/>
          <a:p>
            <a:pPr algn="l"/>
            <a:r>
              <a:rPr sz="1300" b="1">
                <a:solidFill>
                  <a:srgbClr val="0B7F70"/>
                </a:solidFill>
                <a:latin typeface="Arial"/>
              </a:rPr>
              <a:t>Backend · Python FastAPI (laptop)</a:t>
            </a:r>
          </a:p>
        </p:txBody>
      </p:sp>
      <p:sp xmlns:a="http://schemas.openxmlformats.org/drawingml/2006/main">
        <p:nvSpPr>
          <p:cNvPr id="51" name="Rectangle 50"/>
          <p:cNvSpPr/>
          <p:nvPr/>
        </p:nvSpPr>
        <p:spPr>
          <a:xfrm>
            <a:off x="4773168" y="1828800"/>
            <a:ext cx="1810512"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882896" y="1828800"/>
            <a:ext cx="1627632" cy="658368"/>
          </a:xfrm>
          <a:prstGeom prst="rect">
            <a:avLst/>
          </a:prstGeom>
          <a:noFill/>
        </p:spPr>
        <p:txBody>
          <a:bodyPr wrap="square" lIns="0" rIns="0" tIns="0" bIns="0" anchor="ctr">
            <a:spAutoFit/>
          </a:bodyPr>
          <a:lstStyle/>
          <a:p>
            <a:pPr algn="l"/>
            <a:r>
              <a:rPr sz="1300" b="1">
                <a:solidFill>
                  <a:srgbClr val="1E2629"/>
                </a:solidFill>
                <a:latin typeface="Arial"/>
              </a:rPr>
              <a:t>LiDAR bridge</a:t>
            </a:r>
          </a:p>
          <a:p>
            <a:pPr algn="l">
              <a:spcBef>
                <a:spcPts val="100"/>
              </a:spcBef>
            </a:pPr>
            <a:r>
              <a:rPr sz="1100" b="0">
                <a:solidFill>
                  <a:srgbClr val="4B5859"/>
                </a:solidFill>
                <a:latin typeface="Arial"/>
              </a:rPr>
              <a:t>C++ · Slamtec SDK</a:t>
            </a:r>
          </a:p>
        </p:txBody>
      </p:sp>
      <p:sp xmlns:a="http://schemas.openxmlformats.org/drawingml/2006/main">
        <p:nvSpPr>
          <p:cNvPr id="53" name="Rectangle 52"/>
          <p:cNvSpPr/>
          <p:nvPr/>
        </p:nvSpPr>
        <p:spPr>
          <a:xfrm>
            <a:off x="6858000" y="1828800"/>
            <a:ext cx="1810512"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6967728" y="1828800"/>
            <a:ext cx="1627632" cy="658368"/>
          </a:xfrm>
          <a:prstGeom prst="rect">
            <a:avLst/>
          </a:prstGeom>
          <a:noFill/>
        </p:spPr>
        <p:txBody>
          <a:bodyPr wrap="square" lIns="0" rIns="0" tIns="0" bIns="0" anchor="ctr">
            <a:spAutoFit/>
          </a:bodyPr>
          <a:lstStyle/>
          <a:p>
            <a:pPr algn="l"/>
            <a:r>
              <a:rPr sz="1300" b="1">
                <a:solidFill>
                  <a:srgbClr val="1E2629"/>
                </a:solidFill>
                <a:latin typeface="Arial"/>
              </a:rPr>
              <a:t>Rig control</a:t>
            </a:r>
          </a:p>
          <a:p>
            <a:pPr algn="l">
              <a:spcBef>
                <a:spcPts val="100"/>
              </a:spcBef>
            </a:pPr>
            <a:r>
              <a:rPr sz="1100" b="0">
                <a:solidFill>
                  <a:srgbClr val="4B5859"/>
                </a:solidFill>
                <a:latin typeface="Arial"/>
              </a:rPr>
              <a:t>tilt sweeps, limits</a:t>
            </a:r>
          </a:p>
        </p:txBody>
      </p:sp>
      <p:sp xmlns:a="http://schemas.openxmlformats.org/drawingml/2006/main">
        <p:nvSpPr>
          <p:cNvPr id="55" name="Rectangle 54"/>
          <p:cNvSpPr/>
          <p:nvPr/>
        </p:nvSpPr>
        <p:spPr>
          <a:xfrm>
            <a:off x="4773168" y="2670048"/>
            <a:ext cx="1810512"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4882896" y="2670048"/>
            <a:ext cx="1627632" cy="658368"/>
          </a:xfrm>
          <a:prstGeom prst="rect">
            <a:avLst/>
          </a:prstGeom>
          <a:noFill/>
        </p:spPr>
        <p:txBody>
          <a:bodyPr wrap="square" lIns="0" rIns="0" tIns="0" bIns="0" anchor="ctr">
            <a:spAutoFit/>
          </a:bodyPr>
          <a:lstStyle/>
          <a:p>
            <a:pPr algn="l"/>
            <a:r>
              <a:rPr sz="1300" b="1">
                <a:solidFill>
                  <a:srgbClr val="1E2629"/>
                </a:solidFill>
                <a:latin typeface="Arial"/>
              </a:rPr>
              <a:t>Mapping</a:t>
            </a:r>
          </a:p>
          <a:p>
            <a:pPr algn="l">
              <a:spcBef>
                <a:spcPts val="100"/>
              </a:spcBef>
            </a:pPr>
            <a:r>
              <a:rPr sz="1100" b="0">
                <a:solidFill>
                  <a:srgbClr val="4B5859"/>
                </a:solidFill>
                <a:latin typeface="Arial"/>
              </a:rPr>
              <a:t>room map · 2.5D grid</a:t>
            </a:r>
          </a:p>
        </p:txBody>
      </p:sp>
      <p:sp xmlns:a="http://schemas.openxmlformats.org/drawingml/2006/main">
        <p:nvSpPr>
          <p:cNvPr id="57" name="Rectangle 56"/>
          <p:cNvSpPr/>
          <p:nvPr/>
        </p:nvSpPr>
        <p:spPr>
          <a:xfrm>
            <a:off x="6858000" y="2670048"/>
            <a:ext cx="1810512"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8" name="TextBox 57"/>
          <p:cNvSpPr txBox="1"/>
          <p:nvPr/>
        </p:nvSpPr>
        <p:spPr>
          <a:xfrm>
            <a:off x="6967728" y="2670048"/>
            <a:ext cx="1627632" cy="658368"/>
          </a:xfrm>
          <a:prstGeom prst="rect">
            <a:avLst/>
          </a:prstGeom>
          <a:noFill/>
        </p:spPr>
        <p:txBody>
          <a:bodyPr wrap="square" lIns="0" rIns="0" tIns="0" bIns="0" anchor="ctr">
            <a:spAutoFit/>
          </a:bodyPr>
          <a:lstStyle/>
          <a:p>
            <a:pPr algn="l"/>
            <a:r>
              <a:rPr sz="1300" b="1">
                <a:solidFill>
                  <a:srgbClr val="1E2629"/>
                </a:solidFill>
                <a:latin typeface="Arial"/>
              </a:rPr>
              <a:t>Findings</a:t>
            </a:r>
          </a:p>
          <a:p>
            <a:pPr algn="l">
              <a:spcBef>
                <a:spcPts val="100"/>
              </a:spcBef>
            </a:pPr>
            <a:r>
              <a:rPr sz="1100" b="0">
                <a:solidFill>
                  <a:srgbClr val="4B5859"/>
                </a:solidFill>
                <a:latin typeface="Arial"/>
              </a:rPr>
              <a:t>voids · obstacles · route</a:t>
            </a:r>
          </a:p>
        </p:txBody>
      </p:sp>
      <p:sp xmlns:a="http://schemas.openxmlformats.org/drawingml/2006/main">
        <p:nvSpPr>
          <p:cNvPr id="59" name="Rectangle 58"/>
          <p:cNvSpPr/>
          <p:nvPr/>
        </p:nvSpPr>
        <p:spPr>
          <a:xfrm>
            <a:off x="4773168" y="3511296"/>
            <a:ext cx="1810512"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0" name="TextBox 59"/>
          <p:cNvSpPr txBox="1"/>
          <p:nvPr/>
        </p:nvSpPr>
        <p:spPr>
          <a:xfrm>
            <a:off x="4882896" y="3511296"/>
            <a:ext cx="1627632" cy="658368"/>
          </a:xfrm>
          <a:prstGeom prst="rect">
            <a:avLst/>
          </a:prstGeom>
          <a:noFill/>
        </p:spPr>
        <p:txBody>
          <a:bodyPr wrap="square" lIns="0" rIns="0" tIns="0" bIns="0" anchor="ctr">
            <a:spAutoFit/>
          </a:bodyPr>
          <a:lstStyle/>
          <a:p>
            <a:pPr algn="l"/>
            <a:r>
              <a:rPr sz="1300" b="1">
                <a:solidFill>
                  <a:srgbClr val="1E2629"/>
                </a:solidFill>
                <a:latin typeface="Arial"/>
              </a:rPr>
              <a:t>Acoustics</a:t>
            </a:r>
          </a:p>
          <a:p>
            <a:pPr algn="l">
              <a:spcBef>
                <a:spcPts val="100"/>
              </a:spcBef>
            </a:pPr>
            <a:r>
              <a:rPr sz="1100" b="0">
                <a:solidFill>
                  <a:srgbClr val="4B5859"/>
                </a:solidFill>
                <a:latin typeface="Arial"/>
              </a:rPr>
              <a:t>GCC-PHAT direction</a:t>
            </a:r>
          </a:p>
        </p:txBody>
      </p:sp>
      <p:sp xmlns:a="http://schemas.openxmlformats.org/drawingml/2006/main">
        <p:nvSpPr>
          <p:cNvPr id="61" name="Rectangle 60"/>
          <p:cNvSpPr/>
          <p:nvPr/>
        </p:nvSpPr>
        <p:spPr>
          <a:xfrm>
            <a:off x="6858000" y="3511296"/>
            <a:ext cx="1810512"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2" name="TextBox 61"/>
          <p:cNvSpPr txBox="1"/>
          <p:nvPr/>
        </p:nvSpPr>
        <p:spPr>
          <a:xfrm>
            <a:off x="6967728" y="3511296"/>
            <a:ext cx="1627632" cy="658368"/>
          </a:xfrm>
          <a:prstGeom prst="rect">
            <a:avLst/>
          </a:prstGeom>
          <a:noFill/>
        </p:spPr>
        <p:txBody>
          <a:bodyPr wrap="square" lIns="0" rIns="0" tIns="0" bIns="0" anchor="ctr">
            <a:spAutoFit/>
          </a:bodyPr>
          <a:lstStyle/>
          <a:p>
            <a:pPr algn="l"/>
            <a:r>
              <a:rPr sz="1300" b="1">
                <a:solidFill>
                  <a:srgbClr val="1E2629"/>
                </a:solidFill>
                <a:latin typeface="Arial"/>
              </a:rPr>
              <a:t>Sound sources</a:t>
            </a:r>
          </a:p>
          <a:p>
            <a:pPr algn="l">
              <a:spcBef>
                <a:spcPts val="100"/>
              </a:spcBef>
            </a:pPr>
            <a:r>
              <a:rPr sz="1100" b="0">
                <a:solidFill>
                  <a:srgbClr val="4B5859"/>
                </a:solidFill>
                <a:latin typeface="Arial"/>
              </a:rPr>
              <a:t>bearing + map cells</a:t>
            </a:r>
          </a:p>
        </p:txBody>
      </p:sp>
      <p:sp xmlns:a="http://schemas.openxmlformats.org/drawingml/2006/main">
        <p:nvSpPr>
          <p:cNvPr id="63" name="Rectangle 62"/>
          <p:cNvSpPr/>
          <p:nvPr/>
        </p:nvSpPr>
        <p:spPr>
          <a:xfrm>
            <a:off x="4773168" y="4352544"/>
            <a:ext cx="1810512"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4" name="TextBox 63"/>
          <p:cNvSpPr txBox="1"/>
          <p:nvPr/>
        </p:nvSpPr>
        <p:spPr>
          <a:xfrm>
            <a:off x="4882896" y="4352544"/>
            <a:ext cx="1627632" cy="658368"/>
          </a:xfrm>
          <a:prstGeom prst="rect">
            <a:avLst/>
          </a:prstGeom>
          <a:noFill/>
        </p:spPr>
        <p:txBody>
          <a:bodyPr wrap="square" lIns="0" rIns="0" tIns="0" bIns="0" anchor="ctr">
            <a:spAutoFit/>
          </a:bodyPr>
          <a:lstStyle/>
          <a:p>
            <a:pPr algn="l"/>
            <a:r>
              <a:rPr sz="1300" b="1">
                <a:solidFill>
                  <a:srgbClr val="1E2629"/>
                </a:solidFill>
                <a:latin typeface="Arial"/>
              </a:rPr>
              <a:t>Speech gate</a:t>
            </a:r>
          </a:p>
          <a:p>
            <a:pPr algn="l">
              <a:spcBef>
                <a:spcPts val="100"/>
              </a:spcBef>
            </a:pPr>
            <a:r>
              <a:rPr sz="1100" b="0">
                <a:solidFill>
                  <a:srgbClr val="4B5859"/>
                </a:solidFill>
                <a:latin typeface="Arial"/>
              </a:rPr>
              <a:t>voice segments only</a:t>
            </a:r>
          </a:p>
        </p:txBody>
      </p:sp>
      <p:sp xmlns:a="http://schemas.openxmlformats.org/drawingml/2006/main">
        <p:nvSpPr>
          <p:cNvPr id="65" name="Rectangle 64"/>
          <p:cNvSpPr/>
          <p:nvPr/>
        </p:nvSpPr>
        <p:spPr>
          <a:xfrm>
            <a:off x="6858000" y="4352544"/>
            <a:ext cx="1810512" cy="658368"/>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6" name="TextBox 65"/>
          <p:cNvSpPr txBox="1"/>
          <p:nvPr/>
        </p:nvSpPr>
        <p:spPr>
          <a:xfrm>
            <a:off x="6967728" y="4352544"/>
            <a:ext cx="1627632" cy="658368"/>
          </a:xfrm>
          <a:prstGeom prst="rect">
            <a:avLst/>
          </a:prstGeom>
          <a:noFill/>
        </p:spPr>
        <p:txBody>
          <a:bodyPr wrap="square" lIns="0" rIns="0" tIns="0" bIns="0" anchor="ctr">
            <a:spAutoFit/>
          </a:bodyPr>
          <a:lstStyle/>
          <a:p>
            <a:pPr algn="l"/>
            <a:r>
              <a:rPr sz="1300" b="1">
                <a:solidFill>
                  <a:srgbClr val="1E2629"/>
                </a:solidFill>
                <a:latin typeface="Arial"/>
              </a:rPr>
              <a:t>Sessions</a:t>
            </a:r>
          </a:p>
          <a:p>
            <a:pPr algn="l">
              <a:spcBef>
                <a:spcPts val="100"/>
              </a:spcBef>
            </a:pPr>
            <a:r>
              <a:rPr sz="1100" b="0">
                <a:solidFill>
                  <a:srgbClr val="4B5859"/>
                </a:solidFill>
                <a:latin typeface="Arial"/>
              </a:rPr>
              <a:t>save · replay · export</a:t>
            </a:r>
          </a:p>
        </p:txBody>
      </p:sp>
      <p:cxnSp xmlns:a="http://schemas.openxmlformats.org/drawingml/2006/main">
        <p:nvCxnSpPr>
          <p:cNvPr id="67" name="Connector 66"/>
          <p:cNvCxnSpPr/>
          <p:nvPr/>
        </p:nvCxnSpPr>
        <p:spPr>
          <a:xfrm>
            <a:off x="5678424" y="2487168"/>
            <a:ext cx="0" cy="182880"/>
          </a:xfrm>
          <a:prstGeom prst="line">
            <a:avLst/>
          </a:prstGeom>
          <a:ln w="15875">
            <a:solidFill>
              <a:srgbClr val="0B7F7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a:off x="6583679" y="2999232"/>
            <a:ext cx="274321" cy="0"/>
          </a:xfrm>
          <a:prstGeom prst="line">
            <a:avLst/>
          </a:prstGeom>
          <a:ln w="15875">
            <a:solidFill>
              <a:srgbClr val="0B7F7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a:off x="6583679" y="3840480"/>
            <a:ext cx="274321" cy="0"/>
          </a:xfrm>
          <a:prstGeom prst="line">
            <a:avLst/>
          </a:prstGeom>
          <a:ln w="15875">
            <a:solidFill>
              <a:srgbClr val="0B7F7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a:off x="7763256" y="3328416"/>
            <a:ext cx="0" cy="182880"/>
          </a:xfrm>
          <a:prstGeom prst="line">
            <a:avLst/>
          </a:prstGeom>
          <a:ln w="15875">
            <a:solidFill>
              <a:srgbClr val="0B7F7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a:off x="6583679" y="4681728"/>
            <a:ext cx="274321" cy="0"/>
          </a:xfrm>
          <a:prstGeom prst="line">
            <a:avLst/>
          </a:prstGeom>
          <a:ln w="15875">
            <a:solidFill>
              <a:srgbClr val="0B7F7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72" name="Rectangle 71"/>
          <p:cNvSpPr/>
          <p:nvPr/>
        </p:nvSpPr>
        <p:spPr>
          <a:xfrm>
            <a:off x="9326880" y="1417320"/>
            <a:ext cx="2331720" cy="4069080"/>
          </a:xfrm>
          <a:prstGeom prst="rect">
            <a:avLst/>
          </a:prstGeom>
          <a:solidFill>
            <a:srgbClr val="F7F9F8"/>
          </a:solidFill>
          <a:ln w="9525">
            <a:solidFill>
              <a:srgbClr val="CFD8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3" name="TextBox 72"/>
          <p:cNvSpPr txBox="1"/>
          <p:nvPr/>
        </p:nvSpPr>
        <p:spPr>
          <a:xfrm>
            <a:off x="9482328" y="1508760"/>
            <a:ext cx="2057400" cy="274320"/>
          </a:xfrm>
          <a:prstGeom prst="rect">
            <a:avLst/>
          </a:prstGeom>
          <a:noFill/>
        </p:spPr>
        <p:txBody>
          <a:bodyPr wrap="square" lIns="0" rIns="0" tIns="0" bIns="0" anchor="t">
            <a:spAutoFit/>
          </a:bodyPr>
          <a:lstStyle/>
          <a:p>
            <a:pPr algn="l"/>
            <a:r>
              <a:rPr sz="1300" b="1">
                <a:solidFill>
                  <a:srgbClr val="0B7F70"/>
                </a:solidFill>
                <a:latin typeface="Arial"/>
              </a:rPr>
              <a:t>AI models · cloud</a:t>
            </a:r>
          </a:p>
        </p:txBody>
      </p:sp>
      <p:sp xmlns:a="http://schemas.openxmlformats.org/drawingml/2006/main">
        <p:nvSpPr>
          <p:cNvPr id="74" name="Rectangle 73"/>
          <p:cNvSpPr/>
          <p:nvPr/>
        </p:nvSpPr>
        <p:spPr>
          <a:xfrm>
            <a:off x="9464040" y="1828800"/>
            <a:ext cx="2057400" cy="82296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5" name="TextBox 74"/>
          <p:cNvSpPr txBox="1"/>
          <p:nvPr/>
        </p:nvSpPr>
        <p:spPr>
          <a:xfrm>
            <a:off x="9573767" y="1828800"/>
            <a:ext cx="1874519" cy="822960"/>
          </a:xfrm>
          <a:prstGeom prst="rect">
            <a:avLst/>
          </a:prstGeom>
          <a:noFill/>
        </p:spPr>
        <p:txBody>
          <a:bodyPr wrap="square" lIns="0" rIns="0" tIns="0" bIns="0" anchor="ctr">
            <a:spAutoFit/>
          </a:bodyPr>
          <a:lstStyle/>
          <a:p>
            <a:pPr algn="l"/>
            <a:r>
              <a:rPr sz="1300" b="1">
                <a:solidFill>
                  <a:srgbClr val="1E2629"/>
                </a:solidFill>
                <a:latin typeface="Arial"/>
              </a:rPr>
              <a:t>Sarvam Saaras v4</a:t>
            </a:r>
          </a:p>
          <a:p>
            <a:pPr algn="l">
              <a:spcBef>
                <a:spcPts val="100"/>
              </a:spcBef>
            </a:pPr>
            <a:r>
              <a:rPr sz="1100" b="0">
                <a:solidFill>
                  <a:srgbClr val="4B5859"/>
                </a:solidFill>
                <a:latin typeface="Arial"/>
              </a:rPr>
              <a:t>speech → text, 22 Indian languages</a:t>
            </a:r>
          </a:p>
        </p:txBody>
      </p:sp>
      <p:sp xmlns:a="http://schemas.openxmlformats.org/drawingml/2006/main">
        <p:nvSpPr>
          <p:cNvPr id="76" name="Rectangle 75"/>
          <p:cNvSpPr/>
          <p:nvPr/>
        </p:nvSpPr>
        <p:spPr>
          <a:xfrm>
            <a:off x="9464040" y="3017520"/>
            <a:ext cx="2057400" cy="82296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7" name="TextBox 76"/>
          <p:cNvSpPr txBox="1"/>
          <p:nvPr/>
        </p:nvSpPr>
        <p:spPr>
          <a:xfrm>
            <a:off x="9573767" y="3017520"/>
            <a:ext cx="1874519" cy="822960"/>
          </a:xfrm>
          <a:prstGeom prst="rect">
            <a:avLst/>
          </a:prstGeom>
          <a:noFill/>
        </p:spPr>
        <p:txBody>
          <a:bodyPr wrap="square" lIns="0" rIns="0" tIns="0" bIns="0" anchor="ctr">
            <a:spAutoFit/>
          </a:bodyPr>
          <a:lstStyle/>
          <a:p>
            <a:pPr algn="l"/>
            <a:r>
              <a:rPr sz="1300" b="1">
                <a:solidFill>
                  <a:srgbClr val="1E2629"/>
                </a:solidFill>
                <a:latin typeface="Arial"/>
              </a:rPr>
              <a:t>Jev (TypeSafe)</a:t>
            </a:r>
          </a:p>
          <a:p>
            <a:pPr algn="l">
              <a:spcBef>
                <a:spcPts val="100"/>
              </a:spcBef>
            </a:pPr>
            <a:r>
              <a:rPr sz="1100" b="0">
                <a:solidFill>
                  <a:srgbClr val="4B5859"/>
                </a:solidFill>
                <a:latin typeface="Arial"/>
              </a:rPr>
              <a:t>yes / no: call for help? rank findings</a:t>
            </a:r>
          </a:p>
        </p:txBody>
      </p:sp>
      <p:sp xmlns:a="http://schemas.openxmlformats.org/drawingml/2006/main">
        <p:nvSpPr>
          <p:cNvPr id="78" name="Rectangle 77"/>
          <p:cNvSpPr/>
          <p:nvPr/>
        </p:nvSpPr>
        <p:spPr>
          <a:xfrm>
            <a:off x="9464040" y="4206240"/>
            <a:ext cx="2057400" cy="82296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9" name="TextBox 78"/>
          <p:cNvSpPr txBox="1"/>
          <p:nvPr/>
        </p:nvSpPr>
        <p:spPr>
          <a:xfrm>
            <a:off x="9573767" y="4206240"/>
            <a:ext cx="1874519" cy="822960"/>
          </a:xfrm>
          <a:prstGeom prst="rect">
            <a:avLst/>
          </a:prstGeom>
          <a:noFill/>
        </p:spPr>
        <p:txBody>
          <a:bodyPr wrap="square" lIns="0" rIns="0" tIns="0" bIns="0" anchor="ctr">
            <a:spAutoFit/>
          </a:bodyPr>
          <a:lstStyle/>
          <a:p>
            <a:pPr algn="l"/>
            <a:r>
              <a:rPr sz="1300" b="1">
                <a:solidFill>
                  <a:srgbClr val="1E2629"/>
                </a:solidFill>
                <a:latin typeface="Arial"/>
              </a:rPr>
              <a:t>Gemini 3.5 Flash</a:t>
            </a:r>
          </a:p>
          <a:p>
            <a:pPr algn="l">
              <a:spcBef>
                <a:spcPts val="100"/>
              </a:spcBef>
            </a:pPr>
            <a:r>
              <a:rPr sz="1100" b="0">
                <a:solidFill>
                  <a:srgbClr val="4B5859"/>
                </a:solidFill>
                <a:latin typeface="Arial"/>
              </a:rPr>
              <a:t>written situation report</a:t>
            </a:r>
          </a:p>
        </p:txBody>
      </p:sp>
      <p:cxnSp xmlns:a="http://schemas.openxmlformats.org/drawingml/2006/main">
        <p:nvCxnSpPr>
          <p:cNvPr id="80" name="Connector 79"/>
          <p:cNvCxnSpPr/>
          <p:nvPr/>
        </p:nvCxnSpPr>
        <p:spPr>
          <a:xfrm>
            <a:off x="10492740" y="2651760"/>
            <a:ext cx="0" cy="365760"/>
          </a:xfrm>
          <a:prstGeom prst="line">
            <a:avLst/>
          </a:prstGeom>
          <a:ln w="15875">
            <a:solidFill>
              <a:srgbClr val="0B7F7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1" name="TextBox 80"/>
          <p:cNvSpPr txBox="1"/>
          <p:nvPr/>
        </p:nvSpPr>
        <p:spPr>
          <a:xfrm>
            <a:off x="10561320" y="2724912"/>
            <a:ext cx="1005840" cy="201168"/>
          </a:xfrm>
          <a:prstGeom prst="rect">
            <a:avLst/>
          </a:prstGeom>
          <a:noFill/>
        </p:spPr>
        <p:txBody>
          <a:bodyPr wrap="square" lIns="0" rIns="0" tIns="0" bIns="0" anchor="t">
            <a:spAutoFit/>
          </a:bodyPr>
          <a:lstStyle/>
          <a:p>
            <a:pPr algn="l"/>
            <a:r>
              <a:rPr sz="1050" b="0">
                <a:solidFill>
                  <a:srgbClr val="0B7F70"/>
                </a:solidFill>
                <a:latin typeface="Arial"/>
              </a:rPr>
              <a:t>transcript</a:t>
            </a:r>
          </a:p>
        </p:txBody>
      </p:sp>
      <p:cxnSp xmlns:a="http://schemas.openxmlformats.org/drawingml/2006/main">
        <p:nvCxnSpPr>
          <p:cNvPr id="82" name="Connector 81"/>
          <p:cNvCxnSpPr/>
          <p:nvPr/>
        </p:nvCxnSpPr>
        <p:spPr>
          <a:xfrm>
            <a:off x="8823960" y="2240280"/>
            <a:ext cx="640080" cy="0"/>
          </a:xfrm>
          <a:prstGeom prst="line">
            <a:avLst/>
          </a:prstGeom>
          <a:ln w="19050">
            <a:solidFill>
              <a:srgbClr val="0B7F7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3" name="TextBox 82"/>
          <p:cNvSpPr txBox="1"/>
          <p:nvPr/>
        </p:nvSpPr>
        <p:spPr>
          <a:xfrm>
            <a:off x="8778240" y="1920240"/>
            <a:ext cx="731520" cy="201168"/>
          </a:xfrm>
          <a:prstGeom prst="rect">
            <a:avLst/>
          </a:prstGeom>
          <a:noFill/>
        </p:spPr>
        <p:txBody>
          <a:bodyPr wrap="square" lIns="0" rIns="0" tIns="0" bIns="0" anchor="t">
            <a:spAutoFit/>
          </a:bodyPr>
          <a:lstStyle/>
          <a:p>
            <a:pPr algn="ctr"/>
            <a:r>
              <a:rPr sz="1050" b="0">
                <a:solidFill>
                  <a:srgbClr val="0B7F70"/>
                </a:solidFill>
                <a:latin typeface="Arial"/>
              </a:rPr>
              <a:t>voice clip</a:t>
            </a:r>
          </a:p>
        </p:txBody>
      </p:sp>
      <p:cxnSp xmlns:a="http://schemas.openxmlformats.org/drawingml/2006/main">
        <p:nvCxnSpPr>
          <p:cNvPr id="84" name="Connector 83"/>
          <p:cNvCxnSpPr/>
          <p:nvPr/>
        </p:nvCxnSpPr>
        <p:spPr>
          <a:xfrm>
            <a:off x="8823960" y="3429000"/>
            <a:ext cx="640080" cy="0"/>
          </a:xfrm>
          <a:prstGeom prst="line">
            <a:avLst/>
          </a:prstGeom>
          <a:ln w="19050">
            <a:solidFill>
              <a:srgbClr val="0B7F7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5" name="TextBox 84"/>
          <p:cNvSpPr txBox="1"/>
          <p:nvPr/>
        </p:nvSpPr>
        <p:spPr>
          <a:xfrm>
            <a:off x="8778240" y="3108960"/>
            <a:ext cx="731520" cy="201168"/>
          </a:xfrm>
          <a:prstGeom prst="rect">
            <a:avLst/>
          </a:prstGeom>
          <a:noFill/>
        </p:spPr>
        <p:txBody>
          <a:bodyPr wrap="square" lIns="0" rIns="0" tIns="0" bIns="0" anchor="t">
            <a:spAutoFit/>
          </a:bodyPr>
          <a:lstStyle/>
          <a:p>
            <a:pPr algn="ctr"/>
            <a:r>
              <a:rPr sz="1050" b="0">
                <a:solidFill>
                  <a:srgbClr val="0B7F70"/>
                </a:solidFill>
                <a:latin typeface="Arial"/>
              </a:rPr>
              <a:t>findings</a:t>
            </a:r>
          </a:p>
        </p:txBody>
      </p:sp>
      <p:cxnSp xmlns:a="http://schemas.openxmlformats.org/drawingml/2006/main">
        <p:nvCxnSpPr>
          <p:cNvPr id="86" name="Connector 85"/>
          <p:cNvCxnSpPr/>
          <p:nvPr/>
        </p:nvCxnSpPr>
        <p:spPr>
          <a:xfrm>
            <a:off x="8823960" y="4617720"/>
            <a:ext cx="640080" cy="0"/>
          </a:xfrm>
          <a:prstGeom prst="line">
            <a:avLst/>
          </a:prstGeom>
          <a:ln w="19050">
            <a:solidFill>
              <a:srgbClr val="0B7F7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7" name="TextBox 86"/>
          <p:cNvSpPr txBox="1"/>
          <p:nvPr/>
        </p:nvSpPr>
        <p:spPr>
          <a:xfrm>
            <a:off x="8778240" y="4297680"/>
            <a:ext cx="731520" cy="201168"/>
          </a:xfrm>
          <a:prstGeom prst="rect">
            <a:avLst/>
          </a:prstGeom>
          <a:noFill/>
        </p:spPr>
        <p:txBody>
          <a:bodyPr wrap="square" lIns="0" rIns="0" tIns="0" bIns="0" anchor="t">
            <a:spAutoFit/>
          </a:bodyPr>
          <a:lstStyle/>
          <a:p>
            <a:pPr algn="ctr"/>
            <a:r>
              <a:rPr sz="1050" b="0">
                <a:solidFill>
                  <a:srgbClr val="0B7F70"/>
                </a:solidFill>
                <a:latin typeface="Arial"/>
              </a:rPr>
              <a:t>summary</a:t>
            </a:r>
          </a:p>
        </p:txBody>
      </p:sp>
      <p:sp xmlns:a="http://schemas.openxmlformats.org/drawingml/2006/main">
        <p:nvSpPr>
          <p:cNvPr id="88" name="TextBox 87"/>
          <p:cNvSpPr txBox="1"/>
          <p:nvPr/>
        </p:nvSpPr>
        <p:spPr>
          <a:xfrm>
            <a:off x="9464040" y="5138928"/>
            <a:ext cx="2103120" cy="274320"/>
          </a:xfrm>
          <a:prstGeom prst="rect">
            <a:avLst/>
          </a:prstGeom>
          <a:noFill/>
        </p:spPr>
        <p:txBody>
          <a:bodyPr wrap="square" lIns="0" rIns="0" tIns="0" bIns="0" anchor="t">
            <a:spAutoFit/>
          </a:bodyPr>
          <a:lstStyle/>
          <a:p>
            <a:pPr algn="l"/>
            <a:r>
              <a:rPr sz="1050" b="0">
                <a:solidFill>
                  <a:srgbClr val="6E7C7D"/>
                </a:solidFill>
                <a:latin typeface="Arial"/>
              </a:rPr>
              <a:t>called only when needed</a:t>
            </a:r>
          </a:p>
        </p:txBody>
      </p:sp>
      <p:cxnSp xmlns:a="http://schemas.openxmlformats.org/drawingml/2006/main">
        <p:nvCxnSpPr>
          <p:cNvPr id="89" name="Connector 88"/>
          <p:cNvCxnSpPr/>
          <p:nvPr/>
        </p:nvCxnSpPr>
        <p:spPr>
          <a:xfrm>
            <a:off x="6720840" y="5486400"/>
            <a:ext cx="0" cy="228600"/>
          </a:xfrm>
          <a:prstGeom prst="line">
            <a:avLst/>
          </a:prstGeom>
          <a:ln w="25400">
            <a:solidFill>
              <a:srgbClr val="0B7F7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90" name="Rectangle 89"/>
          <p:cNvSpPr/>
          <p:nvPr/>
        </p:nvSpPr>
        <p:spPr>
          <a:xfrm>
            <a:off x="4617720" y="5715000"/>
            <a:ext cx="4206240" cy="548640"/>
          </a:xfrm>
          <a:prstGeom prst="rect">
            <a:avLst/>
          </a:prstGeom>
          <a:solidFill>
            <a:srgbClr val="E2F2EF"/>
          </a:solidFill>
          <a:ln w="9525">
            <a:solidFill>
              <a:srgbClr val="8F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1" name="TextBox 90"/>
          <p:cNvSpPr txBox="1"/>
          <p:nvPr/>
        </p:nvSpPr>
        <p:spPr>
          <a:xfrm>
            <a:off x="4773168" y="5715000"/>
            <a:ext cx="3931920" cy="548640"/>
          </a:xfrm>
          <a:prstGeom prst="rect">
            <a:avLst/>
          </a:prstGeom>
          <a:noFill/>
        </p:spPr>
        <p:txBody>
          <a:bodyPr wrap="square" lIns="0" rIns="0" tIns="0" bIns="0" anchor="ctr">
            <a:spAutoFit/>
          </a:bodyPr>
          <a:lstStyle/>
          <a:p>
            <a:pPr algn="l"/>
            <a:r>
              <a:rPr sz="1400" b="1">
                <a:solidFill>
                  <a:srgbClr val="1E2629"/>
                </a:solidFill>
                <a:latin typeface="Arial"/>
              </a:rPr>
              <a:t>Operator dashboard</a:t>
            </a:r>
          </a:p>
        </p:txBody>
      </p:sp>
      <p:sp xmlns:a="http://schemas.openxmlformats.org/drawingml/2006/main">
        <p:nvSpPr>
          <p:cNvPr id="92" name="TextBox 91"/>
          <p:cNvSpPr txBox="1"/>
          <p:nvPr/>
        </p:nvSpPr>
        <p:spPr>
          <a:xfrm>
            <a:off x="6675120" y="5715000"/>
            <a:ext cx="2011680" cy="548640"/>
          </a:xfrm>
          <a:prstGeom prst="rect">
            <a:avLst/>
          </a:prstGeom>
          <a:noFill/>
        </p:spPr>
        <p:txBody>
          <a:bodyPr wrap="square" lIns="0" rIns="0" tIns="0" bIns="0" anchor="ctr">
            <a:spAutoFit/>
          </a:bodyPr>
          <a:lstStyle/>
          <a:p>
            <a:pPr algn="r"/>
            <a:r>
              <a:rPr sz="1200" b="0">
                <a:solidFill>
                  <a:srgbClr val="0B7F70"/>
                </a:solidFill>
                <a:latin typeface="Arial"/>
              </a:rPr>
              <a:t>React · live WebSocket</a:t>
            </a:r>
          </a:p>
        </p:txBody>
      </p:sp>
    </p:spTree>
    <p:extLst>
      <p:ext uri="{BB962C8B-B14F-4D97-AF65-F5344CB8AC3E}">
        <p14:creationId xmlns:p14="http://schemas.microsoft.com/office/powerpoint/2010/main" val="1344042575"/>
      </p:ext>
    </p:extLst>
  </p:cSld>
</p:sld>
</file>

<file path=ppt/slides/slide9.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From the ESP32 to the backend</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09</a:t>
            </a:r>
          </a:p>
        </p:txBody>
      </p:sp>
      <p:sp xmlns:a="http://schemas.openxmlformats.org/drawingml/2006/main">
        <p:nvSpPr>
          <p:cNvPr id="29" name="TextBox 28"/>
          <p:cNvSpPr txBox="1"/>
          <p:nvPr/>
        </p:nvSpPr>
        <p:spPr>
          <a:xfrm>
            <a:off x="530352" y="1408176"/>
            <a:ext cx="11128248" cy="365760"/>
          </a:xfrm>
          <a:prstGeom prst="rect">
            <a:avLst/>
          </a:prstGeom>
          <a:noFill/>
        </p:spPr>
        <p:txBody>
          <a:bodyPr wrap="square" lIns="0" rIns="0" tIns="0" bIns="0" anchor="t">
            <a:spAutoFit/>
          </a:bodyPr>
          <a:lstStyle/>
          <a:p>
            <a:pPr algn="l"/>
            <a:r>
              <a:rPr sz="2000" b="1">
                <a:solidFill>
                  <a:srgbClr val="0B7F70"/>
                </a:solidFill>
                <a:latin typeface="Arial"/>
              </a:rPr>
              <a:t>One Wi-Fi link carries everything; the backend splits it into simple modules</a:t>
            </a:r>
          </a:p>
        </p:txBody>
      </p:sp>
      <p:sp xmlns:a="http://schemas.openxmlformats.org/drawingml/2006/main">
        <p:nvSpPr>
          <p:cNvPr id="30" name="Rectangle 29"/>
          <p:cNvSpPr/>
          <p:nvPr/>
        </p:nvSpPr>
        <p:spPr>
          <a:xfrm>
            <a:off x="530352" y="1965960"/>
            <a:ext cx="3291840" cy="416052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TextBox 30"/>
          <p:cNvSpPr txBox="1"/>
          <p:nvPr/>
        </p:nvSpPr>
        <p:spPr>
          <a:xfrm>
            <a:off x="731520" y="2103120"/>
            <a:ext cx="2926080" cy="365760"/>
          </a:xfrm>
          <a:prstGeom prst="rect">
            <a:avLst/>
          </a:prstGeom>
          <a:noFill/>
        </p:spPr>
        <p:txBody>
          <a:bodyPr wrap="square" lIns="0" rIns="0" tIns="0" bIns="0" anchor="t">
            <a:spAutoFit/>
          </a:bodyPr>
          <a:lstStyle/>
          <a:p>
            <a:pPr algn="l"/>
            <a:r>
              <a:rPr sz="1700" b="1">
                <a:solidFill>
                  <a:srgbClr val="1E2629"/>
                </a:solidFill>
                <a:latin typeface="Arial"/>
              </a:rPr>
              <a:t>ESP32-S3 firmware</a:t>
            </a:r>
          </a:p>
        </p:txBody>
      </p:sp>
      <p:sp xmlns:a="http://schemas.openxmlformats.org/drawingml/2006/main">
        <p:nvSpPr>
          <p:cNvPr id="32" name="TextBox 31"/>
          <p:cNvSpPr txBox="1"/>
          <p:nvPr/>
        </p:nvSpPr>
        <p:spPr>
          <a:xfrm>
            <a:off x="731520" y="2606040"/>
            <a:ext cx="2926080" cy="777240"/>
          </a:xfrm>
          <a:prstGeom prst="rect">
            <a:avLst/>
          </a:prstGeom>
          <a:noFill/>
        </p:spPr>
        <p:txBody>
          <a:bodyPr wrap="square" lIns="0" rIns="0" tIns="0" bIns="0" anchor="t">
            <a:spAutoFit/>
          </a:bodyPr>
          <a:lstStyle/>
          <a:p>
            <a:pPr algn="l"/>
            <a:r>
              <a:rPr sz="1400" b="1">
                <a:solidFill>
                  <a:srgbClr val="0B7F70"/>
                </a:solidFill>
                <a:latin typeface="Arial"/>
              </a:rPr>
              <a:t>LiDAR relay</a:t>
            </a:r>
          </a:p>
          <a:p>
            <a:pPr algn="l">
              <a:spcBef>
                <a:spcPts val="200"/>
              </a:spcBef>
            </a:pPr>
            <a:r>
              <a:rPr sz="1300" b="0">
                <a:solidFill>
                  <a:srgbClr val="4B5859"/>
                </a:solidFill>
                <a:latin typeface="Arial"/>
              </a:rPr>
              <a:t>UART 1 Mbaud in, TCP port 8899 out</a:t>
            </a:r>
          </a:p>
        </p:txBody>
      </p:sp>
      <p:sp xmlns:a="http://schemas.openxmlformats.org/drawingml/2006/main">
        <p:nvSpPr>
          <p:cNvPr id="33" name="TextBox 32"/>
          <p:cNvSpPr txBox="1"/>
          <p:nvPr/>
        </p:nvSpPr>
        <p:spPr>
          <a:xfrm>
            <a:off x="731520" y="3447288"/>
            <a:ext cx="2926080" cy="777240"/>
          </a:xfrm>
          <a:prstGeom prst="rect">
            <a:avLst/>
          </a:prstGeom>
          <a:noFill/>
        </p:spPr>
        <p:txBody>
          <a:bodyPr wrap="square" lIns="0" rIns="0" tIns="0" bIns="0" anchor="t">
            <a:spAutoFit/>
          </a:bodyPr>
          <a:lstStyle/>
          <a:p>
            <a:pPr algn="l"/>
            <a:r>
              <a:rPr sz="1400" b="1">
                <a:solidFill>
                  <a:srgbClr val="0B7F70"/>
                </a:solidFill>
                <a:latin typeface="Arial"/>
              </a:rPr>
              <a:t>Tilt control</a:t>
            </a:r>
          </a:p>
          <a:p>
            <a:pPr algn="l">
              <a:spcBef>
                <a:spcPts val="200"/>
              </a:spcBef>
            </a:pPr>
            <a:r>
              <a:rPr sz="1300" b="0">
                <a:solidFill>
                  <a:srgbClr val="4B5859"/>
                </a:solidFill>
                <a:latin typeface="Arial"/>
              </a:rPr>
              <a:t>servo PWM, commands on port 8900</a:t>
            </a:r>
          </a:p>
        </p:txBody>
      </p:sp>
      <p:sp xmlns:a="http://schemas.openxmlformats.org/drawingml/2006/main">
        <p:nvSpPr>
          <p:cNvPr id="34" name="TextBox 33"/>
          <p:cNvSpPr txBox="1"/>
          <p:nvPr/>
        </p:nvSpPr>
        <p:spPr>
          <a:xfrm>
            <a:off x="731520" y="4288536"/>
            <a:ext cx="2926080" cy="777240"/>
          </a:xfrm>
          <a:prstGeom prst="rect">
            <a:avLst/>
          </a:prstGeom>
          <a:noFill/>
        </p:spPr>
        <p:txBody>
          <a:bodyPr wrap="square" lIns="0" rIns="0" tIns="0" bIns="0" anchor="t">
            <a:spAutoFit/>
          </a:bodyPr>
          <a:lstStyle/>
          <a:p>
            <a:pPr algn="l"/>
            <a:r>
              <a:rPr sz="1400" b="1">
                <a:solidFill>
                  <a:srgbClr val="0B7F70"/>
                </a:solidFill>
                <a:latin typeface="Arial"/>
              </a:rPr>
              <a:t>Microphones</a:t>
            </a:r>
          </a:p>
          <a:p>
            <a:pPr algn="l">
              <a:spcBef>
                <a:spcPts val="200"/>
              </a:spcBef>
            </a:pPr>
            <a:r>
              <a:rPr sz="1300" b="0">
                <a:solidFill>
                  <a:srgbClr val="4B5859"/>
                </a:solidFill>
                <a:latin typeface="Arial"/>
              </a:rPr>
              <a:t>4 × I²S at 16 kHz, port 8901 / 8902</a:t>
            </a:r>
          </a:p>
        </p:txBody>
      </p:sp>
      <p:sp xmlns:a="http://schemas.openxmlformats.org/drawingml/2006/main">
        <p:nvSpPr>
          <p:cNvPr id="35" name="TextBox 34"/>
          <p:cNvSpPr txBox="1"/>
          <p:nvPr/>
        </p:nvSpPr>
        <p:spPr>
          <a:xfrm>
            <a:off x="731520" y="5129784"/>
            <a:ext cx="2926080" cy="777240"/>
          </a:xfrm>
          <a:prstGeom prst="rect">
            <a:avLst/>
          </a:prstGeom>
          <a:noFill/>
        </p:spPr>
        <p:txBody>
          <a:bodyPr wrap="square" lIns="0" rIns="0" tIns="0" bIns="0" anchor="t">
            <a:spAutoFit/>
          </a:bodyPr>
          <a:lstStyle/>
          <a:p>
            <a:pPr algn="l"/>
            <a:r>
              <a:rPr sz="1400" b="1">
                <a:solidFill>
                  <a:srgbClr val="0B7F70"/>
                </a:solidFill>
                <a:latin typeface="Arial"/>
              </a:rPr>
              <a:t>Own Wi-Fi</a:t>
            </a:r>
          </a:p>
          <a:p>
            <a:pPr algn="l">
              <a:spcBef>
                <a:spcPts val="200"/>
              </a:spcBef>
            </a:pPr>
            <a:r>
              <a:rPr sz="1300" b="0">
                <a:solidFill>
                  <a:srgbClr val="4B5859"/>
                </a:solidFill>
                <a:latin typeface="Arial"/>
              </a:rPr>
              <a:t>network SLAM-Test, 192.168.4.1</a:t>
            </a:r>
          </a:p>
        </p:txBody>
      </p:sp>
      <p:cxnSp xmlns:a="http://schemas.openxmlformats.org/drawingml/2006/main">
        <p:nvCxnSpPr>
          <p:cNvPr id="36" name="Connector 35"/>
          <p:cNvCxnSpPr/>
          <p:nvPr/>
        </p:nvCxnSpPr>
        <p:spPr>
          <a:xfrm>
            <a:off x="3931920" y="4023360"/>
            <a:ext cx="685800" cy="0"/>
          </a:xfrm>
          <a:prstGeom prst="line">
            <a:avLst/>
          </a:prstGeom>
          <a:ln w="25400">
            <a:solidFill>
              <a:srgbClr val="0B7F7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7" name="TextBox 36"/>
          <p:cNvSpPr txBox="1"/>
          <p:nvPr/>
        </p:nvSpPr>
        <p:spPr>
          <a:xfrm>
            <a:off x="3886200" y="3611880"/>
            <a:ext cx="822960" cy="320040"/>
          </a:xfrm>
          <a:prstGeom prst="rect">
            <a:avLst/>
          </a:prstGeom>
          <a:noFill/>
        </p:spPr>
        <p:txBody>
          <a:bodyPr wrap="square" lIns="0" rIns="0" tIns="0" bIns="0" anchor="t">
            <a:spAutoFit/>
          </a:bodyPr>
          <a:lstStyle/>
          <a:p>
            <a:pPr algn="ctr"/>
            <a:r>
              <a:rPr sz="1300" b="0">
                <a:solidFill>
                  <a:srgbClr val="0B7F70"/>
                </a:solidFill>
                <a:latin typeface="Arial"/>
              </a:rPr>
              <a:t>Wi-Fi</a:t>
            </a:r>
          </a:p>
        </p:txBody>
      </p:sp>
      <p:sp xmlns:a="http://schemas.openxmlformats.org/drawingml/2006/main">
        <p:nvSpPr>
          <p:cNvPr id="38" name="Rectangle 37"/>
          <p:cNvSpPr/>
          <p:nvPr/>
        </p:nvSpPr>
        <p:spPr>
          <a:xfrm>
            <a:off x="4709160" y="1965960"/>
            <a:ext cx="6949440" cy="324612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4910328" y="2103120"/>
            <a:ext cx="6583680" cy="365760"/>
          </a:xfrm>
          <a:prstGeom prst="rect">
            <a:avLst/>
          </a:prstGeom>
          <a:noFill/>
        </p:spPr>
        <p:txBody>
          <a:bodyPr wrap="square" lIns="0" rIns="0" tIns="0" bIns="0" anchor="t">
            <a:spAutoFit/>
          </a:bodyPr>
          <a:lstStyle/>
          <a:p>
            <a:pPr algn="l"/>
            <a:r>
              <a:rPr sz="1700" b="1">
                <a:solidFill>
                  <a:srgbClr val="1E2629"/>
                </a:solidFill>
                <a:latin typeface="Arial"/>
              </a:rPr>
              <a:t>Backend server: Python 3.12 + FastAPI</a:t>
            </a:r>
          </a:p>
        </p:txBody>
      </p:sp>
      <p:sp xmlns:a="http://schemas.openxmlformats.org/drawingml/2006/main">
        <p:nvSpPr>
          <p:cNvPr id="40" name="Rectangle 39"/>
          <p:cNvSpPr/>
          <p:nvPr/>
        </p:nvSpPr>
        <p:spPr>
          <a:xfrm>
            <a:off x="4910328" y="2606040"/>
            <a:ext cx="2075688" cy="1051560"/>
          </a:xfrm>
          <a:prstGeom prst="rect">
            <a:avLst/>
          </a:prstGeom>
          <a:solidFill>
            <a:srgbClr val="EAF0EF"/>
          </a:solidFill>
          <a:ln w="9525">
            <a:solidFill>
              <a:srgbClr val="C2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5038344" y="2734056"/>
            <a:ext cx="1828800" cy="822960"/>
          </a:xfrm>
          <a:prstGeom prst="rect">
            <a:avLst/>
          </a:prstGeom>
          <a:noFill/>
        </p:spPr>
        <p:txBody>
          <a:bodyPr wrap="square" lIns="0" rIns="0" tIns="0" bIns="0" anchor="t">
            <a:spAutoFit/>
          </a:bodyPr>
          <a:lstStyle/>
          <a:p>
            <a:pPr algn="l"/>
            <a:r>
              <a:rPr sz="1400" b="1">
                <a:solidFill>
                  <a:srgbClr val="1E2629"/>
                </a:solidFill>
                <a:latin typeface="Arial"/>
              </a:rPr>
              <a:t>LiDAR bridge</a:t>
            </a:r>
          </a:p>
          <a:p>
            <a:pPr algn="l">
              <a:spcBef>
                <a:spcPts val="200"/>
              </a:spcBef>
            </a:pPr>
            <a:r>
              <a:rPr sz="1200" b="0">
                <a:solidFill>
                  <a:srgbClr val="4B5859"/>
                </a:solidFill>
                <a:latin typeface="Arial"/>
              </a:rPr>
              <a:t>C++ on the Slamtec SDK</a:t>
            </a:r>
          </a:p>
        </p:txBody>
      </p:sp>
      <p:sp xmlns:a="http://schemas.openxmlformats.org/drawingml/2006/main">
        <p:nvSpPr>
          <p:cNvPr id="42" name="Rectangle 41"/>
          <p:cNvSpPr/>
          <p:nvPr/>
        </p:nvSpPr>
        <p:spPr>
          <a:xfrm>
            <a:off x="7132320" y="2606040"/>
            <a:ext cx="2075688" cy="1051560"/>
          </a:xfrm>
          <a:prstGeom prst="rect">
            <a:avLst/>
          </a:prstGeom>
          <a:solidFill>
            <a:srgbClr val="EAF0EF"/>
          </a:solidFill>
          <a:ln w="9525">
            <a:solidFill>
              <a:srgbClr val="C2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7260336" y="2734056"/>
            <a:ext cx="1828800" cy="822960"/>
          </a:xfrm>
          <a:prstGeom prst="rect">
            <a:avLst/>
          </a:prstGeom>
          <a:noFill/>
        </p:spPr>
        <p:txBody>
          <a:bodyPr wrap="square" lIns="0" rIns="0" tIns="0" bIns="0" anchor="t">
            <a:spAutoFit/>
          </a:bodyPr>
          <a:lstStyle/>
          <a:p>
            <a:pPr algn="l"/>
            <a:r>
              <a:rPr sz="1400" b="1">
                <a:solidFill>
                  <a:srgbClr val="1E2629"/>
                </a:solidFill>
                <a:latin typeface="Arial"/>
              </a:rPr>
              <a:t>Rig control</a:t>
            </a:r>
          </a:p>
          <a:p>
            <a:pPr algn="l">
              <a:spcBef>
                <a:spcPts val="200"/>
              </a:spcBef>
            </a:pPr>
            <a:r>
              <a:rPr sz="1200" b="0">
                <a:solidFill>
                  <a:srgbClr val="4B5859"/>
                </a:solidFill>
                <a:latin typeface="Arial"/>
              </a:rPr>
              <a:t>tilt sweeps, safety limits</a:t>
            </a:r>
          </a:p>
        </p:txBody>
      </p:sp>
      <p:sp xmlns:a="http://schemas.openxmlformats.org/drawingml/2006/main">
        <p:nvSpPr>
          <p:cNvPr id="44" name="Rectangle 43"/>
          <p:cNvSpPr/>
          <p:nvPr/>
        </p:nvSpPr>
        <p:spPr>
          <a:xfrm>
            <a:off x="9354312" y="2606040"/>
            <a:ext cx="2075688" cy="1051560"/>
          </a:xfrm>
          <a:prstGeom prst="rect">
            <a:avLst/>
          </a:prstGeom>
          <a:solidFill>
            <a:srgbClr val="EAF0EF"/>
          </a:solidFill>
          <a:ln w="9525">
            <a:solidFill>
              <a:srgbClr val="C2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9482328" y="2734056"/>
            <a:ext cx="1828800" cy="822960"/>
          </a:xfrm>
          <a:prstGeom prst="rect">
            <a:avLst/>
          </a:prstGeom>
          <a:noFill/>
        </p:spPr>
        <p:txBody>
          <a:bodyPr wrap="square" lIns="0" rIns="0" tIns="0" bIns="0" anchor="t">
            <a:spAutoFit/>
          </a:bodyPr>
          <a:lstStyle/>
          <a:p>
            <a:pPr algn="l"/>
            <a:r>
              <a:rPr sz="1400" b="1">
                <a:solidFill>
                  <a:srgbClr val="1E2629"/>
                </a:solidFill>
                <a:latin typeface="Arial"/>
              </a:rPr>
              <a:t>Mapping</a:t>
            </a:r>
          </a:p>
          <a:p>
            <a:pPr algn="l">
              <a:spcBef>
                <a:spcPts val="200"/>
              </a:spcBef>
            </a:pPr>
            <a:r>
              <a:rPr sz="1200" b="0">
                <a:solidFill>
                  <a:srgbClr val="4B5859"/>
                </a:solidFill>
                <a:latin typeface="Arial"/>
              </a:rPr>
              <a:t>numpy: room map, 2.5D grid</a:t>
            </a:r>
          </a:p>
        </p:txBody>
      </p:sp>
      <p:sp xmlns:a="http://schemas.openxmlformats.org/drawingml/2006/main">
        <p:nvSpPr>
          <p:cNvPr id="46" name="Rectangle 45"/>
          <p:cNvSpPr/>
          <p:nvPr/>
        </p:nvSpPr>
        <p:spPr>
          <a:xfrm>
            <a:off x="4910328" y="3840480"/>
            <a:ext cx="2075688" cy="1051560"/>
          </a:xfrm>
          <a:prstGeom prst="rect">
            <a:avLst/>
          </a:prstGeom>
          <a:solidFill>
            <a:srgbClr val="EAF0EF"/>
          </a:solidFill>
          <a:ln w="9525">
            <a:solidFill>
              <a:srgbClr val="C2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5038344" y="3968496"/>
            <a:ext cx="1828800" cy="822960"/>
          </a:xfrm>
          <a:prstGeom prst="rect">
            <a:avLst/>
          </a:prstGeom>
          <a:noFill/>
        </p:spPr>
        <p:txBody>
          <a:bodyPr wrap="square" lIns="0" rIns="0" tIns="0" bIns="0" anchor="t">
            <a:spAutoFit/>
          </a:bodyPr>
          <a:lstStyle/>
          <a:p>
            <a:pPr algn="l"/>
            <a:r>
              <a:rPr sz="1400" b="1">
                <a:solidFill>
                  <a:srgbClr val="1E2629"/>
                </a:solidFill>
                <a:latin typeface="Arial"/>
              </a:rPr>
              <a:t>Acoustics</a:t>
            </a:r>
          </a:p>
          <a:p>
            <a:pPr algn="l">
              <a:spcBef>
                <a:spcPts val="200"/>
              </a:spcBef>
            </a:pPr>
            <a:r>
              <a:rPr sz="1200" b="0">
                <a:solidFill>
                  <a:srgbClr val="4B5859"/>
                </a:solidFill>
                <a:latin typeface="Arial"/>
              </a:rPr>
              <a:t>GCC-PHAT direction finding</a:t>
            </a:r>
          </a:p>
        </p:txBody>
      </p:sp>
      <p:sp xmlns:a="http://schemas.openxmlformats.org/drawingml/2006/main">
        <p:nvSpPr>
          <p:cNvPr id="48" name="Rectangle 47"/>
          <p:cNvSpPr/>
          <p:nvPr/>
        </p:nvSpPr>
        <p:spPr>
          <a:xfrm>
            <a:off x="7132320" y="3840480"/>
            <a:ext cx="2075688" cy="1051560"/>
          </a:xfrm>
          <a:prstGeom prst="rect">
            <a:avLst/>
          </a:prstGeom>
          <a:solidFill>
            <a:srgbClr val="EAF0EF"/>
          </a:solidFill>
          <a:ln w="9525">
            <a:solidFill>
              <a:srgbClr val="C2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7260336" y="3968496"/>
            <a:ext cx="1828800" cy="822960"/>
          </a:xfrm>
          <a:prstGeom prst="rect">
            <a:avLst/>
          </a:prstGeom>
          <a:noFill/>
        </p:spPr>
        <p:txBody>
          <a:bodyPr wrap="square" lIns="0" rIns="0" tIns="0" bIns="0" anchor="t">
            <a:spAutoFit/>
          </a:bodyPr>
          <a:lstStyle/>
          <a:p>
            <a:pPr algn="l"/>
            <a:r>
              <a:rPr sz="1400" b="1">
                <a:solidFill>
                  <a:srgbClr val="1E2629"/>
                </a:solidFill>
                <a:latin typeface="Arial"/>
              </a:rPr>
              <a:t>Speech</a:t>
            </a:r>
          </a:p>
          <a:p>
            <a:pPr algn="l">
              <a:spcBef>
                <a:spcPts val="200"/>
              </a:spcBef>
            </a:pPr>
            <a:r>
              <a:rPr sz="1200" b="0">
                <a:solidFill>
                  <a:srgbClr val="4B5859"/>
                </a:solidFill>
                <a:latin typeface="Arial"/>
              </a:rPr>
              <a:t>Sarvam + Jev, help calls</a:t>
            </a:r>
          </a:p>
        </p:txBody>
      </p:sp>
      <p:sp xmlns:a="http://schemas.openxmlformats.org/drawingml/2006/main">
        <p:nvSpPr>
          <p:cNvPr id="50" name="Rectangle 49"/>
          <p:cNvSpPr/>
          <p:nvPr/>
        </p:nvSpPr>
        <p:spPr>
          <a:xfrm>
            <a:off x="9354312" y="3840480"/>
            <a:ext cx="2075688" cy="1051560"/>
          </a:xfrm>
          <a:prstGeom prst="rect">
            <a:avLst/>
          </a:prstGeom>
          <a:solidFill>
            <a:srgbClr val="EAF0EF"/>
          </a:solidFill>
          <a:ln w="9525">
            <a:solidFill>
              <a:srgbClr val="C2CD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9482328" y="3968496"/>
            <a:ext cx="1828800" cy="822960"/>
          </a:xfrm>
          <a:prstGeom prst="rect">
            <a:avLst/>
          </a:prstGeom>
          <a:noFill/>
        </p:spPr>
        <p:txBody>
          <a:bodyPr wrap="square" lIns="0" rIns="0" tIns="0" bIns="0" anchor="t">
            <a:spAutoFit/>
          </a:bodyPr>
          <a:lstStyle/>
          <a:p>
            <a:pPr algn="l"/>
            <a:r>
              <a:rPr sz="1400" b="1">
                <a:solidFill>
                  <a:srgbClr val="1E2629"/>
                </a:solidFill>
                <a:latin typeface="Arial"/>
              </a:rPr>
              <a:t>Sessions</a:t>
            </a:r>
          </a:p>
          <a:p>
            <a:pPr algn="l">
              <a:spcBef>
                <a:spcPts val="200"/>
              </a:spcBef>
            </a:pPr>
            <a:r>
              <a:rPr sz="1200" b="0">
                <a:solidFill>
                  <a:srgbClr val="4B5859"/>
                </a:solidFill>
                <a:latin typeface="Arial"/>
              </a:rPr>
              <a:t>save, replay, PLY / CSV</a:t>
            </a:r>
          </a:p>
        </p:txBody>
      </p:sp>
      <p:cxnSp xmlns:a="http://schemas.openxmlformats.org/drawingml/2006/main">
        <p:nvCxnSpPr>
          <p:cNvPr id="52" name="Connector 51"/>
          <p:cNvCxnSpPr/>
          <p:nvPr/>
        </p:nvCxnSpPr>
        <p:spPr>
          <a:xfrm>
            <a:off x="8183879" y="5257800"/>
            <a:ext cx="0" cy="338328"/>
          </a:xfrm>
          <a:prstGeom prst="line">
            <a:avLst/>
          </a:prstGeom>
          <a:ln w="25400">
            <a:solidFill>
              <a:srgbClr val="0B7F7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3" name="Rectangle 52"/>
          <p:cNvSpPr/>
          <p:nvPr/>
        </p:nvSpPr>
        <p:spPr>
          <a:xfrm>
            <a:off x="4709160" y="5623560"/>
            <a:ext cx="6949440" cy="502920"/>
          </a:xfrm>
          <a:prstGeom prst="rect">
            <a:avLst/>
          </a:prstGeom>
          <a:solidFill>
            <a:srgbClr val="E2F2EF"/>
          </a:solidFill>
          <a:ln w="9525">
            <a:solidFill>
              <a:srgbClr val="8F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4910328" y="5623560"/>
            <a:ext cx="6583680" cy="502920"/>
          </a:xfrm>
          <a:prstGeom prst="rect">
            <a:avLst/>
          </a:prstGeom>
          <a:noFill/>
        </p:spPr>
        <p:txBody>
          <a:bodyPr wrap="square" lIns="0" rIns="0" tIns="0" bIns="0" anchor="ctr">
            <a:spAutoFit/>
          </a:bodyPr>
          <a:lstStyle/>
          <a:p>
            <a:pPr algn="l"/>
            <a:r>
              <a:rPr sz="1400" b="1">
                <a:solidFill>
                  <a:srgbClr val="0B7F70"/>
                </a:solidFill>
                <a:latin typeface="Arial"/>
              </a:rPr>
              <a:t>Dashboard: React in the browser, live over a WebSocket</a:t>
            </a:r>
          </a:p>
        </p:txBody>
      </p:sp>
    </p:spTree>
    <p:extLst>
      <p:ext uri="{BB962C8B-B14F-4D97-AF65-F5344CB8AC3E}">
        <p14:creationId xmlns:p14="http://schemas.microsoft.com/office/powerpoint/2010/main" val="1344042575"/>
      </p:ext>
    </p:extLst>
  </p:cSld>
</p:sld>
</file>

<file path=ppt/slides/slide10.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14cfbdb61ae4e7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Methodology">
            <a:extLst xmlns:a="http://schemas.openxmlformats.org/drawingml/2006/main">
              <a:ext uri="{FF2B5EF4-FFF2-40B4-BE49-F238E27FC236}">
                <a16:creationId xmlns:a16="http://schemas.microsoft.com/office/drawing/2014/main" id="{92B28F8B-BCB7-4C5D-B4E8-D776D898A344}"/>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Methodology</a:t>
            </a:r>
          </a:p>
        </p:txBody>
      </p:sp>
      <p:sp>
        <p:nvSpPr>
          <p:cNvPr id="3" name="">
            <a:extLst xmlns:a="http://schemas.openxmlformats.org/drawingml/2006/main">
              <a:ext uri="{FF2B5EF4-FFF2-40B4-BE49-F238E27FC236}">
                <a16:creationId xmlns:a16="http://schemas.microsoft.com/office/drawing/2014/main" id="{B2C9C9F3-CB8F-4013-8098-B18C6B5FEB93}"/>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4" name="Phase-I presentation">
            <a:extLst xmlns:a="http://schemas.openxmlformats.org/drawingml/2006/main">
              <a:ext uri="{FF2B5EF4-FFF2-40B4-BE49-F238E27FC236}">
                <a16:creationId xmlns:a16="http://schemas.microsoft.com/office/drawing/2014/main" id="{77447A53-7C86-45C8-89BF-2CB36FE581C6}"/>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08">
            <a:extLst xmlns:a="http://schemas.openxmlformats.org/drawingml/2006/main">
              <a:ext uri="{FF2B5EF4-FFF2-40B4-BE49-F238E27FC236}">
                <a16:creationId xmlns:a16="http://schemas.microsoft.com/office/drawing/2014/main" id="{AB9C8391-C9B5-4FE0-B6DA-A046615C4132}"/>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49b7c7c0ea84368">
            <a:extLst>
              <a:ext uri="{96DAC541-7B7A-43D3-8B79-37D633B846F1}">
                <asvg:svgBlip xmlns:asvg="http://schemas.microsoft.com/office/drawing/2016/SVG/main" r:embed="R50f9e443e02944c8"/>
              </a:ext>
            </a:extLst>
          </a:blip>
          <a:stretch xmlns:a="http://schemas.openxmlformats.org/drawingml/2006/main"/>
        </p:blipFill>
        <p:spPr>
          <a:xfrm xmlns:a="http://schemas.openxmlformats.org/drawingml/2006/main">
            <a:off x="533400" y="1819275"/>
            <a:ext cx="628650" cy="628650"/>
          </a:xfrm>
          <a:prstGeom xmlns:a="http://schemas.openxmlformats.org/drawingml/2006/main" prst="rect">
            <a:avLst/>
          </a:prstGeom>
        </p:spPr>
      </p:pic>
      <p:sp>
        <p:nvSpPr>
          <p:cNvPr id="7" name="01">
            <a:extLst xmlns:a="http://schemas.openxmlformats.org/drawingml/2006/main">
              <a:ext uri="{FF2B5EF4-FFF2-40B4-BE49-F238E27FC236}">
                <a16:creationId xmlns:a16="http://schemas.microsoft.com/office/drawing/2014/main" id="{EB638D1B-A551-4D31-8653-C97BB63D1E3A}"/>
              </a:ext>
            </a:extLst>
          </p:cNvPr>
          <p:cNvSpPr>
            <a:spLocks xmlns:a="http://schemas.openxmlformats.org/drawingml/2006/main" noGrp="1"/>
          </p:cNvSpPr>
          <p:nvPr/>
        </p:nvSpPr>
        <p:spPr>
          <a:xfrm xmlns:a="http://schemas.openxmlformats.org/drawingml/2006/main">
            <a:off x="533400" y="2809875"/>
            <a:ext cx="838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0B7F70"/>
                </a:solidFill>
                <a:latin typeface="Arial"/>
                <a:ea typeface="Arial"/>
                <a:cs typeface="Arial"/>
              </a:defRPr>
            </a:pPr>
            <a:r>
              <a:rPr sz="4500" b="1">
                <a:solidFill>
                  <a:srgbClr val="0B7F70"/>
                </a:solidFill>
                <a:latin typeface="Arial"/>
                <a:ea typeface="Arial"/>
                <a:cs typeface="Arial"/>
              </a:rPr>
              <a:t>01</a:t>
            </a:r>
          </a:p>
        </p:txBody>
      </p:sp>
      <p:sp>
        <p:nvSpPr>
          <p:cNvPr id="8" name="FLOW_ARROW">
            <a:extLst xmlns:a="http://schemas.openxmlformats.org/drawingml/2006/main">
              <a:ext uri="{FF2B5EF4-FFF2-40B4-BE49-F238E27FC236}">
                <a16:creationId xmlns:a16="http://schemas.microsoft.com/office/drawing/2014/main" id="{C38695A3-8880-4A55-81A3-4998ED1C22DE}"/>
              </a:ext>
            </a:extLst>
          </p:cNvPr>
          <p:cNvSpPr>
            <a:spLocks xmlns:a="http://schemas.openxmlformats.org/drawingml/2006/main" noGrp="1"/>
          </p:cNvSpPr>
          <p:nvPr/>
        </p:nvSpPr>
        <p:spPr>
          <a:xfrm xmlns:a="http://schemas.openxmlformats.org/drawingml/2006/main">
            <a:off x="1400175" y="3095625"/>
            <a:ext cx="1123950" cy="0"/>
          </a:xfrm>
          <a:prstGeom xmlns:a="http://schemas.openxmlformats.org/drawingml/2006/main" prst="line">
            <a:avLst/>
          </a:prstGeom>
          <a:noFill xmlns:a="http://schemas.openxmlformats.org/drawingml/2006/main"/>
          <a:ln xmlns:a="http://schemas.openxmlformats.org/drawingml/2006/main" w="19050">
            <a:solidFill>
              <a:srgbClr val="C5CFCE"/>
            </a:solidFill>
            <a:tailEnd type="triangle" w="med" len="med"/>
          </a:ln>
        </p:spPr>
      </p:sp>
      <p:sp>
        <p:nvSpPr>
          <p:cNvPr id="9" name="Review and define evidence">
            <a:extLst xmlns:a="http://schemas.openxmlformats.org/drawingml/2006/main">
              <a:ext uri="{FF2B5EF4-FFF2-40B4-BE49-F238E27FC236}">
                <a16:creationId xmlns:a16="http://schemas.microsoft.com/office/drawing/2014/main" id="{CE7A3649-6DF7-460C-B3A6-76A5259BFCC1}"/>
              </a:ext>
            </a:extLst>
          </p:cNvPr>
          <p:cNvSpPr>
            <a:spLocks xmlns:a="http://schemas.openxmlformats.org/drawingml/2006/main" noGrp="1"/>
          </p:cNvSpPr>
          <p:nvPr/>
        </p:nvSpPr>
        <p:spPr>
          <a:xfrm xmlns:a="http://schemas.openxmlformats.org/drawingml/2006/main">
            <a:off x="533400" y="3829050"/>
            <a:ext cx="2009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E2629"/>
                </a:solidFill>
                <a:latin typeface="Arial"/>
                <a:ea typeface="Arial"/>
                <a:cs typeface="Arial"/>
              </a:defRPr>
            </a:pPr>
            <a:r>
              <a:rPr sz="2100" b="1">
                <a:solidFill>
                  <a:srgbClr val="1E2629"/>
                </a:solidFill>
                <a:latin typeface="Arial"/>
                <a:ea typeface="Arial"/>
                <a:cs typeface="Arial"/>
              </a:rPr>
              <a:t>Review and define evidence</a:t>
            </a:r>
          </a:p>
        </p:txBody>
      </p:sp>
      <p:sp>
        <p:nvSpPr>
          <p:cNvPr id="10" name="Choose baselines and set the evaluation protocol.">
            <a:extLst xmlns:a="http://schemas.openxmlformats.org/drawingml/2006/main">
              <a:ext uri="{FF2B5EF4-FFF2-40B4-BE49-F238E27FC236}">
                <a16:creationId xmlns:a16="http://schemas.microsoft.com/office/drawing/2014/main" id="{4867C91E-EB8C-4B08-AAD5-2D83D72ED0A4}"/>
              </a:ext>
            </a:extLst>
          </p:cNvPr>
          <p:cNvSpPr>
            <a:spLocks xmlns:a="http://schemas.openxmlformats.org/drawingml/2006/main" noGrp="1"/>
          </p:cNvSpPr>
          <p:nvPr/>
        </p:nvSpPr>
        <p:spPr>
          <a:xfrm xmlns:a="http://schemas.openxmlformats.org/drawingml/2006/main">
            <a:off x="533400" y="5038725"/>
            <a:ext cx="2009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Choose baselines and set the evaluation protocol.</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2ae928a779194058">
            <a:extLst>
              <a:ext uri="{96DAC541-7B7A-43D3-8B79-37D633B846F1}">
                <asvg:svgBlip xmlns:asvg="http://schemas.microsoft.com/office/drawing/2016/SVG/main" r:embed="R3227fa29fb6a48a6"/>
              </a:ext>
            </a:extLst>
          </a:blip>
          <a:stretch xmlns:a="http://schemas.openxmlformats.org/drawingml/2006/main"/>
        </p:blipFill>
        <p:spPr>
          <a:xfrm xmlns:a="http://schemas.openxmlformats.org/drawingml/2006/main">
            <a:off x="2809875" y="1819275"/>
            <a:ext cx="628650" cy="628650"/>
          </a:xfrm>
          <a:prstGeom xmlns:a="http://schemas.openxmlformats.org/drawingml/2006/main" prst="rect">
            <a:avLst/>
          </a:prstGeom>
        </p:spPr>
      </p:pic>
      <p:sp>
        <p:nvSpPr>
          <p:cNvPr id="12" name="02">
            <a:extLst xmlns:a="http://schemas.openxmlformats.org/drawingml/2006/main">
              <a:ext uri="{FF2B5EF4-FFF2-40B4-BE49-F238E27FC236}">
                <a16:creationId xmlns:a16="http://schemas.microsoft.com/office/drawing/2014/main" id="{1C9E5664-051F-4ED2-BBBA-F46B255610FD}"/>
              </a:ext>
            </a:extLst>
          </p:cNvPr>
          <p:cNvSpPr>
            <a:spLocks xmlns:a="http://schemas.openxmlformats.org/drawingml/2006/main" noGrp="1"/>
          </p:cNvSpPr>
          <p:nvPr/>
        </p:nvSpPr>
        <p:spPr>
          <a:xfrm xmlns:a="http://schemas.openxmlformats.org/drawingml/2006/main">
            <a:off x="2809875" y="2809875"/>
            <a:ext cx="838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0B7F70"/>
                </a:solidFill>
                <a:latin typeface="Arial"/>
                <a:ea typeface="Arial"/>
                <a:cs typeface="Arial"/>
              </a:defRPr>
            </a:pPr>
            <a:r>
              <a:rPr sz="4500" b="1">
                <a:solidFill>
                  <a:srgbClr val="0B7F70"/>
                </a:solidFill>
                <a:latin typeface="Arial"/>
                <a:ea typeface="Arial"/>
                <a:cs typeface="Arial"/>
              </a:rPr>
              <a:t>02</a:t>
            </a:r>
          </a:p>
        </p:txBody>
      </p:sp>
      <p:sp>
        <p:nvSpPr>
          <p:cNvPr id="13" name="FLOW_ARROW">
            <a:extLst xmlns:a="http://schemas.openxmlformats.org/drawingml/2006/main">
              <a:ext uri="{FF2B5EF4-FFF2-40B4-BE49-F238E27FC236}">
                <a16:creationId xmlns:a16="http://schemas.microsoft.com/office/drawing/2014/main" id="{8655FC42-0CCA-4BA1-BD94-D62C091393D9}"/>
              </a:ext>
            </a:extLst>
          </p:cNvPr>
          <p:cNvSpPr>
            <a:spLocks xmlns:a="http://schemas.openxmlformats.org/drawingml/2006/main" noGrp="1"/>
          </p:cNvSpPr>
          <p:nvPr/>
        </p:nvSpPr>
        <p:spPr>
          <a:xfrm xmlns:a="http://schemas.openxmlformats.org/drawingml/2006/main">
            <a:off x="3676650" y="3095625"/>
            <a:ext cx="1123950" cy="0"/>
          </a:xfrm>
          <a:prstGeom xmlns:a="http://schemas.openxmlformats.org/drawingml/2006/main" prst="line">
            <a:avLst/>
          </a:prstGeom>
          <a:noFill xmlns:a="http://schemas.openxmlformats.org/drawingml/2006/main"/>
          <a:ln xmlns:a="http://schemas.openxmlformats.org/drawingml/2006/main" w="19050">
            <a:solidFill>
              <a:srgbClr val="C5CFCE"/>
            </a:solidFill>
            <a:tailEnd type="triangle" w="med" len="med"/>
          </a:ln>
        </p:spPr>
      </p:sp>
      <p:sp>
        <p:nvSpPr>
          <p:cNvPr id="14" name="Calibrate the sensor and mount">
            <a:extLst xmlns:a="http://schemas.openxmlformats.org/drawingml/2006/main">
              <a:ext uri="{FF2B5EF4-FFF2-40B4-BE49-F238E27FC236}">
                <a16:creationId xmlns:a16="http://schemas.microsoft.com/office/drawing/2014/main" id="{635A66F7-F8C2-41CB-9CDF-5C8B96D3109C}"/>
              </a:ext>
            </a:extLst>
          </p:cNvPr>
          <p:cNvSpPr>
            <a:spLocks xmlns:a="http://schemas.openxmlformats.org/drawingml/2006/main" noGrp="1"/>
          </p:cNvSpPr>
          <p:nvPr/>
        </p:nvSpPr>
        <p:spPr>
          <a:xfrm xmlns:a="http://schemas.openxmlformats.org/drawingml/2006/main">
            <a:off x="2809875" y="3829050"/>
            <a:ext cx="2009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E2629"/>
                </a:solidFill>
                <a:latin typeface="Arial"/>
                <a:ea typeface="Arial"/>
                <a:cs typeface="Arial"/>
              </a:defRPr>
            </a:pPr>
            <a:r>
              <a:rPr sz="2100" b="1">
                <a:solidFill>
                  <a:srgbClr val="1E2629"/>
                </a:solidFill>
                <a:latin typeface="Arial"/>
                <a:ea typeface="Arial"/>
                <a:cs typeface="Arial"/>
              </a:rPr>
              <a:t>Calibrate the sensor and mount</a:t>
            </a:r>
          </a:p>
        </p:txBody>
      </p:sp>
      <p:sp>
        <p:nvSpPr>
          <p:cNvPr id="15" name="Check range bias, tilt zero, direction and geometric offsets">
            <a:extLst xmlns:a="http://schemas.openxmlformats.org/drawingml/2006/main">
              <a:ext uri="{FF2B5EF4-FFF2-40B4-BE49-F238E27FC236}">
                <a16:creationId xmlns:a16="http://schemas.microsoft.com/office/drawing/2014/main" id="{C439D9C2-E268-4B82-983F-CE27F6C09C08}"/>
              </a:ext>
            </a:extLst>
          </p:cNvPr>
          <p:cNvSpPr>
            <a:spLocks xmlns:a="http://schemas.openxmlformats.org/drawingml/2006/main" noGrp="1"/>
          </p:cNvSpPr>
          <p:nvPr/>
        </p:nvSpPr>
        <p:spPr>
          <a:xfrm xmlns:a="http://schemas.openxmlformats.org/drawingml/2006/main">
            <a:off x="2809875" y="5038725"/>
            <a:ext cx="2009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Check range bias, tilt zero, direction and geometric offsets.</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10762ea2ef54140">
            <a:extLst>
              <a:ext uri="{96DAC541-7B7A-43D3-8B79-37D633B846F1}">
                <asvg:svgBlip xmlns:asvg="http://schemas.microsoft.com/office/drawing/2016/SVG/main" r:embed="R0759c6670db247af"/>
              </a:ext>
            </a:extLst>
          </a:blip>
          <a:stretch xmlns:a="http://schemas.openxmlformats.org/drawingml/2006/main"/>
        </p:blipFill>
        <p:spPr>
          <a:xfrm xmlns:a="http://schemas.openxmlformats.org/drawingml/2006/main">
            <a:off x="5086350" y="1819275"/>
            <a:ext cx="628650" cy="628650"/>
          </a:xfrm>
          <a:prstGeom xmlns:a="http://schemas.openxmlformats.org/drawingml/2006/main" prst="rect">
            <a:avLst/>
          </a:prstGeom>
        </p:spPr>
      </p:pic>
      <p:sp>
        <p:nvSpPr>
          <p:cNvPr id="17" name="03">
            <a:extLst xmlns:a="http://schemas.openxmlformats.org/drawingml/2006/main">
              <a:ext uri="{FF2B5EF4-FFF2-40B4-BE49-F238E27FC236}">
                <a16:creationId xmlns:a16="http://schemas.microsoft.com/office/drawing/2014/main" id="{257CA6E3-1CD4-4EFE-9BD6-439E42E2B39F}"/>
              </a:ext>
            </a:extLst>
          </p:cNvPr>
          <p:cNvSpPr>
            <a:spLocks xmlns:a="http://schemas.openxmlformats.org/drawingml/2006/main" noGrp="1"/>
          </p:cNvSpPr>
          <p:nvPr/>
        </p:nvSpPr>
        <p:spPr>
          <a:xfrm xmlns:a="http://schemas.openxmlformats.org/drawingml/2006/main">
            <a:off x="5086350" y="2809875"/>
            <a:ext cx="838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0B7F70"/>
                </a:solidFill>
                <a:latin typeface="Arial"/>
                <a:ea typeface="Arial"/>
                <a:cs typeface="Arial"/>
              </a:defRPr>
            </a:pPr>
            <a:r>
              <a:rPr sz="4500" b="1">
                <a:solidFill>
                  <a:srgbClr val="0B7F70"/>
                </a:solidFill>
                <a:latin typeface="Arial"/>
                <a:ea typeface="Arial"/>
                <a:cs typeface="Arial"/>
              </a:rPr>
              <a:t>03</a:t>
            </a:r>
          </a:p>
        </p:txBody>
      </p:sp>
      <p:sp>
        <p:nvSpPr>
          <p:cNvPr id="18" name="FLOW_ARROW">
            <a:extLst xmlns:a="http://schemas.openxmlformats.org/drawingml/2006/main">
              <a:ext uri="{FF2B5EF4-FFF2-40B4-BE49-F238E27FC236}">
                <a16:creationId xmlns:a16="http://schemas.microsoft.com/office/drawing/2014/main" id="{5D70895B-1845-4929-97D4-904A4AE38553}"/>
              </a:ext>
            </a:extLst>
          </p:cNvPr>
          <p:cNvSpPr>
            <a:spLocks xmlns:a="http://schemas.openxmlformats.org/drawingml/2006/main" noGrp="1"/>
          </p:cNvSpPr>
          <p:nvPr/>
        </p:nvSpPr>
        <p:spPr>
          <a:xfrm xmlns:a="http://schemas.openxmlformats.org/drawingml/2006/main">
            <a:off x="5953125" y="3095625"/>
            <a:ext cx="1123950" cy="0"/>
          </a:xfrm>
          <a:prstGeom xmlns:a="http://schemas.openxmlformats.org/drawingml/2006/main" prst="line">
            <a:avLst/>
          </a:prstGeom>
          <a:noFill xmlns:a="http://schemas.openxmlformats.org/drawingml/2006/main"/>
          <a:ln xmlns:a="http://schemas.openxmlformats.org/drawingml/2006/main" w="19050">
            <a:solidFill>
              <a:srgbClr val="C5CFCE"/>
            </a:solidFill>
            <a:tailEnd type="triangle" w="med" len="med"/>
          </a:ln>
        </p:spPr>
      </p:sp>
      <p:sp>
        <p:nvSpPr>
          <p:cNvPr id="19" name="Capture controlled sweeps">
            <a:extLst xmlns:a="http://schemas.openxmlformats.org/drawingml/2006/main">
              <a:ext uri="{FF2B5EF4-FFF2-40B4-BE49-F238E27FC236}">
                <a16:creationId xmlns:a16="http://schemas.microsoft.com/office/drawing/2014/main" id="{5286022F-187F-4491-BE5F-718709C1EA9D}"/>
              </a:ext>
            </a:extLst>
          </p:cNvPr>
          <p:cNvSpPr>
            <a:spLocks xmlns:a="http://schemas.openxmlformats.org/drawingml/2006/main" noGrp="1"/>
          </p:cNvSpPr>
          <p:nvPr/>
        </p:nvSpPr>
        <p:spPr>
          <a:xfrm xmlns:a="http://schemas.openxmlformats.org/drawingml/2006/main">
            <a:off x="5086350" y="3829050"/>
            <a:ext cx="2009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E2629"/>
                </a:solidFill>
                <a:latin typeface="Arial"/>
                <a:ea typeface="Arial"/>
                <a:cs typeface="Arial"/>
              </a:defRPr>
            </a:pPr>
            <a:r>
              <a:rPr sz="2100" b="1">
                <a:solidFill>
                  <a:srgbClr val="1E2629"/>
                </a:solidFill>
                <a:latin typeface="Arial"/>
                <a:ea typeface="Arial"/>
                <a:cs typeface="Arial"/>
              </a:rPr>
              <a:t>Capture controlled sweeps</a:t>
            </a:r>
          </a:p>
        </p:txBody>
      </p:sp>
      <p:sp>
        <p:nvSpPr>
          <p:cNvPr id="20" name="Move the cradle, wait for settling, then capture each scan.">
            <a:extLst xmlns:a="http://schemas.openxmlformats.org/drawingml/2006/main">
              <a:ext uri="{FF2B5EF4-FFF2-40B4-BE49-F238E27FC236}">
                <a16:creationId xmlns:a16="http://schemas.microsoft.com/office/drawing/2014/main" id="{D04502DC-8D63-4006-869B-4151167F53C5}"/>
              </a:ext>
            </a:extLst>
          </p:cNvPr>
          <p:cNvSpPr>
            <a:spLocks xmlns:a="http://schemas.openxmlformats.org/drawingml/2006/main" noGrp="1"/>
          </p:cNvSpPr>
          <p:nvPr/>
        </p:nvSpPr>
        <p:spPr>
          <a:xfrm xmlns:a="http://schemas.openxmlformats.org/drawingml/2006/main">
            <a:off x="5086350" y="5038725"/>
            <a:ext cx="2009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Move the cradle, wait for settling, then capture each scan.</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7d1df2aba6c643a5">
            <a:extLst>
              <a:ext uri="{96DAC541-7B7A-43D3-8B79-37D633B846F1}">
                <asvg:svgBlip xmlns:asvg="http://schemas.microsoft.com/office/drawing/2016/SVG/main" r:embed="Rd465c2bb47234d84"/>
              </a:ext>
            </a:extLst>
          </a:blip>
          <a:stretch xmlns:a="http://schemas.openxmlformats.org/drawingml/2006/main"/>
        </p:blipFill>
        <p:spPr>
          <a:xfrm xmlns:a="http://schemas.openxmlformats.org/drawingml/2006/main">
            <a:off x="7362825" y="1819275"/>
            <a:ext cx="628650" cy="628650"/>
          </a:xfrm>
          <a:prstGeom xmlns:a="http://schemas.openxmlformats.org/drawingml/2006/main" prst="rect">
            <a:avLst/>
          </a:prstGeom>
        </p:spPr>
      </p:pic>
      <p:sp>
        <p:nvSpPr>
          <p:cNvPr id="22" name="04">
            <a:extLst xmlns:a="http://schemas.openxmlformats.org/drawingml/2006/main">
              <a:ext uri="{FF2B5EF4-FFF2-40B4-BE49-F238E27FC236}">
                <a16:creationId xmlns:a16="http://schemas.microsoft.com/office/drawing/2014/main" id="{2E14ED89-015F-41F1-94FD-0062B5781AA6}"/>
              </a:ext>
            </a:extLst>
          </p:cNvPr>
          <p:cNvSpPr>
            <a:spLocks xmlns:a="http://schemas.openxmlformats.org/drawingml/2006/main" noGrp="1"/>
          </p:cNvSpPr>
          <p:nvPr/>
        </p:nvSpPr>
        <p:spPr>
          <a:xfrm xmlns:a="http://schemas.openxmlformats.org/drawingml/2006/main">
            <a:off x="7362825" y="2809875"/>
            <a:ext cx="838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0B7F70"/>
                </a:solidFill>
                <a:latin typeface="Arial"/>
                <a:ea typeface="Arial"/>
                <a:cs typeface="Arial"/>
              </a:defRPr>
            </a:pPr>
            <a:r>
              <a:rPr sz="4500" b="1">
                <a:solidFill>
                  <a:srgbClr val="0B7F70"/>
                </a:solidFill>
                <a:latin typeface="Arial"/>
                <a:ea typeface="Arial"/>
                <a:cs typeface="Arial"/>
              </a:rPr>
              <a:t>04</a:t>
            </a:r>
          </a:p>
        </p:txBody>
      </p:sp>
      <p:sp>
        <p:nvSpPr>
          <p:cNvPr id="23" name="FLOW_ARROW">
            <a:extLst xmlns:a="http://schemas.openxmlformats.org/drawingml/2006/main">
              <a:ext uri="{FF2B5EF4-FFF2-40B4-BE49-F238E27FC236}">
                <a16:creationId xmlns:a16="http://schemas.microsoft.com/office/drawing/2014/main" id="{C9810E96-147A-43CA-B478-B4DDC905CA78}"/>
              </a:ext>
            </a:extLst>
          </p:cNvPr>
          <p:cNvSpPr>
            <a:spLocks xmlns:a="http://schemas.openxmlformats.org/drawingml/2006/main" noGrp="1"/>
          </p:cNvSpPr>
          <p:nvPr/>
        </p:nvSpPr>
        <p:spPr>
          <a:xfrm xmlns:a="http://schemas.openxmlformats.org/drawingml/2006/main">
            <a:off x="8229600" y="3095625"/>
            <a:ext cx="1123950" cy="0"/>
          </a:xfrm>
          <a:prstGeom xmlns:a="http://schemas.openxmlformats.org/drawingml/2006/main" prst="line">
            <a:avLst/>
          </a:prstGeom>
          <a:noFill xmlns:a="http://schemas.openxmlformats.org/drawingml/2006/main"/>
          <a:ln xmlns:a="http://schemas.openxmlformats.org/drawingml/2006/main" w="19050">
            <a:solidFill>
              <a:srgbClr val="C5CFCE"/>
            </a:solidFill>
            <a:tailEnd type="triangle" w="med" len="med"/>
          </a:ln>
        </p:spPr>
      </p:sp>
      <p:sp>
        <p:nvSpPr>
          <p:cNvPr id="24" name="Reconstruct and replay">
            <a:extLst xmlns:a="http://schemas.openxmlformats.org/drawingml/2006/main">
              <a:ext uri="{FF2B5EF4-FFF2-40B4-BE49-F238E27FC236}">
                <a16:creationId xmlns:a16="http://schemas.microsoft.com/office/drawing/2014/main" id="{4EF25139-8388-4201-9B18-8B05EEDBE819}"/>
              </a:ext>
            </a:extLst>
          </p:cNvPr>
          <p:cNvSpPr>
            <a:spLocks xmlns:a="http://schemas.openxmlformats.org/drawingml/2006/main" noGrp="1"/>
          </p:cNvSpPr>
          <p:nvPr/>
        </p:nvSpPr>
        <p:spPr>
          <a:xfrm xmlns:a="http://schemas.openxmlformats.org/drawingml/2006/main">
            <a:off x="7362825" y="3829050"/>
            <a:ext cx="2009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E2629"/>
                </a:solidFill>
                <a:latin typeface="Arial"/>
                <a:ea typeface="Arial"/>
                <a:cs typeface="Arial"/>
              </a:defRPr>
            </a:pPr>
            <a:r>
              <a:rPr sz="2100" b="1">
                <a:solidFill>
                  <a:srgbClr val="1E2629"/>
                </a:solidFill>
                <a:latin typeface="Arial"/>
                <a:ea typeface="Arial"/>
                <a:cs typeface="Arial"/>
              </a:rPr>
              <a:t>Reconstruct and replay</a:t>
            </a:r>
          </a:p>
        </p:txBody>
      </p:sp>
      <p:sp>
        <p:nvSpPr>
          <p:cNvPr id="25" name="Transform points, build an elevation grid and retain raw ses">
            <a:extLst xmlns:a="http://schemas.openxmlformats.org/drawingml/2006/main">
              <a:ext uri="{FF2B5EF4-FFF2-40B4-BE49-F238E27FC236}">
                <a16:creationId xmlns:a16="http://schemas.microsoft.com/office/drawing/2014/main" id="{C4F9C2F9-FB4D-456B-870A-4E8E7539E3D2}"/>
              </a:ext>
            </a:extLst>
          </p:cNvPr>
          <p:cNvSpPr>
            <a:spLocks xmlns:a="http://schemas.openxmlformats.org/drawingml/2006/main" noGrp="1"/>
          </p:cNvSpPr>
          <p:nvPr/>
        </p:nvSpPr>
        <p:spPr>
          <a:xfrm xmlns:a="http://schemas.openxmlformats.org/drawingml/2006/main">
            <a:off x="7362825" y="5038725"/>
            <a:ext cx="2009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Transform points, build an elevation grid and retain raw sessions.</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3b5b35527e71469e">
            <a:extLst>
              <a:ext uri="{96DAC541-7B7A-43D3-8B79-37D633B846F1}">
                <asvg:svgBlip xmlns:asvg="http://schemas.microsoft.com/office/drawing/2016/SVG/main" r:embed="Rbbc2e745e8954ddc"/>
              </a:ext>
            </a:extLst>
          </a:blip>
          <a:stretch xmlns:a="http://schemas.openxmlformats.org/drawingml/2006/main"/>
        </p:blipFill>
        <p:spPr>
          <a:xfrm xmlns:a="http://schemas.openxmlformats.org/drawingml/2006/main">
            <a:off x="9639300" y="1819275"/>
            <a:ext cx="628650" cy="628650"/>
          </a:xfrm>
          <a:prstGeom xmlns:a="http://schemas.openxmlformats.org/drawingml/2006/main" prst="rect">
            <a:avLst/>
          </a:prstGeom>
        </p:spPr>
      </p:pic>
      <p:sp>
        <p:nvSpPr>
          <p:cNvPr id="27" name="05">
            <a:extLst xmlns:a="http://schemas.openxmlformats.org/drawingml/2006/main">
              <a:ext uri="{FF2B5EF4-FFF2-40B4-BE49-F238E27FC236}">
                <a16:creationId xmlns:a16="http://schemas.microsoft.com/office/drawing/2014/main" id="{38E816C3-015E-4256-A981-7B08C2152375}"/>
              </a:ext>
            </a:extLst>
          </p:cNvPr>
          <p:cNvSpPr>
            <a:spLocks xmlns:a="http://schemas.openxmlformats.org/drawingml/2006/main" noGrp="1"/>
          </p:cNvSpPr>
          <p:nvPr/>
        </p:nvSpPr>
        <p:spPr>
          <a:xfrm xmlns:a="http://schemas.openxmlformats.org/drawingml/2006/main">
            <a:off x="9639300" y="2809875"/>
            <a:ext cx="838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0B7F70"/>
                </a:solidFill>
                <a:latin typeface="Arial"/>
                <a:ea typeface="Arial"/>
                <a:cs typeface="Arial"/>
              </a:defRPr>
            </a:pPr>
            <a:r>
              <a:rPr sz="4500" b="1">
                <a:solidFill>
                  <a:srgbClr val="0B7F70"/>
                </a:solidFill>
                <a:latin typeface="Arial"/>
                <a:ea typeface="Arial"/>
                <a:cs typeface="Arial"/>
              </a:rPr>
              <a:t>05</a:t>
            </a:r>
          </a:p>
        </p:txBody>
      </p:sp>
      <p:sp>
        <p:nvSpPr>
          <p:cNvPr id="28" name="Evaluate, then extend">
            <a:extLst xmlns:a="http://schemas.openxmlformats.org/drawingml/2006/main">
              <a:ext uri="{FF2B5EF4-FFF2-40B4-BE49-F238E27FC236}">
                <a16:creationId xmlns:a16="http://schemas.microsoft.com/office/drawing/2014/main" id="{65FB3D5C-4FFB-4685-AEDC-AF2CBBD6375C}"/>
              </a:ext>
            </a:extLst>
          </p:cNvPr>
          <p:cNvSpPr>
            <a:spLocks xmlns:a="http://schemas.openxmlformats.org/drawingml/2006/main" noGrp="1"/>
          </p:cNvSpPr>
          <p:nvPr/>
        </p:nvSpPr>
        <p:spPr>
          <a:xfrm xmlns:a="http://schemas.openxmlformats.org/drawingml/2006/main">
            <a:off x="9639300" y="3829050"/>
            <a:ext cx="2009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E2629"/>
                </a:solidFill>
                <a:latin typeface="Arial"/>
                <a:ea typeface="Arial"/>
                <a:cs typeface="Arial"/>
              </a:defRPr>
            </a:pPr>
            <a:r>
              <a:rPr sz="2100" b="1">
                <a:solidFill>
                  <a:srgbClr val="1E2629"/>
                </a:solidFill>
                <a:latin typeface="Arial"/>
                <a:ea typeface="Arial"/>
                <a:cs typeface="Arial"/>
              </a:rPr>
              <a:t>Evaluate, then extend</a:t>
            </a:r>
          </a:p>
        </p:txBody>
      </p:sp>
      <p:sp>
        <p:nvSpPr>
          <p:cNvPr id="29" name="Compare with room measurements before acoustic, cart and fli">
            <a:extLst xmlns:a="http://schemas.openxmlformats.org/drawingml/2006/main">
              <a:ext uri="{FF2B5EF4-FFF2-40B4-BE49-F238E27FC236}">
                <a16:creationId xmlns:a16="http://schemas.microsoft.com/office/drawing/2014/main" id="{C4E32DED-FDCC-49CB-ADFF-6BEE2D1028BC}"/>
              </a:ext>
            </a:extLst>
          </p:cNvPr>
          <p:cNvSpPr>
            <a:spLocks xmlns:a="http://schemas.openxmlformats.org/drawingml/2006/main" noGrp="1"/>
          </p:cNvSpPr>
          <p:nvPr/>
        </p:nvSpPr>
        <p:spPr>
          <a:xfrm xmlns:a="http://schemas.openxmlformats.org/drawingml/2006/main">
            <a:off x="9639300" y="5038725"/>
            <a:ext cx="2009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Compare with room measurements before acoustic, cart and flight trials.</a:t>
            </a:r>
          </a:p>
        </p:txBody>
      </p:sp>
    </p:spTree>
    <p:extLst>
      <p:ext uri="{BB962C8B-B14F-4D97-AF65-F5344CB8AC3E}">
        <p14:creationId xmlns:p14="http://schemas.microsoft.com/office/powerpoint/2010/main" val="1570795223"/>
      </p:ext>
    </p:extLst>
  </p:cSld>
</p:sld>
</file>

<file path=ppt/slides/slide11.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d5ea463d7c34c3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AD tilt mechanism">
            <a:extLst xmlns:a="http://schemas.openxmlformats.org/drawingml/2006/main">
              <a:ext uri="{FF2B5EF4-FFF2-40B4-BE49-F238E27FC236}">
                <a16:creationId xmlns:a16="http://schemas.microsoft.com/office/drawing/2014/main" id="{B2F0A8D4-E5BE-4010-BF38-C5BDE2F1F790}"/>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CAD tilt mechanism</a:t>
            </a:r>
          </a:p>
        </p:txBody>
      </p:sp>
      <p:sp>
        <p:nvSpPr>
          <p:cNvPr id="3" name="">
            <a:extLst xmlns:a="http://schemas.openxmlformats.org/drawingml/2006/main">
              <a:ext uri="{FF2B5EF4-FFF2-40B4-BE49-F238E27FC236}">
                <a16:creationId xmlns:a16="http://schemas.microsoft.com/office/drawing/2014/main" id="{93C83184-F11E-462E-87BD-818ECFD8BE21}"/>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4" name="Phase-I presentation">
            <a:extLst xmlns:a="http://schemas.openxmlformats.org/drawingml/2006/main">
              <a:ext uri="{FF2B5EF4-FFF2-40B4-BE49-F238E27FC236}">
                <a16:creationId xmlns:a16="http://schemas.microsoft.com/office/drawing/2014/main" id="{2D452100-2B11-417A-9639-527069F90968}"/>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09">
            <a:extLst xmlns:a="http://schemas.openxmlformats.org/drawingml/2006/main">
              <a:ext uri="{FF2B5EF4-FFF2-40B4-BE49-F238E27FC236}">
                <a16:creationId xmlns:a16="http://schemas.microsoft.com/office/drawing/2014/main" id="{D01F6066-3E0F-4327-BD0D-599564AA9892}"/>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11</a:t>
            </a:r>
          </a:p>
        </p:txBody>
      </p:sp>
      <p:pic>
        <p:nvPicPr>
          <p:cNvPr id="18" name="CAD tilt mechanism video" descr="Original CAD design animation, 5.533 seconds. Start automatically, loop until slide change, muted.">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CADVideo"/>
            <p:extLst>
              <p:ext uri="{DAA4B4D4-6D71-4841-9C94-3DE7FCFB9230}">
                <p14:media xmlns:p14="http://schemas.microsoft.com/office/powerpoint/2010/main" xmlns:ns3="http://schemas.openxmlformats.org/officeDocument/2006/relationships" ns3:embed="rIdCADMedia"/>
              </p:ext>
            </p:extLst>
          </p:nvPr>
        </p:nvPicPr>
        <p:blipFill>
          <a:blip xmlns:r="http://schemas.openxmlformats.org/officeDocument/2006/relationships" xmlns:a="http://schemas.openxmlformats.org/drawingml/2006/main" r:embed="Rbc22da5dae1f4096"/>
          <a:stretch xmlns:a="http://schemas.openxmlformats.org/drawingml/2006/main"/>
        </p:blipFill>
        <p:spPr>
          <a:xfrm xmlns:a="http://schemas.openxmlformats.org/drawingml/2006/main">
            <a:off x="534383" y="1438275"/>
            <a:ext cx="6732210" cy="5029200"/>
          </a:xfrm>
          <a:prstGeom xmlns:a="http://schemas.openxmlformats.org/drawingml/2006/main" prst="rect">
            <a:avLst/>
          </a:prstGeom>
        </p:spPr>
      </p:pic>
      <p:sp>
        <p:nvSpPr>
          <p:cNvPr id="7" name="Controlled tilt&#10;adds spatial samples">
            <a:extLst xmlns:a="http://schemas.openxmlformats.org/drawingml/2006/main">
              <a:ext uri="{FF2B5EF4-FFF2-40B4-BE49-F238E27FC236}">
                <a16:creationId xmlns:a16="http://schemas.microsoft.com/office/drawing/2014/main" id="{B21C18B4-A2A4-4650-8F12-45C90DAF1E08}"/>
              </a:ext>
            </a:extLst>
          </p:cNvPr>
          <p:cNvSpPr>
            <a:spLocks xmlns:a="http://schemas.openxmlformats.org/drawingml/2006/main" noGrp="1"/>
          </p:cNvSpPr>
          <p:nvPr/>
        </p:nvSpPr>
        <p:spPr>
          <a:xfrm xmlns:a="http://schemas.openxmlformats.org/drawingml/2006/main">
            <a:off x="7724775" y="1619250"/>
            <a:ext cx="39338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E2629"/>
                </a:solidFill>
                <a:latin typeface="Arial"/>
                <a:ea typeface="Arial"/>
                <a:cs typeface="Arial"/>
              </a:defRPr>
            </a:pPr>
            <a:r>
              <a:rPr sz="2625" b="1">
                <a:solidFill>
                  <a:srgbClr val="1E2629"/>
                </a:solidFill>
                <a:latin typeface="Arial"/>
                <a:ea typeface="Arial"/>
                <a:cs typeface="Arial"/>
              </a:rPr>
              <a:t>Controlled tilt</a:t>
            </a:r>
          </a:p>
          <a:p xmlns:a="http://schemas.openxmlformats.org/drawingml/2006/main">
            <a:pPr algn="l">
              <a:defRPr sz="2625" b="1">
                <a:solidFill>
                  <a:srgbClr val="1E2629"/>
                </a:solidFill>
                <a:latin typeface="Arial"/>
                <a:ea typeface="Arial"/>
                <a:cs typeface="Arial"/>
              </a:defRPr>
            </a:pPr>
            <a:r>
              <a:rPr sz="2625" b="1">
                <a:solidFill>
                  <a:srgbClr val="1E2629"/>
                </a:solidFill>
                <a:latin typeface="Arial"/>
                <a:ea typeface="Arial"/>
                <a:cs typeface="Arial"/>
              </a:rPr>
              <a:t>adds spatial samples</a:t>
            </a:r>
          </a:p>
        </p:txBody>
      </p:sp>
      <p:sp>
        <p:nvSpPr>
          <p:cNvPr id="8" name="The cradle rotates the LiDAR scan plane about the X axis.">
            <a:extLst xmlns:a="http://schemas.openxmlformats.org/drawingml/2006/main">
              <a:ext uri="{FF2B5EF4-FFF2-40B4-BE49-F238E27FC236}">
                <a16:creationId xmlns:a16="http://schemas.microsoft.com/office/drawing/2014/main" id="{22EB9DF0-97A9-478A-BD11-8855D58A9766}"/>
              </a:ext>
            </a:extLst>
          </p:cNvPr>
          <p:cNvSpPr>
            <a:spLocks xmlns:a="http://schemas.openxmlformats.org/drawingml/2006/main" noGrp="1"/>
          </p:cNvSpPr>
          <p:nvPr/>
        </p:nvSpPr>
        <p:spPr>
          <a:xfrm xmlns:a="http://schemas.openxmlformats.org/drawingml/2006/main">
            <a:off x="7724775" y="3067050"/>
            <a:ext cx="3933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B5859"/>
                </a:solidFill>
                <a:latin typeface="Arial"/>
                <a:ea typeface="Arial"/>
                <a:cs typeface="Arial"/>
              </a:defRPr>
            </a:pPr>
            <a:r>
              <a:rPr sz="2025" b="0">
                <a:solidFill>
                  <a:srgbClr val="4B5859"/>
                </a:solidFill>
                <a:latin typeface="Arial"/>
                <a:ea typeface="Arial"/>
                <a:cs typeface="Arial"/>
              </a:rPr>
              <a:t>The cradle rotates the LiDAR scan plane about the X axis.</a:t>
            </a:r>
          </a:p>
        </p:txBody>
      </p:sp>
      <p:sp>
        <p:nvSpPr>
          <p:cNvPr id="9" name="">
            <a:extLst xmlns:a="http://schemas.openxmlformats.org/drawingml/2006/main">
              <a:ext uri="{FF2B5EF4-FFF2-40B4-BE49-F238E27FC236}">
                <a16:creationId xmlns:a16="http://schemas.microsoft.com/office/drawing/2014/main" id="{776D5F27-498B-48E0-91B0-A124C96A3FBE}"/>
              </a:ext>
            </a:extLst>
          </p:cNvPr>
          <p:cNvSpPr>
            <a:spLocks xmlns:a="http://schemas.openxmlformats.org/drawingml/2006/main" noGrp="1"/>
          </p:cNvSpPr>
          <p:nvPr/>
        </p:nvSpPr>
        <p:spPr>
          <a:xfrm xmlns:a="http://schemas.openxmlformats.org/drawingml/2006/main">
            <a:off x="7724775" y="4429125"/>
            <a:ext cx="3933825"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10" name="Move, settle, capture">
            <a:extLst xmlns:a="http://schemas.openxmlformats.org/drawingml/2006/main">
              <a:ext uri="{FF2B5EF4-FFF2-40B4-BE49-F238E27FC236}">
                <a16:creationId xmlns:a16="http://schemas.microsoft.com/office/drawing/2014/main" id="{61713514-118C-41E4-AF73-A19451CA45BB}"/>
              </a:ext>
            </a:extLst>
          </p:cNvPr>
          <p:cNvSpPr>
            <a:spLocks xmlns:a="http://schemas.openxmlformats.org/drawingml/2006/main" noGrp="1"/>
          </p:cNvSpPr>
          <p:nvPr/>
        </p:nvSpPr>
        <p:spPr>
          <a:xfrm xmlns:a="http://schemas.openxmlformats.org/drawingml/2006/main">
            <a:off x="7724775" y="4695825"/>
            <a:ext cx="39338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B7F70"/>
                </a:solidFill>
                <a:latin typeface="Arial"/>
                <a:ea typeface="Arial"/>
                <a:cs typeface="Arial"/>
              </a:defRPr>
            </a:pPr>
            <a:r>
              <a:rPr sz="2100" b="1">
                <a:solidFill>
                  <a:srgbClr val="0B7F70"/>
                </a:solidFill>
                <a:latin typeface="Arial"/>
                <a:ea typeface="Arial"/>
                <a:cs typeface="Arial"/>
              </a:rPr>
              <a:t>Move, settle, capture</a:t>
            </a:r>
          </a:p>
        </p:txBody>
      </p:sp>
      <p:sp>
        <p:nvSpPr>
          <p:cNvPr id="11" name="Collect each scan after the mechanism has settled.">
            <a:extLst xmlns:a="http://schemas.openxmlformats.org/drawingml/2006/main">
              <a:ext uri="{FF2B5EF4-FFF2-40B4-BE49-F238E27FC236}">
                <a16:creationId xmlns:a16="http://schemas.microsoft.com/office/drawing/2014/main" id="{E6B2584A-4DD5-4AF2-80DF-F00D31012025}"/>
              </a:ext>
            </a:extLst>
          </p:cNvPr>
          <p:cNvSpPr>
            <a:spLocks xmlns:a="http://schemas.openxmlformats.org/drawingml/2006/main" noGrp="1"/>
          </p:cNvSpPr>
          <p:nvPr/>
        </p:nvSpPr>
        <p:spPr>
          <a:xfrm xmlns:a="http://schemas.openxmlformats.org/drawingml/2006/main">
            <a:off x="7724775" y="5276850"/>
            <a:ext cx="3933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B5859"/>
                </a:solidFill>
                <a:latin typeface="Arial"/>
                <a:ea typeface="Arial"/>
                <a:cs typeface="Arial"/>
              </a:defRPr>
            </a:pPr>
            <a:r>
              <a:rPr sz="1950" b="0">
                <a:solidFill>
                  <a:srgbClr val="4B5859"/>
                </a:solidFill>
                <a:latin typeface="Arial"/>
                <a:ea typeface="Arial"/>
                <a:cs typeface="Arial"/>
              </a:rPr>
              <a:t>Collect each scan after the mechanism has settled.</a:t>
            </a:r>
          </a:p>
        </p:txBody>
      </p:sp>
      <p:sp>
        <p:nvSpPr>
          <p:cNvPr id="12" name="CAD design evidence, 5.5-second animation">
            <a:extLst xmlns:a="http://schemas.openxmlformats.org/drawingml/2006/main">
              <a:ext uri="{FF2B5EF4-FFF2-40B4-BE49-F238E27FC236}">
                <a16:creationId xmlns:a16="http://schemas.microsoft.com/office/drawing/2014/main" id="{B5E104C5-833B-4579-B3D5-D0C4F76EE765}"/>
              </a:ext>
            </a:extLst>
          </p:cNvPr>
          <p:cNvSpPr>
            <a:spLocks xmlns:a="http://schemas.openxmlformats.org/drawingml/2006/main" noGrp="1"/>
          </p:cNvSpPr>
          <p:nvPr/>
        </p:nvSpPr>
        <p:spPr>
          <a:xfrm xmlns:a="http://schemas.openxmlformats.org/drawingml/2006/main">
            <a:off x="7724775" y="6200775"/>
            <a:ext cx="3933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E7C7D"/>
                </a:solidFill>
                <a:latin typeface="Arial"/>
                <a:ea typeface="Arial"/>
                <a:cs typeface="Arial"/>
              </a:defRPr>
            </a:pPr>
            <a:r>
              <a:rPr sz="1350" b="0">
                <a:solidFill>
                  <a:srgbClr val="6E7C7D"/>
                </a:solidFill>
                <a:latin typeface="Arial"/>
                <a:ea typeface="Arial"/>
                <a:cs typeface="Arial"/>
              </a:rPr>
              <a:t>CAD design evidence, 5.5-second animation</a:t>
            </a:r>
          </a:p>
        </p:txBody>
      </p:sp>
    </p:spTree>
    <p:extLst>
      <p:ext uri="{BB962C8B-B14F-4D97-AF65-F5344CB8AC3E}">
        <p14:creationId xmlns:p14="http://schemas.microsoft.com/office/powerpoint/2010/main" val="711417537"/>
      </p:ext>
    </p:extLst>
  </p:cSld>
  <p:timing>
    <p:tnLst>
      <p:par>
        <p:cTn id="1" dur="indefinite" restart="never" nodeType="tmRoot">
          <p:childTnLst>
            <p:video>
              <p:cMediaNode vol="0" showWhenStopped="1">
                <p:cTn id="2" dur="5533" repeatCount="indefinite" fill="hold" display="0">
                  <p:stCondLst>
                    <p:cond delay="0"/>
                  </p:stCondLst>
                </p:cTn>
                <p:tgtEl>
                  <p:spTgt spid="18"/>
                </p:tgtEl>
              </p:cMediaNode>
            </p:video>
          </p:childTnLst>
        </p:cTn>
      </p:par>
    </p:tnLst>
  </p:timing>
</p:sld>
</file>

<file path=ppt/slides/slide12.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Components</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12</a:t>
            </a:r>
          </a:p>
        </p:txBody>
      </p:sp>
      <p:sp xmlns:a="http://schemas.openxmlformats.org/drawingml/2006/main">
        <p:nvSpPr>
          <p:cNvPr id="29" name="TextBox 28"/>
          <p:cNvSpPr txBox="1"/>
          <p:nvPr/>
        </p:nvSpPr>
        <p:spPr>
          <a:xfrm>
            <a:off x="530352" y="1408176"/>
            <a:ext cx="11128248" cy="365760"/>
          </a:xfrm>
          <a:prstGeom prst="rect">
            <a:avLst/>
          </a:prstGeom>
          <a:noFill/>
        </p:spPr>
        <p:txBody>
          <a:bodyPr wrap="square" lIns="0" rIns="0" tIns="0" bIns="0" anchor="t">
            <a:spAutoFit/>
          </a:bodyPr>
          <a:lstStyle/>
          <a:p>
            <a:pPr algn="l"/>
            <a:r>
              <a:rPr sz="2000" b="1">
                <a:solidFill>
                  <a:srgbClr val="0B7F70"/>
                </a:solidFill>
                <a:latin typeface="Arial"/>
              </a:rPr>
              <a:t>Low-cost, off-the-shelf parts</a:t>
            </a:r>
          </a:p>
        </p:txBody>
      </p:sp>
      <p:sp xmlns:a="http://schemas.openxmlformats.org/drawingml/2006/main">
        <p:nvSpPr>
          <p:cNvPr id="30" name="Rectangle 29"/>
          <p:cNvSpPr/>
          <p:nvPr/>
        </p:nvSpPr>
        <p:spPr>
          <a:xfrm>
            <a:off x="530352" y="1965960"/>
            <a:ext cx="2633472" cy="201168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31" name="Picture 30" descr="lidar.jpg"/>
          <p:cNvPicPr>
            <a:picLocks noChangeAspect="1"/>
          </p:cNvPicPr>
          <p:nvPr/>
        </p:nvPicPr>
        <p:blipFill>
          <a:blip r:embed="rId5"/>
          <a:stretch>
            <a:fillRect/>
          </a:stretch>
        </p:blipFill>
        <p:spPr>
          <a:xfrm>
            <a:off x="667512" y="2234184"/>
            <a:ext cx="914400" cy="515112"/>
          </a:xfrm>
          <a:prstGeom prst="rect">
            <a:avLst/>
          </a:prstGeom>
        </p:spPr>
      </p:pic>
      <p:sp xmlns:a="http://schemas.openxmlformats.org/drawingml/2006/main">
        <p:nvSpPr>
          <p:cNvPr id="32" name="TextBox 31"/>
          <p:cNvSpPr txBox="1"/>
          <p:nvPr/>
        </p:nvSpPr>
        <p:spPr>
          <a:xfrm>
            <a:off x="1719072" y="2103120"/>
            <a:ext cx="1325880" cy="777240"/>
          </a:xfrm>
          <a:prstGeom prst="rect">
            <a:avLst/>
          </a:prstGeom>
          <a:noFill/>
        </p:spPr>
        <p:txBody>
          <a:bodyPr wrap="square" lIns="0" rIns="0" tIns="0" bIns="0" anchor="ctr">
            <a:spAutoFit/>
          </a:bodyPr>
          <a:lstStyle/>
          <a:p>
            <a:pPr algn="l"/>
            <a:r>
              <a:rPr sz="1500" b="1">
                <a:solidFill>
                  <a:srgbClr val="1E2629"/>
                </a:solidFill>
                <a:latin typeface="Arial"/>
              </a:rPr>
              <a:t>RPLIDAR S3</a:t>
            </a:r>
          </a:p>
        </p:txBody>
      </p:sp>
      <p:sp xmlns:a="http://schemas.openxmlformats.org/drawingml/2006/main">
        <p:nvSpPr>
          <p:cNvPr id="33" name="TextBox 32"/>
          <p:cNvSpPr txBox="1"/>
          <p:nvPr/>
        </p:nvSpPr>
        <p:spPr>
          <a:xfrm>
            <a:off x="667512" y="2990088"/>
            <a:ext cx="2377440" cy="914400"/>
          </a:xfrm>
          <a:prstGeom prst="rect">
            <a:avLst/>
          </a:prstGeom>
          <a:noFill/>
        </p:spPr>
        <p:txBody>
          <a:bodyPr wrap="square" lIns="0" rIns="0" tIns="0" bIns="0" anchor="t">
            <a:spAutoFit/>
          </a:bodyPr>
          <a:lstStyle/>
          <a:p>
            <a:pPr algn="l"/>
            <a:r>
              <a:rPr sz="1250" b="0">
                <a:solidFill>
                  <a:srgbClr val="0B7F70"/>
                </a:solidFill>
                <a:latin typeface="Arial"/>
              </a:rPr>
              <a:t>2D laser · 10 Hz · 40 m</a:t>
            </a:r>
          </a:p>
          <a:p>
            <a:pPr algn="l">
              <a:spcBef>
                <a:spcPts val="300"/>
              </a:spcBef>
            </a:pPr>
            <a:r>
              <a:rPr sz="1250" b="0">
                <a:solidFill>
                  <a:srgbClr val="4B5859"/>
                </a:solidFill>
                <a:latin typeface="Arial"/>
              </a:rPr>
              <a:t>Measures distances all around in one plane</a:t>
            </a:r>
          </a:p>
        </p:txBody>
      </p:sp>
      <p:sp xmlns:a="http://schemas.openxmlformats.org/drawingml/2006/main">
        <p:nvSpPr>
          <p:cNvPr id="34" name="Rectangle 33"/>
          <p:cNvSpPr/>
          <p:nvPr/>
        </p:nvSpPr>
        <p:spPr>
          <a:xfrm>
            <a:off x="3337560" y="1965960"/>
            <a:ext cx="2633472" cy="201168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35" name="Picture 34" descr="esp32.jpg"/>
          <p:cNvPicPr>
            <a:picLocks noChangeAspect="1"/>
          </p:cNvPicPr>
          <p:nvPr/>
        </p:nvPicPr>
        <p:blipFill>
          <a:blip r:embed="rId6"/>
          <a:stretch>
            <a:fillRect/>
          </a:stretch>
        </p:blipFill>
        <p:spPr>
          <a:xfrm>
            <a:off x="3484372" y="2103120"/>
            <a:ext cx="895094" cy="777240"/>
          </a:xfrm>
          <a:prstGeom prst="rect">
            <a:avLst/>
          </a:prstGeom>
        </p:spPr>
      </p:pic>
      <p:sp xmlns:a="http://schemas.openxmlformats.org/drawingml/2006/main">
        <p:nvSpPr>
          <p:cNvPr id="36" name="TextBox 35"/>
          <p:cNvSpPr txBox="1"/>
          <p:nvPr/>
        </p:nvSpPr>
        <p:spPr>
          <a:xfrm>
            <a:off x="4526280" y="2103120"/>
            <a:ext cx="1325880" cy="777240"/>
          </a:xfrm>
          <a:prstGeom prst="rect">
            <a:avLst/>
          </a:prstGeom>
          <a:noFill/>
        </p:spPr>
        <p:txBody>
          <a:bodyPr wrap="square" lIns="0" rIns="0" tIns="0" bIns="0" anchor="ctr">
            <a:spAutoFit/>
          </a:bodyPr>
          <a:lstStyle/>
          <a:p>
            <a:pPr algn="l"/>
            <a:r>
              <a:rPr sz="1500" b="1">
                <a:solidFill>
                  <a:srgbClr val="1E2629"/>
                </a:solidFill>
                <a:latin typeface="Arial"/>
              </a:rPr>
              <a:t>ESP32-S3 N16R8</a:t>
            </a:r>
          </a:p>
        </p:txBody>
      </p:sp>
      <p:sp xmlns:a="http://schemas.openxmlformats.org/drawingml/2006/main">
        <p:nvSpPr>
          <p:cNvPr id="37" name="TextBox 36"/>
          <p:cNvSpPr txBox="1"/>
          <p:nvPr/>
        </p:nvSpPr>
        <p:spPr>
          <a:xfrm>
            <a:off x="3474720" y="2990088"/>
            <a:ext cx="2377440" cy="914400"/>
          </a:xfrm>
          <a:prstGeom prst="rect">
            <a:avLst/>
          </a:prstGeom>
          <a:noFill/>
        </p:spPr>
        <p:txBody>
          <a:bodyPr wrap="square" lIns="0" rIns="0" tIns="0" bIns="0" anchor="t">
            <a:spAutoFit/>
          </a:bodyPr>
          <a:lstStyle/>
          <a:p>
            <a:pPr algn="l"/>
            <a:r>
              <a:rPr sz="1250" b="0">
                <a:solidFill>
                  <a:srgbClr val="0B7F70"/>
                </a:solidFill>
                <a:latin typeface="Arial"/>
              </a:rPr>
              <a:t>240 MHz · 8 MB PSRAM · Wi-Fi</a:t>
            </a:r>
          </a:p>
          <a:p>
            <a:pPr algn="l">
              <a:spcBef>
                <a:spcPts val="300"/>
              </a:spcBef>
            </a:pPr>
            <a:r>
              <a:rPr sz="1250" b="0">
                <a:solidFill>
                  <a:srgbClr val="4B5859"/>
                </a:solidFill>
                <a:latin typeface="Arial"/>
              </a:rPr>
              <a:t>Brain of the rig: relays data, drives the servo</a:t>
            </a:r>
          </a:p>
        </p:txBody>
      </p:sp>
      <p:sp xmlns:a="http://schemas.openxmlformats.org/drawingml/2006/main">
        <p:nvSpPr>
          <p:cNvPr id="38" name="Rectangle 37"/>
          <p:cNvSpPr/>
          <p:nvPr/>
        </p:nvSpPr>
        <p:spPr>
          <a:xfrm>
            <a:off x="6144768" y="1965960"/>
            <a:ext cx="2633472" cy="201168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39" name="Picture 38" descr="mic.jpg"/>
          <p:cNvPicPr>
            <a:picLocks noChangeAspect="1"/>
          </p:cNvPicPr>
          <p:nvPr/>
        </p:nvPicPr>
        <p:blipFill>
          <a:blip r:embed="rId7"/>
          <a:stretch>
            <a:fillRect/>
          </a:stretch>
        </p:blipFill>
        <p:spPr>
          <a:xfrm>
            <a:off x="6350508" y="2103120"/>
            <a:ext cx="777240" cy="777240"/>
          </a:xfrm>
          <a:prstGeom prst="rect">
            <a:avLst/>
          </a:prstGeom>
        </p:spPr>
      </p:pic>
      <p:sp xmlns:a="http://schemas.openxmlformats.org/drawingml/2006/main">
        <p:nvSpPr>
          <p:cNvPr id="40" name="TextBox 39"/>
          <p:cNvSpPr txBox="1"/>
          <p:nvPr/>
        </p:nvSpPr>
        <p:spPr>
          <a:xfrm>
            <a:off x="7333488" y="2103120"/>
            <a:ext cx="1325880" cy="777240"/>
          </a:xfrm>
          <a:prstGeom prst="rect">
            <a:avLst/>
          </a:prstGeom>
          <a:noFill/>
        </p:spPr>
        <p:txBody>
          <a:bodyPr wrap="square" lIns="0" rIns="0" tIns="0" bIns="0" anchor="ctr">
            <a:spAutoFit/>
          </a:bodyPr>
          <a:lstStyle/>
          <a:p>
            <a:pPr algn="l"/>
            <a:r>
              <a:rPr sz="1500" b="1">
                <a:solidFill>
                  <a:srgbClr val="1E2629"/>
                </a:solidFill>
                <a:latin typeface="Arial"/>
              </a:rPr>
              <a:t>4 × INMP441</a:t>
            </a:r>
          </a:p>
        </p:txBody>
      </p:sp>
      <p:sp xmlns:a="http://schemas.openxmlformats.org/drawingml/2006/main">
        <p:nvSpPr>
          <p:cNvPr id="41" name="TextBox 40"/>
          <p:cNvSpPr txBox="1"/>
          <p:nvPr/>
        </p:nvSpPr>
        <p:spPr>
          <a:xfrm>
            <a:off x="6281928" y="2990088"/>
            <a:ext cx="2377440" cy="914400"/>
          </a:xfrm>
          <a:prstGeom prst="rect">
            <a:avLst/>
          </a:prstGeom>
          <a:noFill/>
        </p:spPr>
        <p:txBody>
          <a:bodyPr wrap="square" lIns="0" rIns="0" tIns="0" bIns="0" anchor="t">
            <a:spAutoFit/>
          </a:bodyPr>
          <a:lstStyle/>
          <a:p>
            <a:pPr algn="l"/>
            <a:r>
              <a:rPr sz="1250" b="0">
                <a:solidFill>
                  <a:srgbClr val="0B7F70"/>
                </a:solidFill>
                <a:latin typeface="Arial"/>
              </a:rPr>
              <a:t>I²S MEMS microphones</a:t>
            </a:r>
          </a:p>
          <a:p>
            <a:pPr algn="l">
              <a:spcBef>
                <a:spcPts val="300"/>
              </a:spcBef>
            </a:pPr>
            <a:r>
              <a:rPr sz="1250" b="0">
                <a:solidFill>
                  <a:srgbClr val="4B5859"/>
                </a:solidFill>
                <a:latin typeface="Arial"/>
              </a:rPr>
              <a:t>Find the direction of knocks and voices</a:t>
            </a:r>
          </a:p>
        </p:txBody>
      </p:sp>
      <p:sp xmlns:a="http://schemas.openxmlformats.org/drawingml/2006/main">
        <p:nvSpPr>
          <p:cNvPr id="42" name="Rectangle 41"/>
          <p:cNvSpPr/>
          <p:nvPr/>
        </p:nvSpPr>
        <p:spPr>
          <a:xfrm>
            <a:off x="8951976" y="1965960"/>
            <a:ext cx="2633472" cy="201168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43" name="Picture 42" descr="servo.jpg"/>
          <p:cNvPicPr>
            <a:picLocks noChangeAspect="1"/>
          </p:cNvPicPr>
          <p:nvPr/>
        </p:nvPicPr>
        <p:blipFill>
          <a:blip r:embed="rId8"/>
          <a:stretch>
            <a:fillRect/>
          </a:stretch>
        </p:blipFill>
        <p:spPr>
          <a:xfrm>
            <a:off x="9206293" y="2103120"/>
            <a:ext cx="680084" cy="777240"/>
          </a:xfrm>
          <a:prstGeom prst="rect">
            <a:avLst/>
          </a:prstGeom>
        </p:spPr>
      </p:pic>
      <p:sp xmlns:a="http://schemas.openxmlformats.org/drawingml/2006/main">
        <p:nvSpPr>
          <p:cNvPr id="44" name="TextBox 43"/>
          <p:cNvSpPr txBox="1"/>
          <p:nvPr/>
        </p:nvSpPr>
        <p:spPr>
          <a:xfrm>
            <a:off x="10140696" y="2103120"/>
            <a:ext cx="1325880" cy="777240"/>
          </a:xfrm>
          <a:prstGeom prst="rect">
            <a:avLst/>
          </a:prstGeom>
          <a:noFill/>
        </p:spPr>
        <p:txBody>
          <a:bodyPr wrap="square" lIns="0" rIns="0" tIns="0" bIns="0" anchor="ctr">
            <a:spAutoFit/>
          </a:bodyPr>
          <a:lstStyle/>
          <a:p>
            <a:pPr algn="l"/>
            <a:r>
              <a:rPr sz="1500" b="1">
                <a:solidFill>
                  <a:srgbClr val="1E2629"/>
                </a:solidFill>
                <a:latin typeface="Arial"/>
              </a:rPr>
              <a:t>13 kg·cm servo</a:t>
            </a:r>
          </a:p>
        </p:txBody>
      </p:sp>
      <p:sp xmlns:a="http://schemas.openxmlformats.org/drawingml/2006/main">
        <p:nvSpPr>
          <p:cNvPr id="45" name="TextBox 44"/>
          <p:cNvSpPr txBox="1"/>
          <p:nvPr/>
        </p:nvSpPr>
        <p:spPr>
          <a:xfrm>
            <a:off x="9089136" y="2990088"/>
            <a:ext cx="2377440" cy="914400"/>
          </a:xfrm>
          <a:prstGeom prst="rect">
            <a:avLst/>
          </a:prstGeom>
          <a:noFill/>
        </p:spPr>
        <p:txBody>
          <a:bodyPr wrap="square" lIns="0" rIns="0" tIns="0" bIns="0" anchor="t">
            <a:spAutoFit/>
          </a:bodyPr>
          <a:lstStyle/>
          <a:p>
            <a:pPr algn="l"/>
            <a:r>
              <a:rPr sz="1250" b="0">
                <a:solidFill>
                  <a:srgbClr val="0B7F70"/>
                </a:solidFill>
                <a:latin typeface="Arial"/>
              </a:rPr>
              <a:t>metal gear · 50 Hz PWM</a:t>
            </a:r>
          </a:p>
          <a:p>
            <a:pPr algn="l">
              <a:spcBef>
                <a:spcPts val="300"/>
              </a:spcBef>
            </a:pPr>
            <a:r>
              <a:rPr sz="1250" b="0">
                <a:solidFill>
                  <a:srgbClr val="4B5859"/>
                </a:solidFill>
                <a:latin typeface="Arial"/>
              </a:rPr>
              <a:t>Tilts the LiDAR to add height</a:t>
            </a:r>
          </a:p>
        </p:txBody>
      </p:sp>
      <p:sp xmlns:a="http://schemas.openxmlformats.org/drawingml/2006/main">
        <p:nvSpPr>
          <p:cNvPr id="46" name="Rectangle 45"/>
          <p:cNvSpPr/>
          <p:nvPr/>
        </p:nvSpPr>
        <p:spPr>
          <a:xfrm>
            <a:off x="530352" y="4160520"/>
            <a:ext cx="2633472" cy="201168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47" name="Picture 46" descr="imu.jpg"/>
          <p:cNvPicPr>
            <a:picLocks noChangeAspect="1"/>
          </p:cNvPicPr>
          <p:nvPr/>
        </p:nvPicPr>
        <p:blipFill>
          <a:blip r:embed="rId9"/>
          <a:stretch>
            <a:fillRect/>
          </a:stretch>
        </p:blipFill>
        <p:spPr>
          <a:xfrm>
            <a:off x="667512" y="4326376"/>
            <a:ext cx="914400" cy="719846"/>
          </a:xfrm>
          <a:prstGeom prst="rect">
            <a:avLst/>
          </a:prstGeom>
        </p:spPr>
      </p:pic>
      <p:sp xmlns:a="http://schemas.openxmlformats.org/drawingml/2006/main">
        <p:nvSpPr>
          <p:cNvPr id="48" name="TextBox 47"/>
          <p:cNvSpPr txBox="1"/>
          <p:nvPr/>
        </p:nvSpPr>
        <p:spPr>
          <a:xfrm>
            <a:off x="1719072" y="4297680"/>
            <a:ext cx="1325880" cy="777240"/>
          </a:xfrm>
          <a:prstGeom prst="rect">
            <a:avLst/>
          </a:prstGeom>
          <a:noFill/>
        </p:spPr>
        <p:txBody>
          <a:bodyPr wrap="square" lIns="0" rIns="0" tIns="0" bIns="0" anchor="ctr">
            <a:spAutoFit/>
          </a:bodyPr>
          <a:lstStyle/>
          <a:p>
            <a:pPr algn="l"/>
            <a:r>
              <a:rPr sz="1500" b="1">
                <a:solidFill>
                  <a:srgbClr val="1E2629"/>
                </a:solidFill>
                <a:latin typeface="Arial"/>
              </a:rPr>
              <a:t>MPU-6050 IMU</a:t>
            </a:r>
          </a:p>
        </p:txBody>
      </p:sp>
      <p:sp xmlns:a="http://schemas.openxmlformats.org/drawingml/2006/main">
        <p:nvSpPr>
          <p:cNvPr id="49" name="TextBox 48"/>
          <p:cNvSpPr txBox="1"/>
          <p:nvPr/>
        </p:nvSpPr>
        <p:spPr>
          <a:xfrm>
            <a:off x="667512" y="5184648"/>
            <a:ext cx="2377440" cy="914400"/>
          </a:xfrm>
          <a:prstGeom prst="rect">
            <a:avLst/>
          </a:prstGeom>
          <a:noFill/>
        </p:spPr>
        <p:txBody>
          <a:bodyPr wrap="square" lIns="0" rIns="0" tIns="0" bIns="0" anchor="t">
            <a:spAutoFit/>
          </a:bodyPr>
          <a:lstStyle/>
          <a:p>
            <a:pPr algn="l"/>
            <a:r>
              <a:rPr sz="1250" b="0">
                <a:solidFill>
                  <a:srgbClr val="0B7F70"/>
                </a:solidFill>
                <a:latin typeface="Arial"/>
              </a:rPr>
              <a:t>accelerometer + gyro · I²C</a:t>
            </a:r>
          </a:p>
          <a:p>
            <a:pPr algn="l">
              <a:spcBef>
                <a:spcPts val="300"/>
              </a:spcBef>
            </a:pPr>
            <a:r>
              <a:rPr sz="1250" b="0">
                <a:solidFill>
                  <a:srgbClr val="4B5859"/>
                </a:solidFill>
                <a:latin typeface="Arial"/>
              </a:rPr>
              <a:t>Senses tilt and motion (AS5600 encoder next)</a:t>
            </a:r>
          </a:p>
        </p:txBody>
      </p:sp>
      <p:sp xmlns:a="http://schemas.openxmlformats.org/drawingml/2006/main">
        <p:nvSpPr>
          <p:cNvPr id="50" name="Rectangle 49"/>
          <p:cNvSpPr/>
          <p:nvPr/>
        </p:nvSpPr>
        <p:spPr>
          <a:xfrm>
            <a:off x="3337560" y="4160520"/>
            <a:ext cx="2633472" cy="201168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51" name="Picture 50" descr="cradle.jpg"/>
          <p:cNvPicPr>
            <a:picLocks noChangeAspect="1"/>
          </p:cNvPicPr>
          <p:nvPr/>
        </p:nvPicPr>
        <p:blipFill>
          <a:blip r:embed="rId10"/>
          <a:stretch>
            <a:fillRect/>
          </a:stretch>
        </p:blipFill>
        <p:spPr>
          <a:xfrm>
            <a:off x="3474720" y="4374642"/>
            <a:ext cx="914400" cy="623316"/>
          </a:xfrm>
          <a:prstGeom prst="rect">
            <a:avLst/>
          </a:prstGeom>
        </p:spPr>
      </p:pic>
      <p:sp xmlns:a="http://schemas.openxmlformats.org/drawingml/2006/main">
        <p:nvSpPr>
          <p:cNvPr id="52" name="TextBox 51"/>
          <p:cNvSpPr txBox="1"/>
          <p:nvPr/>
        </p:nvSpPr>
        <p:spPr>
          <a:xfrm>
            <a:off x="4526280" y="4297680"/>
            <a:ext cx="1325880" cy="777240"/>
          </a:xfrm>
          <a:prstGeom prst="rect">
            <a:avLst/>
          </a:prstGeom>
          <a:noFill/>
        </p:spPr>
        <p:txBody>
          <a:bodyPr wrap="square" lIns="0" rIns="0" tIns="0" bIns="0" anchor="ctr">
            <a:spAutoFit/>
          </a:bodyPr>
          <a:lstStyle/>
          <a:p>
            <a:pPr algn="l"/>
            <a:r>
              <a:rPr sz="1500" b="1">
                <a:solidFill>
                  <a:srgbClr val="1E2629"/>
                </a:solidFill>
                <a:latin typeface="Arial"/>
              </a:rPr>
              <a:t>3D-printed cradle</a:t>
            </a:r>
          </a:p>
        </p:txBody>
      </p:sp>
      <p:sp xmlns:a="http://schemas.openxmlformats.org/drawingml/2006/main">
        <p:nvSpPr>
          <p:cNvPr id="53" name="TextBox 52"/>
          <p:cNvSpPr txBox="1"/>
          <p:nvPr/>
        </p:nvSpPr>
        <p:spPr>
          <a:xfrm>
            <a:off x="3474720" y="5184648"/>
            <a:ext cx="2377440" cy="914400"/>
          </a:xfrm>
          <a:prstGeom prst="rect">
            <a:avLst/>
          </a:prstGeom>
          <a:noFill/>
        </p:spPr>
        <p:txBody>
          <a:bodyPr wrap="square" lIns="0" rIns="0" tIns="0" bIns="0" anchor="t">
            <a:spAutoFit/>
          </a:bodyPr>
          <a:lstStyle/>
          <a:p>
            <a:pPr algn="l"/>
            <a:r>
              <a:rPr sz="1250" b="0">
                <a:solidFill>
                  <a:srgbClr val="0B7F70"/>
                </a:solidFill>
                <a:latin typeface="Arial"/>
              </a:rPr>
              <a:t>bearings on the X axis</a:t>
            </a:r>
          </a:p>
          <a:p>
            <a:pPr algn="l">
              <a:spcBef>
                <a:spcPts val="300"/>
              </a:spcBef>
            </a:pPr>
            <a:r>
              <a:rPr sz="1250" b="0">
                <a:solidFill>
                  <a:srgbClr val="4B5859"/>
                </a:solidFill>
                <a:latin typeface="Arial"/>
              </a:rPr>
              <a:t>Holds the LiDAR and tilts it smoothly</a:t>
            </a:r>
          </a:p>
        </p:txBody>
      </p:sp>
      <p:sp xmlns:a="http://schemas.openxmlformats.org/drawingml/2006/main">
        <p:nvSpPr>
          <p:cNvPr id="54" name="Rectangle 53"/>
          <p:cNvSpPr/>
          <p:nvPr/>
        </p:nvSpPr>
        <p:spPr>
          <a:xfrm>
            <a:off x="6144768" y="4160520"/>
            <a:ext cx="2633472" cy="201168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55" name="Picture 54" descr="board.jpg"/>
          <p:cNvPicPr>
            <a:picLocks noChangeAspect="1"/>
          </p:cNvPicPr>
          <p:nvPr/>
        </p:nvPicPr>
        <p:blipFill>
          <a:blip r:embed="rId11"/>
          <a:stretch>
            <a:fillRect/>
          </a:stretch>
        </p:blipFill>
        <p:spPr>
          <a:xfrm>
            <a:off x="6425641" y="4297680"/>
            <a:ext cx="626973" cy="777240"/>
          </a:xfrm>
          <a:prstGeom prst="rect">
            <a:avLst/>
          </a:prstGeom>
        </p:spPr>
      </p:pic>
      <p:sp xmlns:a="http://schemas.openxmlformats.org/drawingml/2006/main">
        <p:nvSpPr>
          <p:cNvPr id="56" name="TextBox 55"/>
          <p:cNvSpPr txBox="1"/>
          <p:nvPr/>
        </p:nvSpPr>
        <p:spPr>
          <a:xfrm>
            <a:off x="7333488" y="4297680"/>
            <a:ext cx="1325880" cy="777240"/>
          </a:xfrm>
          <a:prstGeom prst="rect">
            <a:avLst/>
          </a:prstGeom>
          <a:noFill/>
        </p:spPr>
        <p:txBody>
          <a:bodyPr wrap="square" lIns="0" rIns="0" tIns="0" bIns="0" anchor="ctr">
            <a:spAutoFit/>
          </a:bodyPr>
          <a:lstStyle/>
          <a:p>
            <a:pPr algn="l"/>
            <a:r>
              <a:rPr sz="1500" b="1">
                <a:solidFill>
                  <a:srgbClr val="1E2629"/>
                </a:solidFill>
                <a:latin typeface="Arial"/>
              </a:rPr>
              <a:t>Carrier board</a:t>
            </a:r>
          </a:p>
        </p:txBody>
      </p:sp>
      <p:sp xmlns:a="http://schemas.openxmlformats.org/drawingml/2006/main">
        <p:nvSpPr>
          <p:cNvPr id="57" name="TextBox 56"/>
          <p:cNvSpPr txBox="1"/>
          <p:nvPr/>
        </p:nvSpPr>
        <p:spPr>
          <a:xfrm>
            <a:off x="6281928" y="5184648"/>
            <a:ext cx="2377440" cy="914400"/>
          </a:xfrm>
          <a:prstGeom prst="rect">
            <a:avLst/>
          </a:prstGeom>
          <a:noFill/>
        </p:spPr>
        <p:txBody>
          <a:bodyPr wrap="square" lIns="0" rIns="0" tIns="0" bIns="0" anchor="t">
            <a:spAutoFit/>
          </a:bodyPr>
          <a:lstStyle/>
          <a:p>
            <a:pPr algn="l"/>
            <a:r>
              <a:rPr sz="1250" b="0">
                <a:solidFill>
                  <a:srgbClr val="0B7F70"/>
                </a:solidFill>
                <a:latin typeface="Arial"/>
              </a:rPr>
              <a:t>perfboard · screw terminals</a:t>
            </a:r>
          </a:p>
          <a:p>
            <a:pPr algn="l">
              <a:spcBef>
                <a:spcPts val="300"/>
              </a:spcBef>
            </a:pPr>
            <a:r>
              <a:rPr sz="1250" b="0">
                <a:solidFill>
                  <a:srgbClr val="4B5859"/>
                </a:solidFill>
                <a:latin typeface="Arial"/>
              </a:rPr>
              <a:t>Wires the ESP32, mics and connectors</a:t>
            </a:r>
          </a:p>
        </p:txBody>
      </p:sp>
      <p:sp xmlns:a="http://schemas.openxmlformats.org/drawingml/2006/main">
        <p:nvSpPr>
          <p:cNvPr id="58" name="Rectangle 57"/>
          <p:cNvSpPr/>
          <p:nvPr/>
        </p:nvSpPr>
        <p:spPr>
          <a:xfrm>
            <a:off x="8951976" y="4160520"/>
            <a:ext cx="2633472" cy="201168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59" name="Picture 58" descr="power.jpg"/>
          <p:cNvPicPr>
            <a:picLocks noChangeAspect="1"/>
          </p:cNvPicPr>
          <p:nvPr/>
        </p:nvPicPr>
        <p:blipFill>
          <a:blip r:embed="rId12"/>
          <a:stretch>
            <a:fillRect/>
          </a:stretch>
        </p:blipFill>
        <p:spPr>
          <a:xfrm>
            <a:off x="9089136" y="4527804"/>
            <a:ext cx="914400" cy="316992"/>
          </a:xfrm>
          <a:prstGeom prst="rect">
            <a:avLst/>
          </a:prstGeom>
        </p:spPr>
      </p:pic>
      <p:sp xmlns:a="http://schemas.openxmlformats.org/drawingml/2006/main">
        <p:nvSpPr>
          <p:cNvPr id="60" name="TextBox 59"/>
          <p:cNvSpPr txBox="1"/>
          <p:nvPr/>
        </p:nvSpPr>
        <p:spPr>
          <a:xfrm>
            <a:off x="10140696" y="4297680"/>
            <a:ext cx="1325880" cy="777240"/>
          </a:xfrm>
          <a:prstGeom prst="rect">
            <a:avLst/>
          </a:prstGeom>
          <a:noFill/>
        </p:spPr>
        <p:txBody>
          <a:bodyPr wrap="square" lIns="0" rIns="0" tIns="0" bIns="0" anchor="ctr">
            <a:spAutoFit/>
          </a:bodyPr>
          <a:lstStyle/>
          <a:p>
            <a:pPr algn="l"/>
            <a:r>
              <a:rPr sz="1500" b="1">
                <a:solidFill>
                  <a:srgbClr val="1E2629"/>
                </a:solidFill>
                <a:latin typeface="Arial"/>
              </a:rPr>
              <a:t>Power</a:t>
            </a:r>
          </a:p>
        </p:txBody>
      </p:sp>
      <p:sp xmlns:a="http://schemas.openxmlformats.org/drawingml/2006/main">
        <p:nvSpPr>
          <p:cNvPr id="61" name="TextBox 60"/>
          <p:cNvSpPr txBox="1"/>
          <p:nvPr/>
        </p:nvSpPr>
        <p:spPr>
          <a:xfrm>
            <a:off x="9089136" y="5184648"/>
            <a:ext cx="2377440" cy="914400"/>
          </a:xfrm>
          <a:prstGeom prst="rect">
            <a:avLst/>
          </a:prstGeom>
          <a:noFill/>
        </p:spPr>
        <p:txBody>
          <a:bodyPr wrap="square" lIns="0" rIns="0" tIns="0" bIns="0" anchor="t">
            <a:spAutoFit/>
          </a:bodyPr>
          <a:lstStyle/>
          <a:p>
            <a:pPr algn="l"/>
            <a:r>
              <a:rPr sz="1250" b="0">
                <a:solidFill>
                  <a:srgbClr val="0B7F70"/>
                </a:solidFill>
                <a:latin typeface="Arial"/>
              </a:rPr>
              <a:t>5 V power bank + servo supply</a:t>
            </a:r>
          </a:p>
          <a:p>
            <a:pPr algn="l">
              <a:spcBef>
                <a:spcPts val="300"/>
              </a:spcBef>
            </a:pPr>
            <a:r>
              <a:rPr sz="1250" b="0">
                <a:solidFill>
                  <a:srgbClr val="4B5859"/>
                </a:solidFill>
                <a:latin typeface="Arial"/>
              </a:rPr>
              <a:t>Runs the rig without cables to a laptop</a:t>
            </a:r>
          </a:p>
        </p:txBody>
      </p:sp>
    </p:spTree>
    <p:extLst>
      <p:ext uri="{BB962C8B-B14F-4D97-AF65-F5344CB8AC3E}">
        <p14:creationId xmlns:p14="http://schemas.microsoft.com/office/powerpoint/2010/main" val="1344042575"/>
      </p:ext>
    </p:extLst>
  </p:cSld>
</p:sld>
</file>

<file path=ppt/slides/slide13.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PCB and connections</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13</a:t>
            </a:r>
          </a:p>
        </p:txBody>
      </p:sp>
      <p:sp xmlns:a="http://schemas.openxmlformats.org/drawingml/2006/main">
        <p:nvSpPr>
          <p:cNvPr id="29" name="TextBox 28"/>
          <p:cNvSpPr txBox="1"/>
          <p:nvPr/>
        </p:nvSpPr>
        <p:spPr>
          <a:xfrm>
            <a:off x="530352" y="1408176"/>
            <a:ext cx="11128248" cy="365760"/>
          </a:xfrm>
          <a:prstGeom prst="rect">
            <a:avLst/>
          </a:prstGeom>
          <a:noFill/>
        </p:spPr>
        <p:txBody>
          <a:bodyPr wrap="square" lIns="0" rIns="0" tIns="0" bIns="0" anchor="t">
            <a:spAutoFit/>
          </a:bodyPr>
          <a:lstStyle/>
          <a:p>
            <a:pPr algn="l"/>
            <a:r>
              <a:rPr sz="2000" b="1">
                <a:solidFill>
                  <a:srgbClr val="0B7F70"/>
                </a:solidFill>
                <a:latin typeface="Arial"/>
              </a:rPr>
              <a:t>Carrier board: every sensor lands on one ESP32-S3</a:t>
            </a:r>
          </a:p>
        </p:txBody>
      </p:sp>
      <p:pic xmlns:a="http://schemas.openxmlformats.org/drawingml/2006/main" xmlns:r="http://schemas.openxmlformats.org/officeDocument/2006/relationships">
        <p:nvPicPr>
          <p:cNvPr id="30" name="Picture 29" descr="board.jpg"/>
          <p:cNvPicPr>
            <a:picLocks noChangeAspect="1"/>
          </p:cNvPicPr>
          <p:nvPr/>
        </p:nvPicPr>
        <p:blipFill>
          <a:blip r:embed="rId5"/>
          <a:stretch>
            <a:fillRect/>
          </a:stretch>
        </p:blipFill>
        <p:spPr>
          <a:xfrm>
            <a:off x="1413780" y="1920240"/>
            <a:ext cx="2713703" cy="3364992"/>
          </a:xfrm>
          <a:prstGeom prst="rect">
            <a:avLst/>
          </a:prstGeom>
        </p:spPr>
      </p:pic>
      <p:sp xmlns:a="http://schemas.openxmlformats.org/drawingml/2006/main">
        <p:nvSpPr>
          <p:cNvPr id="31" name="TextBox 30"/>
          <p:cNvSpPr txBox="1"/>
          <p:nvPr/>
        </p:nvSpPr>
        <p:spPr>
          <a:xfrm>
            <a:off x="530352" y="5394960"/>
            <a:ext cx="4480560" cy="822960"/>
          </a:xfrm>
          <a:prstGeom prst="rect">
            <a:avLst/>
          </a:prstGeom>
          <a:noFill/>
        </p:spPr>
        <p:txBody>
          <a:bodyPr wrap="square" lIns="0" rIns="0" tIns="0" bIns="0" anchor="t">
            <a:spAutoFit/>
          </a:bodyPr>
          <a:lstStyle/>
          <a:p>
            <a:pPr algn="l"/>
            <a:r>
              <a:rPr sz="1200" b="0">
                <a:solidFill>
                  <a:srgbClr val="6E7C7D"/>
                </a:solidFill>
                <a:latin typeface="Arial"/>
              </a:rPr>
              <a:t>Perfboard carrier: ESP32-S3 at the bottom, four microphones around it, the IMU top right, screw terminals for power.</a:t>
            </a:r>
          </a:p>
        </p:txBody>
      </p:sp>
      <p:sp xmlns:a="http://schemas.openxmlformats.org/drawingml/2006/main">
        <p:nvSpPr>
          <p:cNvPr id="32" name="TextBox 31"/>
          <p:cNvSpPr txBox="1"/>
          <p:nvPr/>
        </p:nvSpPr>
        <p:spPr>
          <a:xfrm>
            <a:off x="5349240" y="1920240"/>
            <a:ext cx="1737360" cy="320040"/>
          </a:xfrm>
          <a:prstGeom prst="rect">
            <a:avLst/>
          </a:prstGeom>
          <a:noFill/>
        </p:spPr>
        <p:txBody>
          <a:bodyPr wrap="square" lIns="0" rIns="0" tIns="0" bIns="0" anchor="t">
            <a:spAutoFit/>
          </a:bodyPr>
          <a:lstStyle/>
          <a:p>
            <a:pPr algn="l"/>
            <a:r>
              <a:rPr sz="1300" b="1">
                <a:solidFill>
                  <a:srgbClr val="0B7F70"/>
                </a:solidFill>
                <a:latin typeface="Arial"/>
              </a:rPr>
              <a:t>ESP32-S3 pin</a:t>
            </a:r>
          </a:p>
        </p:txBody>
      </p:sp>
      <p:sp xmlns:a="http://schemas.openxmlformats.org/drawingml/2006/main">
        <p:nvSpPr>
          <p:cNvPr id="33" name="TextBox 32"/>
          <p:cNvSpPr txBox="1"/>
          <p:nvPr/>
        </p:nvSpPr>
        <p:spPr>
          <a:xfrm>
            <a:off x="7178040" y="1920240"/>
            <a:ext cx="2926080" cy="320040"/>
          </a:xfrm>
          <a:prstGeom prst="rect">
            <a:avLst/>
          </a:prstGeom>
          <a:noFill/>
        </p:spPr>
        <p:txBody>
          <a:bodyPr wrap="square" lIns="0" rIns="0" tIns="0" bIns="0" anchor="t">
            <a:spAutoFit/>
          </a:bodyPr>
          <a:lstStyle/>
          <a:p>
            <a:pPr algn="l"/>
            <a:r>
              <a:rPr sz="1300" b="1">
                <a:solidFill>
                  <a:srgbClr val="0B7F70"/>
                </a:solidFill>
                <a:latin typeface="Arial"/>
              </a:rPr>
              <a:t>Connected to</a:t>
            </a:r>
          </a:p>
        </p:txBody>
      </p:sp>
      <p:sp xmlns:a="http://schemas.openxmlformats.org/drawingml/2006/main">
        <p:nvSpPr>
          <p:cNvPr id="34" name="TextBox 33"/>
          <p:cNvSpPr txBox="1"/>
          <p:nvPr/>
        </p:nvSpPr>
        <p:spPr>
          <a:xfrm>
            <a:off x="10149840" y="1920240"/>
            <a:ext cx="1508760" cy="320040"/>
          </a:xfrm>
          <a:prstGeom prst="rect">
            <a:avLst/>
          </a:prstGeom>
          <a:noFill/>
        </p:spPr>
        <p:txBody>
          <a:bodyPr wrap="square" lIns="0" rIns="0" tIns="0" bIns="0" anchor="t">
            <a:spAutoFit/>
          </a:bodyPr>
          <a:lstStyle/>
          <a:p>
            <a:pPr algn="l"/>
            <a:r>
              <a:rPr sz="1300" b="1">
                <a:solidFill>
                  <a:srgbClr val="0B7F70"/>
                </a:solidFill>
                <a:latin typeface="Arial"/>
              </a:rPr>
              <a:t>Signal</a:t>
            </a:r>
          </a:p>
        </p:txBody>
      </p:sp>
      <p:cxnSp xmlns:a="http://schemas.openxmlformats.org/drawingml/2006/main">
        <p:nvCxnSpPr>
          <p:cNvPr id="35" name="Connector 34"/>
          <p:cNvCxnSpPr/>
          <p:nvPr/>
        </p:nvCxnSpPr>
        <p:spPr>
          <a:xfrm>
            <a:off x="5349240" y="2249424"/>
            <a:ext cx="630936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6" name="TextBox 35"/>
          <p:cNvSpPr txBox="1"/>
          <p:nvPr/>
        </p:nvSpPr>
        <p:spPr>
          <a:xfrm>
            <a:off x="5349240" y="2322576"/>
            <a:ext cx="1783080" cy="320040"/>
          </a:xfrm>
          <a:prstGeom prst="rect">
            <a:avLst/>
          </a:prstGeom>
          <a:noFill/>
        </p:spPr>
        <p:txBody>
          <a:bodyPr wrap="square" lIns="0" rIns="0" tIns="0" bIns="0" anchor="t">
            <a:spAutoFit/>
          </a:bodyPr>
          <a:lstStyle/>
          <a:p>
            <a:pPr algn="l"/>
            <a:r>
              <a:rPr sz="1400" b="1">
                <a:solidFill>
                  <a:srgbClr val="1E2629"/>
                </a:solidFill>
                <a:latin typeface="Arial"/>
              </a:rPr>
              <a:t>GPIO 13 / 14</a:t>
            </a:r>
          </a:p>
        </p:txBody>
      </p:sp>
      <p:sp xmlns:a="http://schemas.openxmlformats.org/drawingml/2006/main">
        <p:nvSpPr>
          <p:cNvPr id="37" name="TextBox 36"/>
          <p:cNvSpPr txBox="1"/>
          <p:nvPr/>
        </p:nvSpPr>
        <p:spPr>
          <a:xfrm>
            <a:off x="7178040" y="2322576"/>
            <a:ext cx="2926080" cy="320040"/>
          </a:xfrm>
          <a:prstGeom prst="rect">
            <a:avLst/>
          </a:prstGeom>
          <a:noFill/>
        </p:spPr>
        <p:txBody>
          <a:bodyPr wrap="square" lIns="0" rIns="0" tIns="0" bIns="0" anchor="t">
            <a:spAutoFit/>
          </a:bodyPr>
          <a:lstStyle/>
          <a:p>
            <a:pPr algn="l"/>
            <a:r>
              <a:rPr sz="1400" b="0">
                <a:solidFill>
                  <a:srgbClr val="4B5859"/>
                </a:solidFill>
                <a:latin typeface="Arial"/>
              </a:rPr>
              <a:t>LiDAR TX / RX</a:t>
            </a:r>
          </a:p>
        </p:txBody>
      </p:sp>
      <p:sp xmlns:a="http://schemas.openxmlformats.org/drawingml/2006/main">
        <p:nvSpPr>
          <p:cNvPr id="38" name="TextBox 37"/>
          <p:cNvSpPr txBox="1"/>
          <p:nvPr/>
        </p:nvSpPr>
        <p:spPr>
          <a:xfrm>
            <a:off x="10149840" y="2322576"/>
            <a:ext cx="1508760" cy="320040"/>
          </a:xfrm>
          <a:prstGeom prst="rect">
            <a:avLst/>
          </a:prstGeom>
          <a:noFill/>
        </p:spPr>
        <p:txBody>
          <a:bodyPr wrap="square" lIns="0" rIns="0" tIns="0" bIns="0" anchor="t">
            <a:spAutoFit/>
          </a:bodyPr>
          <a:lstStyle/>
          <a:p>
            <a:pPr algn="l"/>
            <a:r>
              <a:rPr sz="1400" b="0">
                <a:solidFill>
                  <a:srgbClr val="4B5859"/>
                </a:solidFill>
                <a:latin typeface="Arial"/>
              </a:rPr>
              <a:t>UART, 1 Mbaud</a:t>
            </a:r>
          </a:p>
        </p:txBody>
      </p:sp>
      <p:cxnSp xmlns:a="http://schemas.openxmlformats.org/drawingml/2006/main">
        <p:nvCxnSpPr>
          <p:cNvPr id="39" name="Connector 38"/>
          <p:cNvCxnSpPr/>
          <p:nvPr/>
        </p:nvCxnSpPr>
        <p:spPr>
          <a:xfrm>
            <a:off x="5349240" y="2651760"/>
            <a:ext cx="630936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0" name="TextBox 39"/>
          <p:cNvSpPr txBox="1"/>
          <p:nvPr/>
        </p:nvSpPr>
        <p:spPr>
          <a:xfrm>
            <a:off x="5349240" y="2724912"/>
            <a:ext cx="1783080" cy="320040"/>
          </a:xfrm>
          <a:prstGeom prst="rect">
            <a:avLst/>
          </a:prstGeom>
          <a:noFill/>
        </p:spPr>
        <p:txBody>
          <a:bodyPr wrap="square" lIns="0" rIns="0" tIns="0" bIns="0" anchor="t">
            <a:spAutoFit/>
          </a:bodyPr>
          <a:lstStyle/>
          <a:p>
            <a:pPr algn="l"/>
            <a:r>
              <a:rPr sz="1400" b="1">
                <a:solidFill>
                  <a:srgbClr val="1E2629"/>
                </a:solidFill>
                <a:latin typeface="Arial"/>
              </a:rPr>
              <a:t>GPIO 17</a:t>
            </a:r>
          </a:p>
        </p:txBody>
      </p:sp>
      <p:sp xmlns:a="http://schemas.openxmlformats.org/drawingml/2006/main">
        <p:nvSpPr>
          <p:cNvPr id="41" name="TextBox 40"/>
          <p:cNvSpPr txBox="1"/>
          <p:nvPr/>
        </p:nvSpPr>
        <p:spPr>
          <a:xfrm>
            <a:off x="7178040" y="2724912"/>
            <a:ext cx="2926080" cy="320040"/>
          </a:xfrm>
          <a:prstGeom prst="rect">
            <a:avLst/>
          </a:prstGeom>
          <a:noFill/>
        </p:spPr>
        <p:txBody>
          <a:bodyPr wrap="square" lIns="0" rIns="0" tIns="0" bIns="0" anchor="t">
            <a:spAutoFit/>
          </a:bodyPr>
          <a:lstStyle/>
          <a:p>
            <a:pPr algn="l"/>
            <a:r>
              <a:rPr sz="1400" b="0">
                <a:solidFill>
                  <a:srgbClr val="4B5859"/>
                </a:solidFill>
                <a:latin typeface="Arial"/>
              </a:rPr>
              <a:t>Servo signal</a:t>
            </a:r>
          </a:p>
        </p:txBody>
      </p:sp>
      <p:sp xmlns:a="http://schemas.openxmlformats.org/drawingml/2006/main">
        <p:nvSpPr>
          <p:cNvPr id="42" name="TextBox 41"/>
          <p:cNvSpPr txBox="1"/>
          <p:nvPr/>
        </p:nvSpPr>
        <p:spPr>
          <a:xfrm>
            <a:off x="10149840" y="2724912"/>
            <a:ext cx="1508760" cy="320040"/>
          </a:xfrm>
          <a:prstGeom prst="rect">
            <a:avLst/>
          </a:prstGeom>
          <a:noFill/>
        </p:spPr>
        <p:txBody>
          <a:bodyPr wrap="square" lIns="0" rIns="0" tIns="0" bIns="0" anchor="t">
            <a:spAutoFit/>
          </a:bodyPr>
          <a:lstStyle/>
          <a:p>
            <a:pPr algn="l"/>
            <a:r>
              <a:rPr sz="1400" b="0">
                <a:solidFill>
                  <a:srgbClr val="4B5859"/>
                </a:solidFill>
                <a:latin typeface="Arial"/>
              </a:rPr>
              <a:t>PWM, 50 Hz</a:t>
            </a:r>
          </a:p>
        </p:txBody>
      </p:sp>
      <p:cxnSp xmlns:a="http://schemas.openxmlformats.org/drawingml/2006/main">
        <p:nvCxnSpPr>
          <p:cNvPr id="43" name="Connector 42"/>
          <p:cNvCxnSpPr/>
          <p:nvPr/>
        </p:nvCxnSpPr>
        <p:spPr>
          <a:xfrm>
            <a:off x="5349240" y="3054096"/>
            <a:ext cx="630936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4" name="TextBox 43"/>
          <p:cNvSpPr txBox="1"/>
          <p:nvPr/>
        </p:nvSpPr>
        <p:spPr>
          <a:xfrm>
            <a:off x="5349240" y="3127248"/>
            <a:ext cx="1783080" cy="320040"/>
          </a:xfrm>
          <a:prstGeom prst="rect">
            <a:avLst/>
          </a:prstGeom>
          <a:noFill/>
        </p:spPr>
        <p:txBody>
          <a:bodyPr wrap="square" lIns="0" rIns="0" tIns="0" bIns="0" anchor="t">
            <a:spAutoFit/>
          </a:bodyPr>
          <a:lstStyle/>
          <a:p>
            <a:pPr algn="l"/>
            <a:r>
              <a:rPr sz="1400" b="1">
                <a:solidFill>
                  <a:srgbClr val="1E2629"/>
                </a:solidFill>
                <a:latin typeface="Arial"/>
              </a:rPr>
              <a:t>GPIO 4 / 5</a:t>
            </a:r>
          </a:p>
        </p:txBody>
      </p:sp>
      <p:sp xmlns:a="http://schemas.openxmlformats.org/drawingml/2006/main">
        <p:nvSpPr>
          <p:cNvPr id="45" name="TextBox 44"/>
          <p:cNvSpPr txBox="1"/>
          <p:nvPr/>
        </p:nvSpPr>
        <p:spPr>
          <a:xfrm>
            <a:off x="7178040" y="3127248"/>
            <a:ext cx="2926080" cy="320040"/>
          </a:xfrm>
          <a:prstGeom prst="rect">
            <a:avLst/>
          </a:prstGeom>
          <a:noFill/>
        </p:spPr>
        <p:txBody>
          <a:bodyPr wrap="square" lIns="0" rIns="0" tIns="0" bIns="0" anchor="t">
            <a:spAutoFit/>
          </a:bodyPr>
          <a:lstStyle/>
          <a:p>
            <a:pPr algn="l"/>
            <a:r>
              <a:rPr sz="1400" b="0">
                <a:solidFill>
                  <a:srgbClr val="4B5859"/>
                </a:solidFill>
                <a:latin typeface="Arial"/>
              </a:rPr>
              <a:t>All mics: clock / word select</a:t>
            </a:r>
          </a:p>
        </p:txBody>
      </p:sp>
      <p:sp xmlns:a="http://schemas.openxmlformats.org/drawingml/2006/main">
        <p:nvSpPr>
          <p:cNvPr id="46" name="TextBox 45"/>
          <p:cNvSpPr txBox="1"/>
          <p:nvPr/>
        </p:nvSpPr>
        <p:spPr>
          <a:xfrm>
            <a:off x="10149840" y="3127248"/>
            <a:ext cx="1508760" cy="320040"/>
          </a:xfrm>
          <a:prstGeom prst="rect">
            <a:avLst/>
          </a:prstGeom>
          <a:noFill/>
        </p:spPr>
        <p:txBody>
          <a:bodyPr wrap="square" lIns="0" rIns="0" tIns="0" bIns="0" anchor="t">
            <a:spAutoFit/>
          </a:bodyPr>
          <a:lstStyle/>
          <a:p>
            <a:pPr algn="l"/>
            <a:r>
              <a:rPr sz="1400" b="0">
                <a:solidFill>
                  <a:srgbClr val="4B5859"/>
                </a:solidFill>
                <a:latin typeface="Arial"/>
              </a:rPr>
              <a:t>I²S</a:t>
            </a:r>
          </a:p>
        </p:txBody>
      </p:sp>
      <p:cxnSp xmlns:a="http://schemas.openxmlformats.org/drawingml/2006/main">
        <p:nvCxnSpPr>
          <p:cNvPr id="47" name="Connector 46"/>
          <p:cNvCxnSpPr/>
          <p:nvPr/>
        </p:nvCxnSpPr>
        <p:spPr>
          <a:xfrm>
            <a:off x="5349240" y="3456432"/>
            <a:ext cx="630936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TextBox 47"/>
          <p:cNvSpPr txBox="1"/>
          <p:nvPr/>
        </p:nvSpPr>
        <p:spPr>
          <a:xfrm>
            <a:off x="5349240" y="3529584"/>
            <a:ext cx="1783080" cy="320040"/>
          </a:xfrm>
          <a:prstGeom prst="rect">
            <a:avLst/>
          </a:prstGeom>
          <a:noFill/>
        </p:spPr>
        <p:txBody>
          <a:bodyPr wrap="square" lIns="0" rIns="0" tIns="0" bIns="0" anchor="t">
            <a:spAutoFit/>
          </a:bodyPr>
          <a:lstStyle/>
          <a:p>
            <a:pPr algn="l"/>
            <a:r>
              <a:rPr sz="1400" b="1">
                <a:solidFill>
                  <a:srgbClr val="1E2629"/>
                </a:solidFill>
                <a:latin typeface="Arial"/>
              </a:rPr>
              <a:t>GPIO 7</a:t>
            </a:r>
          </a:p>
        </p:txBody>
      </p:sp>
      <p:sp xmlns:a="http://schemas.openxmlformats.org/drawingml/2006/main">
        <p:nvSpPr>
          <p:cNvPr id="49" name="TextBox 48"/>
          <p:cNvSpPr txBox="1"/>
          <p:nvPr/>
        </p:nvSpPr>
        <p:spPr>
          <a:xfrm>
            <a:off x="7178040" y="3529584"/>
            <a:ext cx="2926080" cy="320040"/>
          </a:xfrm>
          <a:prstGeom prst="rect">
            <a:avLst/>
          </a:prstGeom>
          <a:noFill/>
        </p:spPr>
        <p:txBody>
          <a:bodyPr wrap="square" lIns="0" rIns="0" tIns="0" bIns="0" anchor="t">
            <a:spAutoFit/>
          </a:bodyPr>
          <a:lstStyle/>
          <a:p>
            <a:pPr algn="l"/>
            <a:r>
              <a:rPr sz="1400" b="0">
                <a:solidFill>
                  <a:srgbClr val="4B5859"/>
                </a:solidFill>
                <a:latin typeface="Arial"/>
              </a:rPr>
              <a:t>Mic 1 + 2 data (left / right)</a:t>
            </a:r>
          </a:p>
        </p:txBody>
      </p:sp>
      <p:sp xmlns:a="http://schemas.openxmlformats.org/drawingml/2006/main">
        <p:nvSpPr>
          <p:cNvPr id="50" name="TextBox 49"/>
          <p:cNvSpPr txBox="1"/>
          <p:nvPr/>
        </p:nvSpPr>
        <p:spPr>
          <a:xfrm>
            <a:off x="10149840" y="3529584"/>
            <a:ext cx="1508760" cy="320040"/>
          </a:xfrm>
          <a:prstGeom prst="rect">
            <a:avLst/>
          </a:prstGeom>
          <a:noFill/>
        </p:spPr>
        <p:txBody>
          <a:bodyPr wrap="square" lIns="0" rIns="0" tIns="0" bIns="0" anchor="t">
            <a:spAutoFit/>
          </a:bodyPr>
          <a:lstStyle/>
          <a:p>
            <a:pPr algn="l"/>
            <a:r>
              <a:rPr sz="1400" b="0">
                <a:solidFill>
                  <a:srgbClr val="4B5859"/>
                </a:solidFill>
                <a:latin typeface="Arial"/>
              </a:rPr>
              <a:t>I²S</a:t>
            </a:r>
          </a:p>
        </p:txBody>
      </p:sp>
      <p:cxnSp xmlns:a="http://schemas.openxmlformats.org/drawingml/2006/main">
        <p:nvCxnSpPr>
          <p:cNvPr id="51" name="Connector 50"/>
          <p:cNvCxnSpPr/>
          <p:nvPr/>
        </p:nvCxnSpPr>
        <p:spPr>
          <a:xfrm>
            <a:off x="5349240" y="3858768"/>
            <a:ext cx="630936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2" name="TextBox 51"/>
          <p:cNvSpPr txBox="1"/>
          <p:nvPr/>
        </p:nvSpPr>
        <p:spPr>
          <a:xfrm>
            <a:off x="5349240" y="3931920"/>
            <a:ext cx="1783080" cy="320040"/>
          </a:xfrm>
          <a:prstGeom prst="rect">
            <a:avLst/>
          </a:prstGeom>
          <a:noFill/>
        </p:spPr>
        <p:txBody>
          <a:bodyPr wrap="square" lIns="0" rIns="0" tIns="0" bIns="0" anchor="t">
            <a:spAutoFit/>
          </a:bodyPr>
          <a:lstStyle/>
          <a:p>
            <a:pPr algn="l"/>
            <a:r>
              <a:rPr sz="1400" b="1">
                <a:solidFill>
                  <a:srgbClr val="1E2629"/>
                </a:solidFill>
                <a:latin typeface="Arial"/>
              </a:rPr>
              <a:t>GPIO 6</a:t>
            </a:r>
          </a:p>
        </p:txBody>
      </p:sp>
      <p:sp xmlns:a="http://schemas.openxmlformats.org/drawingml/2006/main">
        <p:nvSpPr>
          <p:cNvPr id="53" name="TextBox 52"/>
          <p:cNvSpPr txBox="1"/>
          <p:nvPr/>
        </p:nvSpPr>
        <p:spPr>
          <a:xfrm>
            <a:off x="7178040" y="3931920"/>
            <a:ext cx="2926080" cy="320040"/>
          </a:xfrm>
          <a:prstGeom prst="rect">
            <a:avLst/>
          </a:prstGeom>
          <a:noFill/>
        </p:spPr>
        <p:txBody>
          <a:bodyPr wrap="square" lIns="0" rIns="0" tIns="0" bIns="0" anchor="t">
            <a:spAutoFit/>
          </a:bodyPr>
          <a:lstStyle/>
          <a:p>
            <a:pPr algn="l"/>
            <a:r>
              <a:rPr sz="1400" b="0">
                <a:solidFill>
                  <a:srgbClr val="4B5859"/>
                </a:solidFill>
                <a:latin typeface="Arial"/>
              </a:rPr>
              <a:t>Mic 3 + 4 data (left / right)</a:t>
            </a:r>
          </a:p>
        </p:txBody>
      </p:sp>
      <p:sp xmlns:a="http://schemas.openxmlformats.org/drawingml/2006/main">
        <p:nvSpPr>
          <p:cNvPr id="54" name="TextBox 53"/>
          <p:cNvSpPr txBox="1"/>
          <p:nvPr/>
        </p:nvSpPr>
        <p:spPr>
          <a:xfrm>
            <a:off x="10149840" y="3931920"/>
            <a:ext cx="1508760" cy="320040"/>
          </a:xfrm>
          <a:prstGeom prst="rect">
            <a:avLst/>
          </a:prstGeom>
          <a:noFill/>
        </p:spPr>
        <p:txBody>
          <a:bodyPr wrap="square" lIns="0" rIns="0" tIns="0" bIns="0" anchor="t">
            <a:spAutoFit/>
          </a:bodyPr>
          <a:lstStyle/>
          <a:p>
            <a:pPr algn="l"/>
            <a:r>
              <a:rPr sz="1400" b="0">
                <a:solidFill>
                  <a:srgbClr val="4B5859"/>
                </a:solidFill>
                <a:latin typeface="Arial"/>
              </a:rPr>
              <a:t>I²S</a:t>
            </a:r>
          </a:p>
        </p:txBody>
      </p:sp>
      <p:cxnSp xmlns:a="http://schemas.openxmlformats.org/drawingml/2006/main">
        <p:nvCxnSpPr>
          <p:cNvPr id="55" name="Connector 54"/>
          <p:cNvCxnSpPr/>
          <p:nvPr/>
        </p:nvCxnSpPr>
        <p:spPr>
          <a:xfrm>
            <a:off x="5349240" y="4261104"/>
            <a:ext cx="630936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6" name="TextBox 55"/>
          <p:cNvSpPr txBox="1"/>
          <p:nvPr/>
        </p:nvSpPr>
        <p:spPr>
          <a:xfrm>
            <a:off x="5349240" y="4334256"/>
            <a:ext cx="1783080" cy="320040"/>
          </a:xfrm>
          <a:prstGeom prst="rect">
            <a:avLst/>
          </a:prstGeom>
          <a:noFill/>
        </p:spPr>
        <p:txBody>
          <a:bodyPr wrap="square" lIns="0" rIns="0" tIns="0" bIns="0" anchor="t">
            <a:spAutoFit/>
          </a:bodyPr>
          <a:lstStyle/>
          <a:p>
            <a:pPr algn="l"/>
            <a:r>
              <a:rPr sz="1400" b="1">
                <a:solidFill>
                  <a:srgbClr val="1E2629"/>
                </a:solidFill>
                <a:latin typeface="Arial"/>
              </a:rPr>
              <a:t>GPIO 11 / 12</a:t>
            </a:r>
          </a:p>
        </p:txBody>
      </p:sp>
      <p:sp xmlns:a="http://schemas.openxmlformats.org/drawingml/2006/main">
        <p:nvSpPr>
          <p:cNvPr id="57" name="TextBox 56"/>
          <p:cNvSpPr txBox="1"/>
          <p:nvPr/>
        </p:nvSpPr>
        <p:spPr>
          <a:xfrm>
            <a:off x="7178040" y="4334256"/>
            <a:ext cx="2926080" cy="320040"/>
          </a:xfrm>
          <a:prstGeom prst="rect">
            <a:avLst/>
          </a:prstGeom>
          <a:noFill/>
        </p:spPr>
        <p:txBody>
          <a:bodyPr wrap="square" lIns="0" rIns="0" tIns="0" bIns="0" anchor="t">
            <a:spAutoFit/>
          </a:bodyPr>
          <a:lstStyle/>
          <a:p>
            <a:pPr algn="l"/>
            <a:r>
              <a:rPr sz="1400" b="0">
                <a:solidFill>
                  <a:srgbClr val="4B5859"/>
                </a:solidFill>
                <a:latin typeface="Arial"/>
              </a:rPr>
              <a:t>IMU SDA / SCL (AS5600 next)</a:t>
            </a:r>
          </a:p>
        </p:txBody>
      </p:sp>
      <p:sp xmlns:a="http://schemas.openxmlformats.org/drawingml/2006/main">
        <p:nvSpPr>
          <p:cNvPr id="58" name="TextBox 57"/>
          <p:cNvSpPr txBox="1"/>
          <p:nvPr/>
        </p:nvSpPr>
        <p:spPr>
          <a:xfrm>
            <a:off x="10149840" y="4334256"/>
            <a:ext cx="1508760" cy="320040"/>
          </a:xfrm>
          <a:prstGeom prst="rect">
            <a:avLst/>
          </a:prstGeom>
          <a:noFill/>
        </p:spPr>
        <p:txBody>
          <a:bodyPr wrap="square" lIns="0" rIns="0" tIns="0" bIns="0" anchor="t">
            <a:spAutoFit/>
          </a:bodyPr>
          <a:lstStyle/>
          <a:p>
            <a:pPr algn="l"/>
            <a:r>
              <a:rPr sz="1400" b="0">
                <a:solidFill>
                  <a:srgbClr val="4B5859"/>
                </a:solidFill>
                <a:latin typeface="Arial"/>
              </a:rPr>
              <a:t>I²C</a:t>
            </a:r>
          </a:p>
        </p:txBody>
      </p:sp>
      <p:cxnSp xmlns:a="http://schemas.openxmlformats.org/drawingml/2006/main">
        <p:nvCxnSpPr>
          <p:cNvPr id="59" name="Connector 58"/>
          <p:cNvCxnSpPr/>
          <p:nvPr/>
        </p:nvCxnSpPr>
        <p:spPr>
          <a:xfrm>
            <a:off x="5349240" y="4663440"/>
            <a:ext cx="630936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60" name="TextBox 59"/>
          <p:cNvSpPr txBox="1"/>
          <p:nvPr/>
        </p:nvSpPr>
        <p:spPr>
          <a:xfrm>
            <a:off x="5349240" y="4736592"/>
            <a:ext cx="1783080" cy="320040"/>
          </a:xfrm>
          <a:prstGeom prst="rect">
            <a:avLst/>
          </a:prstGeom>
          <a:noFill/>
        </p:spPr>
        <p:txBody>
          <a:bodyPr wrap="square" lIns="0" rIns="0" tIns="0" bIns="0" anchor="t">
            <a:spAutoFit/>
          </a:bodyPr>
          <a:lstStyle/>
          <a:p>
            <a:pPr algn="l"/>
            <a:r>
              <a:rPr sz="1400" b="1">
                <a:solidFill>
                  <a:srgbClr val="1E2629"/>
                </a:solidFill>
                <a:latin typeface="Arial"/>
              </a:rPr>
              <a:t>5 V / 3.3 V / GND</a:t>
            </a:r>
          </a:p>
        </p:txBody>
      </p:sp>
      <p:sp xmlns:a="http://schemas.openxmlformats.org/drawingml/2006/main">
        <p:nvSpPr>
          <p:cNvPr id="61" name="TextBox 60"/>
          <p:cNvSpPr txBox="1"/>
          <p:nvPr/>
        </p:nvSpPr>
        <p:spPr>
          <a:xfrm>
            <a:off x="7178040" y="4736592"/>
            <a:ext cx="2926080" cy="320040"/>
          </a:xfrm>
          <a:prstGeom prst="rect">
            <a:avLst/>
          </a:prstGeom>
          <a:noFill/>
        </p:spPr>
        <p:txBody>
          <a:bodyPr wrap="square" lIns="0" rIns="0" tIns="0" bIns="0" anchor="t">
            <a:spAutoFit/>
          </a:bodyPr>
          <a:lstStyle/>
          <a:p>
            <a:pPr algn="l"/>
            <a:r>
              <a:rPr sz="1400" b="0">
                <a:solidFill>
                  <a:srgbClr val="4B5859"/>
                </a:solidFill>
                <a:latin typeface="Arial"/>
              </a:rPr>
              <a:t>LiDAR 5 V · mics 3.3 V</a:t>
            </a:r>
          </a:p>
        </p:txBody>
      </p:sp>
      <p:sp xmlns:a="http://schemas.openxmlformats.org/drawingml/2006/main">
        <p:nvSpPr>
          <p:cNvPr id="62" name="TextBox 61"/>
          <p:cNvSpPr txBox="1"/>
          <p:nvPr/>
        </p:nvSpPr>
        <p:spPr>
          <a:xfrm>
            <a:off x="10149840" y="4736592"/>
            <a:ext cx="1508760" cy="320040"/>
          </a:xfrm>
          <a:prstGeom prst="rect">
            <a:avLst/>
          </a:prstGeom>
          <a:noFill/>
        </p:spPr>
        <p:txBody>
          <a:bodyPr wrap="square" lIns="0" rIns="0" tIns="0" bIns="0" anchor="t">
            <a:spAutoFit/>
          </a:bodyPr>
          <a:lstStyle/>
          <a:p>
            <a:pPr algn="l"/>
            <a:r>
              <a:rPr sz="1400" b="0">
                <a:solidFill>
                  <a:srgbClr val="4B5859"/>
                </a:solidFill>
                <a:latin typeface="Arial"/>
              </a:rPr>
              <a:t>power bank</a:t>
            </a:r>
          </a:p>
        </p:txBody>
      </p:sp>
      <p:cxnSp xmlns:a="http://schemas.openxmlformats.org/drawingml/2006/main">
        <p:nvCxnSpPr>
          <p:cNvPr id="63" name="Connector 62"/>
          <p:cNvCxnSpPr/>
          <p:nvPr/>
        </p:nvCxnSpPr>
        <p:spPr>
          <a:xfrm>
            <a:off x="5349240" y="5065776"/>
            <a:ext cx="630936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64" name="Rectangle 63"/>
          <p:cNvSpPr/>
          <p:nvPr/>
        </p:nvSpPr>
        <p:spPr>
          <a:xfrm>
            <a:off x="5349240" y="5239512"/>
            <a:ext cx="6309360" cy="960120"/>
          </a:xfrm>
          <a:prstGeom prst="rect">
            <a:avLst/>
          </a:prstGeom>
          <a:solidFill>
            <a:srgbClr val="E2F2EF"/>
          </a:solidFill>
          <a:ln w="9525">
            <a:solidFill>
              <a:srgbClr val="8F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5" name="TextBox 64"/>
          <p:cNvSpPr txBox="1"/>
          <p:nvPr/>
        </p:nvSpPr>
        <p:spPr>
          <a:xfrm>
            <a:off x="5532120" y="5330952"/>
            <a:ext cx="5943600" cy="822960"/>
          </a:xfrm>
          <a:prstGeom prst="rect">
            <a:avLst/>
          </a:prstGeom>
          <a:noFill/>
        </p:spPr>
        <p:txBody>
          <a:bodyPr wrap="square" lIns="0" rIns="0" tIns="0" bIns="0" anchor="t">
            <a:spAutoFit/>
          </a:bodyPr>
          <a:lstStyle/>
          <a:p>
            <a:pPr algn="l"/>
            <a:r>
              <a:rPr sz="1300" b="0">
                <a:solidFill>
                  <a:srgbClr val="1E2629"/>
                </a:solidFill>
                <a:latin typeface="Arial"/>
              </a:rPr>
              <a:t>Servo power comes from its own 5–6 V supply, ground shared with the ESP32.</a:t>
            </a:r>
          </a:p>
          <a:p>
            <a:pPr algn="l">
              <a:spcBef>
                <a:spcPts val="400"/>
              </a:spcBef>
            </a:pPr>
            <a:r>
              <a:rPr sz="1300" b="0">
                <a:solidFill>
                  <a:srgbClr val="4B5859"/>
                </a:solidFill>
                <a:latin typeface="Arial"/>
              </a:rPr>
              <a:t>USB-C: flashing and debug · BOOT + RESET buttons: hold BOOT, tap RESET to flash.</a:t>
            </a:r>
          </a:p>
        </p:txBody>
      </p:sp>
    </p:spTree>
    <p:extLst>
      <p:ext uri="{BB962C8B-B14F-4D97-AF65-F5344CB8AC3E}">
        <p14:creationId xmlns:p14="http://schemas.microsoft.com/office/powerpoint/2010/main" val="1344042575"/>
      </p:ext>
    </p:extLst>
  </p:cSld>
</p:sld>
</file>

<file path=ppt/slides/slide14.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Phase-I results</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14</a:t>
            </a:r>
          </a:p>
        </p:txBody>
      </p:sp>
      <p:sp>
        <p:nvSpPr>
          <p:cNvPr id="6" name="Design and software evidence">
            <a:extLst xmlns:a="http://schemas.openxmlformats.org/drawingml/2006/main">
              <a:ext uri="{FF2B5EF4-FFF2-40B4-BE49-F238E27FC236}">
                <a16:creationId xmlns:a16="http://schemas.microsoft.com/office/drawing/2014/main" id="{7C8DF293-EE8A-47B9-9EA0-819D558584D1}"/>
              </a:ext>
            </a:extLst>
          </p:cNvPr>
          <p:cNvSpPr>
            <a:spLocks xmlns:a="http://schemas.openxmlformats.org/drawingml/2006/main" noGrp="1"/>
          </p:cNvSpPr>
          <p:nvPr/>
        </p:nvSpPr>
        <p:spPr>
          <a:xfrm xmlns:a="http://schemas.openxmlformats.org/drawingml/2006/main">
            <a:off x="533400" y="14382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B7F70"/>
                </a:solidFill>
                <a:latin typeface="Arial"/>
                <a:ea typeface="Arial"/>
                <a:cs typeface="Arial"/>
              </a:defRPr>
            </a:pPr>
            <a:r>
              <a:rPr sz="2100" b="1">
                <a:solidFill>
                  <a:srgbClr val="0B7F70"/>
                </a:solidFill>
                <a:latin typeface="Arial"/>
                <a:ea typeface="Arial"/>
                <a:cs typeface="Arial"/>
              </a:rPr>
              <a:t>Design and software evidence</a:t>
            </a:r>
          </a:p>
        </p:txBody>
      </p:sp>
      <p:sp>
        <p:nvSpPr>
          <p:cNvPr id="7" name="Literature and architecture">
            <a:extLst xmlns:a="http://schemas.openxmlformats.org/drawingml/2006/main">
              <a:ext uri="{FF2B5EF4-FFF2-40B4-BE49-F238E27FC236}">
                <a16:creationId xmlns:a16="http://schemas.microsoft.com/office/drawing/2014/main" id="{757C8A1D-67E3-47C5-98BF-80884782A6C3}"/>
              </a:ext>
            </a:extLst>
          </p:cNvPr>
          <p:cNvSpPr>
            <a:spLocks xmlns:a="http://schemas.openxmlformats.org/drawingml/2006/main" noGrp="1"/>
          </p:cNvSpPr>
          <p:nvPr/>
        </p:nvSpPr>
        <p:spPr>
          <a:xfrm xmlns:a="http://schemas.openxmlformats.org/drawingml/2006/main">
            <a:off x="533400" y="2114550"/>
            <a:ext cx="4933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E2629"/>
                </a:solidFill>
                <a:latin typeface="Arial"/>
                <a:ea typeface="Arial"/>
                <a:cs typeface="Arial"/>
              </a:defRPr>
            </a:pPr>
            <a:r>
              <a:rPr sz="1950" b="1">
                <a:solidFill>
                  <a:srgbClr val="1E2629"/>
                </a:solidFill>
                <a:latin typeface="Arial"/>
                <a:ea typeface="Arial"/>
                <a:cs typeface="Arial"/>
              </a:rPr>
              <a:t>Literature and architecture</a:t>
            </a:r>
          </a:p>
        </p:txBody>
      </p:sp>
      <p:sp>
        <p:nvSpPr>
          <p:cNvPr id="8" name="Review-based design and an evaluation plan.">
            <a:extLst xmlns:a="http://schemas.openxmlformats.org/drawingml/2006/main">
              <a:ext uri="{FF2B5EF4-FFF2-40B4-BE49-F238E27FC236}">
                <a16:creationId xmlns:a16="http://schemas.microsoft.com/office/drawing/2014/main" id="{FDAEDF80-ABBD-413A-ABA4-82A651BFF3BD}"/>
              </a:ext>
            </a:extLst>
          </p:cNvPr>
          <p:cNvSpPr>
            <a:spLocks xmlns:a="http://schemas.openxmlformats.org/drawingml/2006/main" noGrp="1"/>
          </p:cNvSpPr>
          <p:nvPr/>
        </p:nvSpPr>
        <p:spPr>
          <a:xfrm xmlns:a="http://schemas.openxmlformats.org/drawingml/2006/main">
            <a:off x="533400" y="2524125"/>
            <a:ext cx="4933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Review-based design and an evaluation plan.</a:t>
            </a:r>
          </a:p>
        </p:txBody>
      </p:sp>
      <p:sp>
        <p:nvSpPr>
          <p:cNvPr id="9" name="Tilt mechanism and pipeline">
            <a:extLst xmlns:a="http://schemas.openxmlformats.org/drawingml/2006/main">
              <a:ext uri="{FF2B5EF4-FFF2-40B4-BE49-F238E27FC236}">
                <a16:creationId xmlns:a16="http://schemas.microsoft.com/office/drawing/2014/main" id="{723BDF7F-9E0A-469A-BD2C-FE523A4C6D0A}"/>
              </a:ext>
            </a:extLst>
          </p:cNvPr>
          <p:cNvSpPr>
            <a:spLocks xmlns:a="http://schemas.openxmlformats.org/drawingml/2006/main" noGrp="1"/>
          </p:cNvSpPr>
          <p:nvPr/>
        </p:nvSpPr>
        <p:spPr>
          <a:xfrm xmlns:a="http://schemas.openxmlformats.org/drawingml/2006/main">
            <a:off x="533400" y="3105150"/>
            <a:ext cx="4933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E2629"/>
                </a:solidFill>
                <a:latin typeface="Arial"/>
                <a:ea typeface="Arial"/>
                <a:cs typeface="Arial"/>
              </a:defRPr>
            </a:pPr>
            <a:r>
              <a:rPr sz="1950" b="1">
                <a:solidFill>
                  <a:srgbClr val="1E2629"/>
                </a:solidFill>
                <a:latin typeface="Arial"/>
                <a:ea typeface="Arial"/>
                <a:cs typeface="Arial"/>
              </a:rPr>
              <a:t>Tilt mechanism and pipeline</a:t>
            </a:r>
          </a:p>
        </p:txBody>
      </p:sp>
      <p:sp>
        <p:nvSpPr>
          <p:cNvPr id="10" name="CAD plus capture, mapping and display software.">
            <a:extLst xmlns:a="http://schemas.openxmlformats.org/drawingml/2006/main">
              <a:ext uri="{FF2B5EF4-FFF2-40B4-BE49-F238E27FC236}">
                <a16:creationId xmlns:a16="http://schemas.microsoft.com/office/drawing/2014/main" id="{281747B0-82F9-40BA-B61A-60205D21D2D2}"/>
              </a:ext>
            </a:extLst>
          </p:cNvPr>
          <p:cNvSpPr>
            <a:spLocks xmlns:a="http://schemas.openxmlformats.org/drawingml/2006/main" noGrp="1"/>
          </p:cNvSpPr>
          <p:nvPr/>
        </p:nvSpPr>
        <p:spPr>
          <a:xfrm xmlns:a="http://schemas.openxmlformats.org/drawingml/2006/main">
            <a:off x="533400" y="3514725"/>
            <a:ext cx="4933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CAD plus capture, mapping and display software.</a:t>
            </a:r>
          </a:p>
        </p:txBody>
      </p:sp>
      <p:sp>
        <p:nvSpPr>
          <p:cNvPr id="11" name="Repeatable analysis">
            <a:extLst xmlns:a="http://schemas.openxmlformats.org/drawingml/2006/main">
              <a:ext uri="{FF2B5EF4-FFF2-40B4-BE49-F238E27FC236}">
                <a16:creationId xmlns:a16="http://schemas.microsoft.com/office/drawing/2014/main" id="{AF6E7304-BCAD-43C3-B76F-92155FDA90C8}"/>
              </a:ext>
            </a:extLst>
          </p:cNvPr>
          <p:cNvSpPr>
            <a:spLocks xmlns:a="http://schemas.openxmlformats.org/drawingml/2006/main" noGrp="1"/>
          </p:cNvSpPr>
          <p:nvPr/>
        </p:nvSpPr>
        <p:spPr>
          <a:xfrm xmlns:a="http://schemas.openxmlformats.org/drawingml/2006/main">
            <a:off x="533400" y="4095750"/>
            <a:ext cx="4933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E2629"/>
                </a:solidFill>
                <a:latin typeface="Arial"/>
                <a:ea typeface="Arial"/>
                <a:cs typeface="Arial"/>
              </a:defRPr>
            </a:pPr>
            <a:r>
              <a:rPr sz="1950" b="1">
                <a:solidFill>
                  <a:srgbClr val="1E2629"/>
                </a:solidFill>
                <a:latin typeface="Arial"/>
                <a:ea typeface="Arial"/>
                <a:cs typeface="Arial"/>
              </a:rPr>
              <a:t>Repeatable analysis</a:t>
            </a:r>
          </a:p>
        </p:txBody>
      </p:sp>
      <p:sp>
        <p:nvSpPr>
          <p:cNvPr id="12" name="Raw sessions, replay and PLY / CSV export.">
            <a:extLst xmlns:a="http://schemas.openxmlformats.org/drawingml/2006/main">
              <a:ext uri="{FF2B5EF4-FFF2-40B4-BE49-F238E27FC236}">
                <a16:creationId xmlns:a16="http://schemas.microsoft.com/office/drawing/2014/main" id="{A1D15932-0637-46FB-AF06-69E6F239CEB6}"/>
              </a:ext>
            </a:extLst>
          </p:cNvPr>
          <p:cNvSpPr>
            <a:spLocks xmlns:a="http://schemas.openxmlformats.org/drawingml/2006/main" noGrp="1"/>
          </p:cNvSpPr>
          <p:nvPr/>
        </p:nvSpPr>
        <p:spPr>
          <a:xfrm xmlns:a="http://schemas.openxmlformats.org/drawingml/2006/main">
            <a:off x="533400" y="4505325"/>
            <a:ext cx="4933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Raw sessions, replay and PLY / CSV export.</a:t>
            </a:r>
          </a:p>
        </p:txBody>
      </p:sp>
      <p:sp>
        <p:nvSpPr>
          <p:cNvPr id="17" name="">
            <a:extLst xmlns:a="http://schemas.openxmlformats.org/drawingml/2006/main">
              <a:ext uri="{FF2B5EF4-FFF2-40B4-BE49-F238E27FC236}">
                <a16:creationId xmlns:a16="http://schemas.microsoft.com/office/drawing/2014/main" id="{14892EFF-A252-4ADD-B633-32383E855357}"/>
              </a:ext>
            </a:extLst>
          </p:cNvPr>
          <p:cNvSpPr>
            <a:spLocks xmlns:a="http://schemas.openxmlformats.org/drawingml/2006/main" noGrp="1"/>
          </p:cNvSpPr>
          <p:nvPr/>
        </p:nvSpPr>
        <p:spPr>
          <a:xfrm xmlns:a="http://schemas.openxmlformats.org/drawingml/2006/main">
            <a:off x="533400" y="5153025"/>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18" name="Synthetic soak, 22 October">
            <a:extLst xmlns:a="http://schemas.openxmlformats.org/drawingml/2006/main">
              <a:ext uri="{FF2B5EF4-FFF2-40B4-BE49-F238E27FC236}">
                <a16:creationId xmlns:a16="http://schemas.microsoft.com/office/drawing/2014/main" id="{D410A983-FCCB-4422-9CD8-BCDFC44A611F}"/>
              </a:ext>
            </a:extLst>
          </p:cNvPr>
          <p:cNvSpPr>
            <a:spLocks xmlns:a="http://schemas.openxmlformats.org/drawingml/2006/main" noGrp="1"/>
          </p:cNvSpPr>
          <p:nvPr/>
        </p:nvSpPr>
        <p:spPr>
          <a:xfrm xmlns:a="http://schemas.openxmlformats.org/drawingml/2006/main">
            <a:off x="533400" y="52959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B7F70"/>
                </a:solidFill>
                <a:latin typeface="Arial"/>
                <a:ea typeface="Arial"/>
                <a:cs typeface="Arial"/>
              </a:defRPr>
            </a:pPr>
            <a:r>
              <a:rPr sz="1725" b="1">
                <a:solidFill>
                  <a:srgbClr val="0B7F70"/>
                </a:solidFill>
                <a:latin typeface="Arial"/>
                <a:ea typeface="Arial"/>
                <a:cs typeface="Arial"/>
              </a:rPr>
              <a:t>Synthetic soak, 22 October</a:t>
            </a:r>
          </a:p>
        </p:txBody>
      </p:sp>
      <p:sp>
        <p:nvSpPr>
          <p:cNvPr id="19" name="10 min">
            <a:extLst xmlns:a="http://schemas.openxmlformats.org/drawingml/2006/main">
              <a:ext uri="{FF2B5EF4-FFF2-40B4-BE49-F238E27FC236}">
                <a16:creationId xmlns:a16="http://schemas.microsoft.com/office/drawing/2014/main" id="{4A0E5CBD-7FAC-4E53-91E1-477AD037DC70}"/>
              </a:ext>
            </a:extLst>
          </p:cNvPr>
          <p:cNvSpPr>
            <a:spLocks xmlns:a="http://schemas.openxmlformats.org/drawingml/2006/main" noGrp="1"/>
          </p:cNvSpPr>
          <p:nvPr/>
        </p:nvSpPr>
        <p:spPr>
          <a:xfrm xmlns:a="http://schemas.openxmlformats.org/drawingml/2006/main">
            <a:off x="533400" y="5667375"/>
            <a:ext cx="1333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E2629"/>
                </a:solidFill>
                <a:latin typeface="Arial"/>
                <a:ea typeface="Arial"/>
                <a:cs typeface="Arial"/>
              </a:defRPr>
            </a:pPr>
            <a:r>
              <a:rPr sz="3225" b="1">
                <a:solidFill>
                  <a:srgbClr val="1E2629"/>
                </a:solidFill>
                <a:latin typeface="Arial"/>
                <a:ea typeface="Arial"/>
                <a:cs typeface="Arial"/>
              </a:rPr>
              <a:t>10 min</a:t>
            </a:r>
          </a:p>
        </p:txBody>
      </p:sp>
      <p:sp>
        <p:nvSpPr>
          <p:cNvPr id="20" name="Run duration">
            <a:extLst xmlns:a="http://schemas.openxmlformats.org/drawingml/2006/main">
              <a:ext uri="{FF2B5EF4-FFF2-40B4-BE49-F238E27FC236}">
                <a16:creationId xmlns:a16="http://schemas.microsoft.com/office/drawing/2014/main" id="{40619CAF-B1E3-43C0-A8C2-B68F965462EA}"/>
              </a:ext>
            </a:extLst>
          </p:cNvPr>
          <p:cNvSpPr>
            <a:spLocks xmlns:a="http://schemas.openxmlformats.org/drawingml/2006/main" noGrp="1"/>
          </p:cNvSpPr>
          <p:nvPr/>
        </p:nvSpPr>
        <p:spPr>
          <a:xfrm xmlns:a="http://schemas.openxmlformats.org/drawingml/2006/main">
            <a:off x="1952625" y="5724525"/>
            <a:ext cx="1362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B5859"/>
                </a:solidFill>
                <a:latin typeface="Arial"/>
                <a:ea typeface="Arial"/>
                <a:cs typeface="Arial"/>
              </a:defRPr>
            </a:pPr>
            <a:r>
              <a:rPr sz="1575" b="0">
                <a:solidFill>
                  <a:srgbClr val="4B5859"/>
                </a:solidFill>
                <a:latin typeface="Arial"/>
                <a:ea typeface="Arial"/>
                <a:cs typeface="Arial"/>
              </a:rPr>
              <a:t>Run duration</a:t>
            </a:r>
          </a:p>
        </p:txBody>
      </p:sp>
      <p:sp>
        <p:nvSpPr>
          <p:cNvPr id="21" name="38">
            <a:extLst xmlns:a="http://schemas.openxmlformats.org/drawingml/2006/main">
              <a:ext uri="{FF2B5EF4-FFF2-40B4-BE49-F238E27FC236}">
                <a16:creationId xmlns:a16="http://schemas.microsoft.com/office/drawing/2014/main" id="{8363D235-1348-4B16-849A-5B383ACFFEFC}"/>
              </a:ext>
            </a:extLst>
          </p:cNvPr>
          <p:cNvSpPr>
            <a:spLocks xmlns:a="http://schemas.openxmlformats.org/drawingml/2006/main" noGrp="1"/>
          </p:cNvSpPr>
          <p:nvPr/>
        </p:nvSpPr>
        <p:spPr>
          <a:xfrm xmlns:a="http://schemas.openxmlformats.org/drawingml/2006/main">
            <a:off x="3381375" y="5667375"/>
            <a:ext cx="1333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E2629"/>
                </a:solidFill>
                <a:latin typeface="Arial"/>
                <a:ea typeface="Arial"/>
                <a:cs typeface="Arial"/>
              </a:defRPr>
            </a:pPr>
            <a:r>
              <a:rPr sz="3225" b="1">
                <a:solidFill>
                  <a:srgbClr val="1E2629"/>
                </a:solidFill>
                <a:latin typeface="Arial"/>
                <a:ea typeface="Arial"/>
                <a:cs typeface="Arial"/>
              </a:rPr>
              <a:t>38</a:t>
            </a:r>
          </a:p>
        </p:txBody>
      </p:sp>
      <p:sp>
        <p:nvSpPr>
          <p:cNvPr id="22" name="Completed sweeps">
            <a:extLst xmlns:a="http://schemas.openxmlformats.org/drawingml/2006/main">
              <a:ext uri="{FF2B5EF4-FFF2-40B4-BE49-F238E27FC236}">
                <a16:creationId xmlns:a16="http://schemas.microsoft.com/office/drawing/2014/main" id="{A8F58308-F030-402D-A851-EFAC0B7FD3F7}"/>
              </a:ext>
            </a:extLst>
          </p:cNvPr>
          <p:cNvSpPr>
            <a:spLocks xmlns:a="http://schemas.openxmlformats.org/drawingml/2006/main" noGrp="1"/>
          </p:cNvSpPr>
          <p:nvPr/>
        </p:nvSpPr>
        <p:spPr>
          <a:xfrm xmlns:a="http://schemas.openxmlformats.org/drawingml/2006/main">
            <a:off x="4800600" y="5724525"/>
            <a:ext cx="1362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B5859"/>
                </a:solidFill>
                <a:latin typeface="Arial"/>
                <a:ea typeface="Arial"/>
                <a:cs typeface="Arial"/>
              </a:defRPr>
            </a:pPr>
            <a:r>
              <a:rPr sz="1575" b="0">
                <a:solidFill>
                  <a:srgbClr val="4B5859"/>
                </a:solidFill>
                <a:latin typeface="Arial"/>
                <a:ea typeface="Arial"/>
                <a:cs typeface="Arial"/>
              </a:rPr>
              <a:t>Completed sweeps</a:t>
            </a:r>
          </a:p>
        </p:txBody>
      </p:sp>
      <p:sp>
        <p:nvSpPr>
          <p:cNvPr id="23" name="9.46 M">
            <a:extLst xmlns:a="http://schemas.openxmlformats.org/drawingml/2006/main">
              <a:ext uri="{FF2B5EF4-FFF2-40B4-BE49-F238E27FC236}">
                <a16:creationId xmlns:a16="http://schemas.microsoft.com/office/drawing/2014/main" id="{90342DB9-DA80-429F-8B73-6F67540DFDD1}"/>
              </a:ext>
            </a:extLst>
          </p:cNvPr>
          <p:cNvSpPr>
            <a:spLocks xmlns:a="http://schemas.openxmlformats.org/drawingml/2006/main" noGrp="1"/>
          </p:cNvSpPr>
          <p:nvPr/>
        </p:nvSpPr>
        <p:spPr>
          <a:xfrm xmlns:a="http://schemas.openxmlformats.org/drawingml/2006/main">
            <a:off x="6229350" y="5667375"/>
            <a:ext cx="1333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E2629"/>
                </a:solidFill>
                <a:latin typeface="Arial"/>
                <a:ea typeface="Arial"/>
                <a:cs typeface="Arial"/>
              </a:defRPr>
            </a:pPr>
            <a:r>
              <a:rPr sz="3225" b="1">
                <a:solidFill>
                  <a:srgbClr val="1E2629"/>
                </a:solidFill>
                <a:latin typeface="Arial"/>
                <a:ea typeface="Arial"/>
                <a:cs typeface="Arial"/>
              </a:rPr>
              <a:t>9.46 M</a:t>
            </a:r>
          </a:p>
        </p:txBody>
      </p:sp>
      <p:sp>
        <p:nvSpPr>
          <p:cNvPr id="24" name="Points processed">
            <a:extLst xmlns:a="http://schemas.openxmlformats.org/drawingml/2006/main">
              <a:ext uri="{FF2B5EF4-FFF2-40B4-BE49-F238E27FC236}">
                <a16:creationId xmlns:a16="http://schemas.microsoft.com/office/drawing/2014/main" id="{77FA2779-1847-44F8-B8F5-E906B765F1F7}"/>
              </a:ext>
            </a:extLst>
          </p:cNvPr>
          <p:cNvSpPr>
            <a:spLocks xmlns:a="http://schemas.openxmlformats.org/drawingml/2006/main" noGrp="1"/>
          </p:cNvSpPr>
          <p:nvPr/>
        </p:nvSpPr>
        <p:spPr>
          <a:xfrm xmlns:a="http://schemas.openxmlformats.org/drawingml/2006/main">
            <a:off x="7648575" y="5724525"/>
            <a:ext cx="1362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B5859"/>
                </a:solidFill>
                <a:latin typeface="Arial"/>
                <a:ea typeface="Arial"/>
                <a:cs typeface="Arial"/>
              </a:defRPr>
            </a:pPr>
            <a:r>
              <a:rPr sz="1575" b="0">
                <a:solidFill>
                  <a:srgbClr val="4B5859"/>
                </a:solidFill>
                <a:latin typeface="Arial"/>
                <a:ea typeface="Arial"/>
                <a:cs typeface="Arial"/>
              </a:rPr>
              <a:t>Points processed</a:t>
            </a:r>
          </a:p>
        </p:txBody>
      </p:sp>
      <p:sp>
        <p:nvSpPr>
          <p:cNvPr id="25" name="0">
            <a:extLst xmlns:a="http://schemas.openxmlformats.org/drawingml/2006/main">
              <a:ext uri="{FF2B5EF4-FFF2-40B4-BE49-F238E27FC236}">
                <a16:creationId xmlns:a16="http://schemas.microsoft.com/office/drawing/2014/main" id="{8B50A6EF-F1C7-4525-8F62-71F76440F955}"/>
              </a:ext>
            </a:extLst>
          </p:cNvPr>
          <p:cNvSpPr>
            <a:spLocks xmlns:a="http://schemas.openxmlformats.org/drawingml/2006/main" noGrp="1"/>
          </p:cNvSpPr>
          <p:nvPr/>
        </p:nvSpPr>
        <p:spPr>
          <a:xfrm xmlns:a="http://schemas.openxmlformats.org/drawingml/2006/main">
            <a:off x="9077325" y="5667375"/>
            <a:ext cx="1333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E2629"/>
                </a:solidFill>
                <a:latin typeface="Arial"/>
                <a:ea typeface="Arial"/>
                <a:cs typeface="Arial"/>
              </a:defRPr>
            </a:pPr>
            <a:r>
              <a:rPr sz="3225" b="1">
                <a:solidFill>
                  <a:srgbClr val="1E2629"/>
                </a:solidFill>
                <a:latin typeface="Arial"/>
                <a:ea typeface="Arial"/>
                <a:cs typeface="Arial"/>
              </a:rPr>
              <a:t>0</a:t>
            </a:r>
          </a:p>
        </p:txBody>
      </p:sp>
      <p:sp>
        <p:nvSpPr>
          <p:cNvPr id="26" name="Failed starts">
            <a:extLst xmlns:a="http://schemas.openxmlformats.org/drawingml/2006/main">
              <a:ext uri="{FF2B5EF4-FFF2-40B4-BE49-F238E27FC236}">
                <a16:creationId xmlns:a16="http://schemas.microsoft.com/office/drawing/2014/main" id="{CDEA63D6-1F53-4509-8C96-7B33CFD530BE}"/>
              </a:ext>
            </a:extLst>
          </p:cNvPr>
          <p:cNvSpPr>
            <a:spLocks xmlns:a="http://schemas.openxmlformats.org/drawingml/2006/main" noGrp="1"/>
          </p:cNvSpPr>
          <p:nvPr/>
        </p:nvSpPr>
        <p:spPr>
          <a:xfrm xmlns:a="http://schemas.openxmlformats.org/drawingml/2006/main">
            <a:off x="10496550" y="5724525"/>
            <a:ext cx="1362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B5859"/>
                </a:solidFill>
                <a:latin typeface="Arial"/>
                <a:ea typeface="Arial"/>
                <a:cs typeface="Arial"/>
              </a:defRPr>
            </a:pPr>
            <a:r>
              <a:rPr sz="1575" b="0">
                <a:solidFill>
                  <a:srgbClr val="4B5859"/>
                </a:solidFill>
                <a:latin typeface="Arial"/>
                <a:ea typeface="Arial"/>
                <a:cs typeface="Arial"/>
              </a:rPr>
              <a:t>Failed starts</a:t>
            </a:r>
          </a:p>
        </p:txBody>
      </p:sp>
      <p:sp>
        <p:nvSpPr>
          <p:cNvPr id="27" name="0 WebSocket parse errors. These synthetic results do not est">
            <a:extLst xmlns:a="http://schemas.openxmlformats.org/drawingml/2006/main">
              <a:ext uri="{FF2B5EF4-FFF2-40B4-BE49-F238E27FC236}">
                <a16:creationId xmlns:a16="http://schemas.microsoft.com/office/drawing/2014/main" id="{76992EAB-9EBA-4677-A313-6D9A7B0B686B}"/>
              </a:ext>
            </a:extLst>
          </p:cNvPr>
          <p:cNvSpPr>
            <a:spLocks xmlns:a="http://schemas.openxmlformats.org/drawingml/2006/main" noGrp="1"/>
          </p:cNvSpPr>
          <p:nvPr/>
        </p:nvSpPr>
        <p:spPr>
          <a:xfrm xmlns:a="http://schemas.openxmlformats.org/drawingml/2006/main">
            <a:off x="533400" y="62579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859"/>
                </a:solidFill>
                <a:latin typeface="Arial"/>
                <a:ea typeface="Arial"/>
                <a:cs typeface="Arial"/>
              </a:defRPr>
            </a:pPr>
            <a:r>
              <a:rPr sz="1425" b="0">
                <a:solidFill>
                  <a:srgbClr val="4B5859"/>
                </a:solidFill>
                <a:latin typeface="Arial"/>
                <a:ea typeface="Arial"/>
                <a:cs typeface="Arial"/>
              </a:rPr>
              <a:t>0 WebSocket parse errors. These synthetic results do not establish physical accuracy or acoustic performance.</a:t>
            </a:r>
          </a:p>
        </p:txBody>
      </p:sp>
      <p:pic xmlns:a="http://schemas.openxmlformats.org/drawingml/2006/main" xmlns:r="http://schemas.openxmlformats.org/officeDocument/2006/relationships">
        <p:nvPicPr>
          <p:cNvPr id="29" name="Picture 28" descr="shot7-cloud-room-sweep.jpg"/>
          <p:cNvPicPr>
            <a:picLocks noChangeAspect="1"/>
          </p:cNvPicPr>
          <p:nvPr/>
        </p:nvPicPr>
        <p:blipFill>
          <a:blip r:embed="rId6"/>
          <a:stretch>
            <a:fillRect/>
          </a:stretch>
        </p:blipFill>
        <p:spPr>
          <a:xfrm>
            <a:off x="6034125" y="1435608"/>
            <a:ext cx="5515660" cy="3447288"/>
          </a:xfrm>
          <a:prstGeom prst="rect">
            <a:avLst/>
          </a:prstGeom>
        </p:spPr>
      </p:pic>
      <p:sp xmlns:a="http://schemas.openxmlformats.org/drawingml/2006/main">
        <p:nvSpPr>
          <p:cNvPr id="30" name="TextBox 29"/>
          <p:cNvSpPr txBox="1"/>
          <p:nvPr/>
        </p:nvSpPr>
        <p:spPr>
          <a:xfrm>
            <a:off x="5925312" y="4901184"/>
            <a:ext cx="5733288" cy="228600"/>
          </a:xfrm>
          <a:prstGeom prst="rect">
            <a:avLst/>
          </a:prstGeom>
          <a:noFill/>
        </p:spPr>
        <p:txBody>
          <a:bodyPr wrap="square" lIns="0" rIns="0" tIns="0" bIns="0" anchor="t">
            <a:spAutoFit/>
          </a:bodyPr>
          <a:lstStyle/>
          <a:p>
            <a:pPr algn="r"/>
            <a:r>
              <a:rPr sz="1100" b="0">
                <a:solidFill>
                  <a:srgbClr val="6E7C7D"/>
                </a:solidFill>
                <a:latin typeface="Arial"/>
              </a:rPr>
              <a:t>3D point cloud and 2.5D height map in the dashboard</a:t>
            </a:r>
          </a:p>
        </p:txBody>
      </p:sp>
    </p:spTree>
    <p:extLst>
      <p:ext uri="{BB962C8B-B14F-4D97-AF65-F5344CB8AC3E}">
        <p14:creationId xmlns:p14="http://schemas.microsoft.com/office/powerpoint/2010/main" val="1344042575"/>
      </p:ext>
    </p:extLst>
  </p:cSld>
</p:sld>
</file>

<file path=ppt/slides/slide15.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The dashboard</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15</a:t>
            </a:r>
          </a:p>
        </p:txBody>
      </p:sp>
      <p:sp xmlns:a="http://schemas.openxmlformats.org/drawingml/2006/main">
        <p:nvSpPr>
          <p:cNvPr id="29" name="TextBox 28"/>
          <p:cNvSpPr txBox="1"/>
          <p:nvPr/>
        </p:nvSpPr>
        <p:spPr>
          <a:xfrm>
            <a:off x="530352" y="1408176"/>
            <a:ext cx="11128248" cy="365760"/>
          </a:xfrm>
          <a:prstGeom prst="rect">
            <a:avLst/>
          </a:prstGeom>
          <a:noFill/>
        </p:spPr>
        <p:txBody>
          <a:bodyPr wrap="square" lIns="0" rIns="0" tIns="0" bIns="0" anchor="t">
            <a:spAutoFit/>
          </a:bodyPr>
          <a:lstStyle/>
          <a:p>
            <a:pPr algn="l"/>
            <a:r>
              <a:rPr sz="2000" b="1">
                <a:solidFill>
                  <a:srgbClr val="0B7F70"/>
                </a:solidFill>
                <a:latin typeface="Arial"/>
              </a:rPr>
              <a:t>What each screen gives the operator</a:t>
            </a:r>
          </a:p>
        </p:txBody>
      </p:sp>
      <p:pic xmlns:a="http://schemas.openxmlformats.org/drawingml/2006/main" xmlns:r="http://schemas.openxmlformats.org/officeDocument/2006/relationships">
        <p:nvPicPr>
          <p:cNvPr id="30" name="Picture 29" descr="shot6-ops-help.jpg"/>
          <p:cNvPicPr>
            <a:picLocks noChangeAspect="1"/>
          </p:cNvPicPr>
          <p:nvPr/>
        </p:nvPicPr>
        <p:blipFill>
          <a:blip r:embed="rId5"/>
          <a:stretch>
            <a:fillRect/>
          </a:stretch>
        </p:blipFill>
        <p:spPr>
          <a:xfrm>
            <a:off x="530352" y="1920240"/>
            <a:ext cx="3291839" cy="2057400"/>
          </a:xfrm>
          <a:prstGeom prst="rect">
            <a:avLst/>
          </a:prstGeom>
        </p:spPr>
      </p:pic>
      <p:sp xmlns:a="http://schemas.openxmlformats.org/drawingml/2006/main">
        <p:nvSpPr>
          <p:cNvPr id="31" name="TextBox 30"/>
          <p:cNvSpPr txBox="1"/>
          <p:nvPr/>
        </p:nvSpPr>
        <p:spPr>
          <a:xfrm>
            <a:off x="3959352" y="1965960"/>
            <a:ext cx="2011680" cy="2011680"/>
          </a:xfrm>
          <a:prstGeom prst="rect">
            <a:avLst/>
          </a:prstGeom>
          <a:noFill/>
        </p:spPr>
        <p:txBody>
          <a:bodyPr wrap="square" lIns="0" rIns="0" tIns="0" bIns="0" anchor="t">
            <a:spAutoFit/>
          </a:bodyPr>
          <a:lstStyle/>
          <a:p>
            <a:pPr algn="l"/>
            <a:r>
              <a:rPr sz="1500" b="1">
                <a:solidFill>
                  <a:srgbClr val="1E2629"/>
                </a:solidFill>
                <a:latin typeface="Arial"/>
              </a:rPr>
              <a:t>Operator</a:t>
            </a:r>
          </a:p>
          <a:p>
            <a:pPr algn="l">
              <a:spcBef>
                <a:spcPts val="400"/>
              </a:spcBef>
            </a:pPr>
            <a:r>
              <a:rPr sz="1300" b="0">
                <a:solidFill>
                  <a:srgbClr val="4B5859"/>
                </a:solidFill>
                <a:latin typeface="Arial"/>
              </a:rPr>
              <a:t>Map of walkable floor, obstacles and possible voids; next scan spot; calls for help as a red line.</a:t>
            </a:r>
          </a:p>
        </p:txBody>
      </p:sp>
      <p:pic xmlns:a="http://schemas.openxmlformats.org/drawingml/2006/main" xmlns:r="http://schemas.openxmlformats.org/officeDocument/2006/relationships">
        <p:nvPicPr>
          <p:cNvPr id="32" name="Picture 31" descr="shot6-sound-heard.jpg"/>
          <p:cNvPicPr>
            <a:picLocks noChangeAspect="1"/>
          </p:cNvPicPr>
          <p:nvPr/>
        </p:nvPicPr>
        <p:blipFill>
          <a:blip r:embed="rId6"/>
          <a:stretch>
            <a:fillRect/>
          </a:stretch>
        </p:blipFill>
        <p:spPr>
          <a:xfrm>
            <a:off x="6172200" y="1920240"/>
            <a:ext cx="3291839" cy="2057400"/>
          </a:xfrm>
          <a:prstGeom prst="rect">
            <a:avLst/>
          </a:prstGeom>
        </p:spPr>
      </p:pic>
      <p:sp xmlns:a="http://schemas.openxmlformats.org/drawingml/2006/main">
        <p:nvSpPr>
          <p:cNvPr id="33" name="TextBox 32"/>
          <p:cNvSpPr txBox="1"/>
          <p:nvPr/>
        </p:nvSpPr>
        <p:spPr>
          <a:xfrm>
            <a:off x="9601200" y="1965960"/>
            <a:ext cx="2011680" cy="2011680"/>
          </a:xfrm>
          <a:prstGeom prst="rect">
            <a:avLst/>
          </a:prstGeom>
          <a:noFill/>
        </p:spPr>
        <p:txBody>
          <a:bodyPr wrap="square" lIns="0" rIns="0" tIns="0" bIns="0" anchor="t">
            <a:spAutoFit/>
          </a:bodyPr>
          <a:lstStyle/>
          <a:p>
            <a:pPr algn="l"/>
            <a:r>
              <a:rPr sz="1500" b="1">
                <a:solidFill>
                  <a:srgbClr val="1E2629"/>
                </a:solidFill>
                <a:latin typeface="Arial"/>
              </a:rPr>
              <a:t>Sound</a:t>
            </a:r>
          </a:p>
          <a:p>
            <a:pPr algn="l">
              <a:spcBef>
                <a:spcPts val="400"/>
              </a:spcBef>
            </a:pPr>
            <a:r>
              <a:rPr sz="1300" b="0">
                <a:solidFill>
                  <a:srgbClr val="4B5859"/>
                </a:solidFill>
                <a:latin typeface="Arial"/>
              </a:rPr>
              <a:t>Live 4-mic waveforms, direction dial with red dots for calls for help, what was heard.</a:t>
            </a:r>
          </a:p>
        </p:txBody>
      </p:sp>
      <p:pic xmlns:a="http://schemas.openxmlformats.org/drawingml/2006/main" xmlns:r="http://schemas.openxmlformats.org/officeDocument/2006/relationships">
        <p:nvPicPr>
          <p:cNvPr id="34" name="Picture 33" descr="shot7-cloud-room-sweep.jpg"/>
          <p:cNvPicPr>
            <a:picLocks noChangeAspect="1"/>
          </p:cNvPicPr>
          <p:nvPr/>
        </p:nvPicPr>
        <p:blipFill>
          <a:blip r:embed="rId7"/>
          <a:stretch>
            <a:fillRect/>
          </a:stretch>
        </p:blipFill>
        <p:spPr>
          <a:xfrm>
            <a:off x="530352" y="4206240"/>
            <a:ext cx="3291839" cy="2057400"/>
          </a:xfrm>
          <a:prstGeom prst="rect">
            <a:avLst/>
          </a:prstGeom>
        </p:spPr>
      </p:pic>
      <p:sp xmlns:a="http://schemas.openxmlformats.org/drawingml/2006/main">
        <p:nvSpPr>
          <p:cNvPr id="35" name="TextBox 34"/>
          <p:cNvSpPr txBox="1"/>
          <p:nvPr/>
        </p:nvSpPr>
        <p:spPr>
          <a:xfrm>
            <a:off x="3959352" y="4251959"/>
            <a:ext cx="2011680" cy="2011680"/>
          </a:xfrm>
          <a:prstGeom prst="rect">
            <a:avLst/>
          </a:prstGeom>
          <a:noFill/>
        </p:spPr>
        <p:txBody>
          <a:bodyPr wrap="square" lIns="0" rIns="0" tIns="0" bIns="0" anchor="t">
            <a:spAutoFit/>
          </a:bodyPr>
          <a:lstStyle/>
          <a:p>
            <a:pPr algn="l"/>
            <a:r>
              <a:rPr sz="1500" b="1">
                <a:solidFill>
                  <a:srgbClr val="1E2629"/>
                </a:solidFill>
                <a:latin typeface="Arial"/>
              </a:rPr>
              <a:t>Point cloud and height map</a:t>
            </a:r>
          </a:p>
          <a:p>
            <a:pPr algn="l">
              <a:spcBef>
                <a:spcPts val="400"/>
              </a:spcBef>
            </a:pPr>
            <a:r>
              <a:rPr sz="1300" b="0">
                <a:solidFill>
                  <a:srgbClr val="4B5859"/>
                </a:solidFill>
                <a:latin typeface="Arial"/>
              </a:rPr>
              <a:t>3D view of the scanned room and the 2.5D height map below it.</a:t>
            </a:r>
          </a:p>
        </p:txBody>
      </p:sp>
      <p:pic xmlns:a="http://schemas.openxmlformats.org/drawingml/2006/main" xmlns:r="http://schemas.openxmlformats.org/officeDocument/2006/relationships">
        <p:nvPicPr>
          <p:cNvPr id="36" name="Picture 35" descr="shot6-room.jpg"/>
          <p:cNvPicPr>
            <a:picLocks noChangeAspect="1"/>
          </p:cNvPicPr>
          <p:nvPr/>
        </p:nvPicPr>
        <p:blipFill>
          <a:blip r:embed="rId8"/>
          <a:stretch>
            <a:fillRect/>
          </a:stretch>
        </p:blipFill>
        <p:spPr>
          <a:xfrm>
            <a:off x="6172200" y="4206240"/>
            <a:ext cx="3291839" cy="2057400"/>
          </a:xfrm>
          <a:prstGeom prst="rect">
            <a:avLst/>
          </a:prstGeom>
        </p:spPr>
      </p:pic>
      <p:sp xmlns:a="http://schemas.openxmlformats.org/drawingml/2006/main">
        <p:nvSpPr>
          <p:cNvPr id="37" name="TextBox 36"/>
          <p:cNvSpPr txBox="1"/>
          <p:nvPr/>
        </p:nvSpPr>
        <p:spPr>
          <a:xfrm>
            <a:off x="9601200" y="4251959"/>
            <a:ext cx="2011680" cy="2011680"/>
          </a:xfrm>
          <a:prstGeom prst="rect">
            <a:avLst/>
          </a:prstGeom>
          <a:noFill/>
        </p:spPr>
        <p:txBody>
          <a:bodyPr wrap="square" lIns="0" rIns="0" tIns="0" bIns="0" anchor="t">
            <a:spAutoFit/>
          </a:bodyPr>
          <a:lstStyle/>
          <a:p>
            <a:pPr algn="l"/>
            <a:r>
              <a:rPr sz="1500" b="1">
                <a:solidFill>
                  <a:srgbClr val="1E2629"/>
                </a:solidFill>
                <a:latin typeface="Arial"/>
              </a:rPr>
              <a:t>Room map</a:t>
            </a:r>
          </a:p>
          <a:p>
            <a:pPr algn="l">
              <a:spcBef>
                <a:spcPts val="400"/>
              </a:spcBef>
            </a:pPr>
            <a:r>
              <a:rPr sz="1300" b="0">
                <a:solidFill>
                  <a:srgbClr val="4B5859"/>
                </a:solidFill>
                <a:latin typeface="Arial"/>
              </a:rPr>
              <a:t>Floor plan built by moving the scanner from spot to spot, with the path walked.</a:t>
            </a:r>
          </a:p>
        </p:txBody>
      </p:sp>
    </p:spTree>
    <p:extLst>
      <p:ext uri="{BB962C8B-B14F-4D97-AF65-F5344CB8AC3E}">
        <p14:creationId xmlns:p14="http://schemas.microsoft.com/office/powerpoint/2010/main" val="1344042575"/>
      </p:ext>
    </p:extLst>
  </p:cSld>
</p:sld>
</file>

<file path=ppt/slides/slide16.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What makes our system different</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16</a:t>
            </a:r>
          </a:p>
        </p:txBody>
      </p:sp>
      <p:sp xmlns:a="http://schemas.openxmlformats.org/drawingml/2006/main">
        <p:nvSpPr>
          <p:cNvPr id="29" name="Rectangle 28"/>
          <p:cNvSpPr/>
          <p:nvPr/>
        </p:nvSpPr>
        <p:spPr>
          <a:xfrm>
            <a:off x="530352" y="1600200"/>
            <a:ext cx="3575304" cy="420624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758952" y="1783080"/>
            <a:ext cx="3200400" cy="685800"/>
          </a:xfrm>
          <a:prstGeom prst="rect">
            <a:avLst/>
          </a:prstGeom>
          <a:noFill/>
        </p:spPr>
        <p:txBody>
          <a:bodyPr wrap="square" lIns="0" rIns="0" tIns="0" bIns="0" anchor="t">
            <a:spAutoFit/>
          </a:bodyPr>
          <a:lstStyle/>
          <a:p>
            <a:pPr algn="l"/>
            <a:r>
              <a:rPr sz="3400" b="1">
                <a:solidFill>
                  <a:srgbClr val="0B7F70"/>
                </a:solidFill>
                <a:latin typeface="Arial"/>
              </a:rPr>
              <a:t>4 mics</a:t>
            </a:r>
          </a:p>
        </p:txBody>
      </p:sp>
      <p:sp xmlns:a="http://schemas.openxmlformats.org/drawingml/2006/main">
        <p:nvSpPr>
          <p:cNvPr id="31" name="TextBox 30"/>
          <p:cNvSpPr txBox="1"/>
          <p:nvPr/>
        </p:nvSpPr>
        <p:spPr>
          <a:xfrm>
            <a:off x="758952" y="2487168"/>
            <a:ext cx="3200400" cy="411480"/>
          </a:xfrm>
          <a:prstGeom prst="rect">
            <a:avLst/>
          </a:prstGeom>
          <a:noFill/>
        </p:spPr>
        <p:txBody>
          <a:bodyPr wrap="square" lIns="0" rIns="0" tIns="0" bIns="0" anchor="t">
            <a:spAutoFit/>
          </a:bodyPr>
          <a:lstStyle/>
          <a:p>
            <a:pPr algn="l"/>
            <a:r>
              <a:rPr sz="1800" b="1">
                <a:solidFill>
                  <a:srgbClr val="1E2629"/>
                </a:solidFill>
                <a:latin typeface="Arial"/>
              </a:rPr>
              <a:t>Hearing where people are</a:t>
            </a:r>
          </a:p>
        </p:txBody>
      </p:sp>
      <p:sp xmlns:a="http://schemas.openxmlformats.org/drawingml/2006/main">
        <p:nvSpPr>
          <p:cNvPr id="32" name="TextBox 31"/>
          <p:cNvSpPr txBox="1"/>
          <p:nvPr/>
        </p:nvSpPr>
        <p:spPr>
          <a:xfrm>
            <a:off x="758952" y="3017520"/>
            <a:ext cx="3154680" cy="2743200"/>
          </a:xfrm>
          <a:prstGeom prst="rect">
            <a:avLst/>
          </a:prstGeom>
          <a:noFill/>
        </p:spPr>
        <p:txBody>
          <a:bodyPr wrap="square" lIns="0" rIns="0" tIns="0" bIns="0" anchor="t">
            <a:spAutoFit/>
          </a:bodyPr>
          <a:lstStyle/>
          <a:p>
            <a:pPr algn="l" marL="164592" indent="-164592">
              <a:buChar char="•"/>
            </a:pPr>
            <a:r>
              <a:rPr sz="1400" b="0">
                <a:solidFill>
                  <a:srgbClr val="4B5859"/>
                </a:solidFill>
                <a:latin typeface="Arial"/>
              </a:rPr>
              <a:t>Four ₹250 MEMS mics time each sound to the microsecond and turn it into a direction in about 3 ms.</a:t>
            </a:r>
          </a:p>
          <a:p>
            <a:pPr algn="l" marL="164592" indent="-164592">
              <a:spcBef>
                <a:spcPts val="1000"/>
              </a:spcBef>
              <a:buChar char="•"/>
            </a:pPr>
            <a:r>
              <a:rPr sz="1400" b="0">
                <a:solidFill>
                  <a:srgbClr val="4B5859"/>
                </a:solidFill>
                <a:latin typeface="Arial"/>
              </a:rPr>
              <a:t>A noisy mic is dropped automatically; one clap test calibrates the array.</a:t>
            </a:r>
          </a:p>
          <a:p>
            <a:pPr algn="l" marL="164592" indent="-164592">
              <a:spcBef>
                <a:spcPts val="1000"/>
              </a:spcBef>
              <a:buChar char="•"/>
            </a:pPr>
            <a:r>
              <a:rPr sz="1400" b="0">
                <a:solidFill>
                  <a:srgbClr val="4B5859"/>
                </a:solidFill>
                <a:latin typeface="Arial"/>
              </a:rPr>
              <a:t>“Save me”, “bachao”, “kaapadi” are flagged even when misheard, and shown as a red dot.</a:t>
            </a:r>
          </a:p>
        </p:txBody>
      </p:sp>
      <p:sp xmlns:a="http://schemas.openxmlformats.org/drawingml/2006/main">
        <p:nvSpPr>
          <p:cNvPr id="33" name="Rectangle 32"/>
          <p:cNvSpPr/>
          <p:nvPr/>
        </p:nvSpPr>
        <p:spPr>
          <a:xfrm>
            <a:off x="4306824" y="1600200"/>
            <a:ext cx="3575304" cy="420624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4535424" y="1783080"/>
            <a:ext cx="3200400" cy="685800"/>
          </a:xfrm>
          <a:prstGeom prst="rect">
            <a:avLst/>
          </a:prstGeom>
          <a:noFill/>
        </p:spPr>
        <p:txBody>
          <a:bodyPr wrap="square" lIns="0" rIns="0" tIns="0" bIns="0" anchor="t">
            <a:spAutoFit/>
          </a:bodyPr>
          <a:lstStyle/>
          <a:p>
            <a:pPr algn="l"/>
            <a:r>
              <a:rPr sz="3400" b="1">
                <a:solidFill>
                  <a:srgbClr val="0B7F70"/>
                </a:solidFill>
                <a:latin typeface="Arial"/>
              </a:rPr>
              <a:t>$0.00002</a:t>
            </a:r>
          </a:p>
        </p:txBody>
      </p:sp>
      <p:sp xmlns:a="http://schemas.openxmlformats.org/drawingml/2006/main">
        <p:nvSpPr>
          <p:cNvPr id="35" name="TextBox 34"/>
          <p:cNvSpPr txBox="1"/>
          <p:nvPr/>
        </p:nvSpPr>
        <p:spPr>
          <a:xfrm>
            <a:off x="4535424" y="2487168"/>
            <a:ext cx="3200400" cy="411480"/>
          </a:xfrm>
          <a:prstGeom prst="rect">
            <a:avLst/>
          </a:prstGeom>
          <a:noFill/>
        </p:spPr>
        <p:txBody>
          <a:bodyPr wrap="square" lIns="0" rIns="0" tIns="0" bIns="0" anchor="t">
            <a:spAutoFit/>
          </a:bodyPr>
          <a:lstStyle/>
          <a:p>
            <a:pPr algn="l"/>
            <a:r>
              <a:rPr sz="1800" b="1">
                <a:solidFill>
                  <a:srgbClr val="1E2629"/>
                </a:solidFill>
                <a:latin typeface="Arial"/>
              </a:rPr>
              <a:t>AI only where it pays</a:t>
            </a:r>
          </a:p>
        </p:txBody>
      </p:sp>
      <p:sp xmlns:a="http://schemas.openxmlformats.org/drawingml/2006/main">
        <p:nvSpPr>
          <p:cNvPr id="36" name="TextBox 35"/>
          <p:cNvSpPr txBox="1"/>
          <p:nvPr/>
        </p:nvSpPr>
        <p:spPr>
          <a:xfrm>
            <a:off x="4535424" y="3017520"/>
            <a:ext cx="3154680" cy="2743200"/>
          </a:xfrm>
          <a:prstGeom prst="rect">
            <a:avLst/>
          </a:prstGeom>
          <a:noFill/>
        </p:spPr>
        <p:txBody>
          <a:bodyPr wrap="square" lIns="0" rIns="0" tIns="0" bIns="0" anchor="t">
            <a:spAutoFit/>
          </a:bodyPr>
          <a:lstStyle/>
          <a:p>
            <a:pPr algn="l" marL="164592" indent="-164592">
              <a:buChar char="•"/>
            </a:pPr>
            <a:r>
              <a:rPr sz="1400" b="0">
                <a:solidFill>
                  <a:srgbClr val="4B5859"/>
                </a:solidFill>
                <a:latin typeface="Arial"/>
              </a:rPr>
              <a:t>Maps and directions are plain maths: no AI, no cost, fully explainable.</a:t>
            </a:r>
          </a:p>
          <a:p>
            <a:pPr algn="l" marL="164592" indent="-164592">
              <a:spcBef>
                <a:spcPts val="1000"/>
              </a:spcBef>
              <a:buChar char="•"/>
            </a:pPr>
            <a:r>
              <a:rPr sz="1400" b="0">
                <a:solidFill>
                  <a:srgbClr val="4B5859"/>
                </a:solidFill>
                <a:latin typeface="Arial"/>
              </a:rPr>
              <a:t>Speech is sent only when someone talks, never for knocks or noise.</a:t>
            </a:r>
          </a:p>
          <a:p>
            <a:pPr algn="l" marL="164592" indent="-164592">
              <a:spcBef>
                <a:spcPts val="1000"/>
              </a:spcBef>
              <a:buChar char="•"/>
            </a:pPr>
            <a:r>
              <a:rPr sz="1400" b="0">
                <a:solidFill>
                  <a:srgbClr val="4B5859"/>
                </a:solidFill>
                <a:latin typeface="Arial"/>
              </a:rPr>
              <a:t>Jev answers one yes/no question (“is this a call for help?”) instead of a chat model; Gemini only writes the final report.</a:t>
            </a:r>
          </a:p>
        </p:txBody>
      </p:sp>
      <p:sp xmlns:a="http://schemas.openxmlformats.org/drawingml/2006/main">
        <p:nvSpPr>
          <p:cNvPr id="37" name="Rectangle 36"/>
          <p:cNvSpPr/>
          <p:nvPr/>
        </p:nvSpPr>
        <p:spPr>
          <a:xfrm>
            <a:off x="8083296" y="1600200"/>
            <a:ext cx="3575304" cy="420624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TextBox 37"/>
          <p:cNvSpPr txBox="1"/>
          <p:nvPr/>
        </p:nvSpPr>
        <p:spPr>
          <a:xfrm>
            <a:off x="8311896" y="1783080"/>
            <a:ext cx="3200400" cy="685800"/>
          </a:xfrm>
          <a:prstGeom prst="rect">
            <a:avLst/>
          </a:prstGeom>
          <a:noFill/>
        </p:spPr>
        <p:txBody>
          <a:bodyPr wrap="square" lIns="0" rIns="0" tIns="0" bIns="0" anchor="t">
            <a:spAutoFit/>
          </a:bodyPr>
          <a:lstStyle/>
          <a:p>
            <a:pPr algn="l"/>
            <a:r>
              <a:rPr sz="3400" b="1">
                <a:solidFill>
                  <a:srgbClr val="0B7F70"/>
                </a:solidFill>
                <a:latin typeface="Arial"/>
              </a:rPr>
              <a:t>≈ ₹5k</a:t>
            </a:r>
          </a:p>
        </p:txBody>
      </p:sp>
      <p:sp xmlns:a="http://schemas.openxmlformats.org/drawingml/2006/main">
        <p:nvSpPr>
          <p:cNvPr id="39" name="TextBox 38"/>
          <p:cNvSpPr txBox="1"/>
          <p:nvPr/>
        </p:nvSpPr>
        <p:spPr>
          <a:xfrm>
            <a:off x="8311896" y="2487168"/>
            <a:ext cx="3200400" cy="411480"/>
          </a:xfrm>
          <a:prstGeom prst="rect">
            <a:avLst/>
          </a:prstGeom>
          <a:noFill/>
        </p:spPr>
        <p:txBody>
          <a:bodyPr wrap="square" lIns="0" rIns="0" tIns="0" bIns="0" anchor="t">
            <a:spAutoFit/>
          </a:bodyPr>
          <a:lstStyle/>
          <a:p>
            <a:pPr algn="l"/>
            <a:r>
              <a:rPr sz="1800" b="1">
                <a:solidFill>
                  <a:srgbClr val="1E2629"/>
                </a:solidFill>
                <a:latin typeface="Arial"/>
              </a:rPr>
              <a:t>Low-cost 3D</a:t>
            </a:r>
          </a:p>
        </p:txBody>
      </p:sp>
      <p:sp xmlns:a="http://schemas.openxmlformats.org/drawingml/2006/main">
        <p:nvSpPr>
          <p:cNvPr id="40" name="TextBox 39"/>
          <p:cNvSpPr txBox="1"/>
          <p:nvPr/>
        </p:nvSpPr>
        <p:spPr>
          <a:xfrm>
            <a:off x="8311896" y="3017520"/>
            <a:ext cx="3154680" cy="2743200"/>
          </a:xfrm>
          <a:prstGeom prst="rect">
            <a:avLst/>
          </a:prstGeom>
          <a:noFill/>
        </p:spPr>
        <p:txBody>
          <a:bodyPr wrap="square" lIns="0" rIns="0" tIns="0" bIns="0" anchor="t">
            <a:spAutoFit/>
          </a:bodyPr>
          <a:lstStyle/>
          <a:p>
            <a:pPr algn="l" marL="164592" indent="-164592">
              <a:buChar char="•"/>
            </a:pPr>
            <a:r>
              <a:rPr sz="1400" b="0">
                <a:solidFill>
                  <a:srgbClr val="4B5859"/>
                </a:solidFill>
                <a:latin typeface="Arial"/>
              </a:rPr>
              <a:t>A servo tilts a 2D LiDAR into a 3D scanner, instead of a 3D LiDAR costing lakhs.</a:t>
            </a:r>
          </a:p>
          <a:p>
            <a:pPr algn="l" marL="164592" indent="-164592">
              <a:spcBef>
                <a:spcPts val="1000"/>
              </a:spcBef>
              <a:buChar char="•"/>
            </a:pPr>
            <a:r>
              <a:rPr sz="1400" b="0">
                <a:solidFill>
                  <a:srgbClr val="4B5859"/>
                </a:solidFill>
                <a:latin typeface="Arial"/>
              </a:rPr>
              <a:t>An ESP32-S3 replaces an onboard computer; the laptop does the heavy work.</a:t>
            </a:r>
          </a:p>
          <a:p>
            <a:pPr algn="l" marL="164592" indent="-164592">
              <a:spcBef>
                <a:spcPts val="1000"/>
              </a:spcBef>
              <a:buChar char="•"/>
            </a:pPr>
            <a:r>
              <a:rPr sz="1400" b="0">
                <a:solidFill>
                  <a:srgbClr val="4B5859"/>
                </a:solidFill>
                <a:latin typeface="Arial"/>
              </a:rPr>
              <a:t>Electronics besides the LiDAR cost about ₹5,000. The same rig maps rooms by hand.</a:t>
            </a:r>
          </a:p>
        </p:txBody>
      </p:sp>
      <p:sp xmlns:a="http://schemas.openxmlformats.org/drawingml/2006/main">
        <p:nvSpPr>
          <p:cNvPr id="41" name="TextBox 40"/>
          <p:cNvSpPr txBox="1"/>
          <p:nvPr/>
        </p:nvSpPr>
        <p:spPr>
          <a:xfrm>
            <a:off x="530352" y="5943600"/>
            <a:ext cx="11128248" cy="201168"/>
          </a:xfrm>
          <a:prstGeom prst="rect">
            <a:avLst/>
          </a:prstGeom>
          <a:noFill/>
        </p:spPr>
        <p:txBody>
          <a:bodyPr wrap="square" lIns="0" rIns="0" tIns="0" bIns="0" anchor="t">
            <a:spAutoFit/>
          </a:bodyPr>
          <a:lstStyle/>
          <a:p>
            <a:pPr algn="l"/>
            <a:r>
              <a:rPr sz="1000" b="0">
                <a:solidFill>
                  <a:srgbClr val="6E7C7D"/>
                </a:solidFill>
                <a:latin typeface="Arial"/>
              </a:rPr>
              <a:t>Jev: $0.00002 per call-for-help check, measured. Prices approximate, October 2026.</a:t>
            </a:r>
          </a:p>
        </p:txBody>
      </p:sp>
    </p:spTree>
    <p:extLst>
      <p:ext uri="{BB962C8B-B14F-4D97-AF65-F5344CB8AC3E}">
        <p14:creationId xmlns:p14="http://schemas.microsoft.com/office/powerpoint/2010/main" val="1344042575"/>
      </p:ext>
    </p:extLst>
  </p:cSld>
</p:sld>
</file>

<file path=ppt/slides/slide17.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605a8b3153f497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roject progress">
            <a:extLst xmlns:a="http://schemas.openxmlformats.org/drawingml/2006/main">
              <a:ext uri="{FF2B5EF4-FFF2-40B4-BE49-F238E27FC236}">
                <a16:creationId xmlns:a16="http://schemas.microsoft.com/office/drawing/2014/main" id="{22579FE4-B248-4D24-A744-3892FE2F923C}"/>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Project progress</a:t>
            </a:r>
          </a:p>
        </p:txBody>
      </p:sp>
      <p:sp>
        <p:nvSpPr>
          <p:cNvPr id="3" name="">
            <a:extLst xmlns:a="http://schemas.openxmlformats.org/drawingml/2006/main">
              <a:ext uri="{FF2B5EF4-FFF2-40B4-BE49-F238E27FC236}">
                <a16:creationId xmlns:a16="http://schemas.microsoft.com/office/drawing/2014/main" id="{6E03B03A-D216-44F4-97AD-A489C1FDE724}"/>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8B6B552D-240A-4E14-9FF0-3471F3506E41}"/>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1">
            <a:extLst xmlns:a="http://schemas.openxmlformats.org/drawingml/2006/main">
              <a:ext uri="{FF2B5EF4-FFF2-40B4-BE49-F238E27FC236}">
                <a16:creationId xmlns:a16="http://schemas.microsoft.com/office/drawing/2014/main" id="{7BE647DD-B2B7-4DF7-BFF5-0FB7571235FB}"/>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17</a:t>
            </a:r>
          </a:p>
        </p:txBody>
      </p:sp>
      <p:pic xmlns:a="http://schemas.openxmlformats.org/drawingml/2006/main" xmlns:r="http://schemas.openxmlformats.org/officeDocument/2006/relationships">
        <p:nvPicPr>
          <p:cNvPr id="24" name="Picture 23" descr="rig.jpg"/>
          <p:cNvPicPr>
            <a:picLocks noChangeAspect="1"/>
          </p:cNvPicPr>
          <p:nvPr/>
        </p:nvPicPr>
        <p:blipFill>
          <a:blip r:embed="rId6"/>
          <a:stretch>
            <a:fillRect/>
          </a:stretch>
        </p:blipFill>
        <p:spPr>
          <a:xfrm>
            <a:off x="741867" y="1463040"/>
            <a:ext cx="4789049" cy="3913632"/>
          </a:xfrm>
          <a:prstGeom prst="rect">
            <a:avLst/>
          </a:prstGeom>
        </p:spPr>
      </p:pic>
      <p:sp xmlns:a="http://schemas.openxmlformats.org/drawingml/2006/main">
        <p:nvSpPr>
          <p:cNvPr id="25" name="TextBox 24"/>
          <p:cNvSpPr txBox="1"/>
          <p:nvPr/>
        </p:nvSpPr>
        <p:spPr>
          <a:xfrm>
            <a:off x="530352" y="5468112"/>
            <a:ext cx="5212080" cy="457200"/>
          </a:xfrm>
          <a:prstGeom prst="rect">
            <a:avLst/>
          </a:prstGeom>
          <a:noFill/>
        </p:spPr>
        <p:txBody>
          <a:bodyPr wrap="square" lIns="0" rIns="0" tIns="0" bIns="0" anchor="t">
            <a:spAutoFit/>
          </a:bodyPr>
          <a:lstStyle/>
          <a:p>
            <a:pPr algn="l"/>
            <a:r>
              <a:rPr sz="1200" b="0">
                <a:solidFill>
                  <a:srgbClr val="6E7C7D"/>
                </a:solidFill>
                <a:latin typeface="Arial"/>
              </a:rPr>
              <a:t>Bench rig: RPLIDAR on the 3D-printed tilt cradle, with its servo.</a:t>
            </a:r>
          </a:p>
        </p:txBody>
      </p:sp>
      <p:sp xmlns:a="http://schemas.openxmlformats.org/drawingml/2006/main">
        <p:nvSpPr>
          <p:cNvPr id="26" name="TextBox 25"/>
          <p:cNvSpPr txBox="1"/>
          <p:nvPr/>
        </p:nvSpPr>
        <p:spPr>
          <a:xfrm>
            <a:off x="6080760" y="1463040"/>
            <a:ext cx="5577840" cy="1188720"/>
          </a:xfrm>
          <a:prstGeom prst="rect">
            <a:avLst/>
          </a:prstGeom>
          <a:noFill/>
        </p:spPr>
        <p:txBody>
          <a:bodyPr wrap="square" lIns="0" rIns="0" tIns="0" bIns="0" anchor="t">
            <a:spAutoFit/>
          </a:bodyPr>
          <a:lstStyle/>
          <a:p>
            <a:pPr algn="l"/>
            <a:r>
              <a:rPr sz="1600" b="1">
                <a:solidFill>
                  <a:srgbClr val="0B7F70"/>
                </a:solidFill>
                <a:latin typeface="Arial"/>
              </a:rPr>
              <a:t>Completed</a:t>
            </a:r>
          </a:p>
          <a:p>
            <a:pPr algn="l">
              <a:spcBef>
                <a:spcPts val="300"/>
              </a:spcBef>
            </a:pPr>
            <a:r>
              <a:rPr sz="1300" b="0">
                <a:solidFill>
                  <a:srgbClr val="4B5859"/>
                </a:solidFill>
                <a:latin typeface="Arial"/>
              </a:rPr>
              <a:t>LiDAR and 4 mics streaming over the rig's own Wi-Fi · dashboard with 7 screens · call-for-help detection with direction · room mapping from 6 spots · 125 automated tests</a:t>
            </a:r>
          </a:p>
        </p:txBody>
      </p:sp>
      <p:cxnSp xmlns:a="http://schemas.openxmlformats.org/drawingml/2006/main">
        <p:nvCxnSpPr>
          <p:cNvPr id="27" name="Connector 26"/>
          <p:cNvCxnSpPr/>
          <p:nvPr/>
        </p:nvCxnSpPr>
        <p:spPr>
          <a:xfrm>
            <a:off x="6080760" y="2542032"/>
            <a:ext cx="557784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TextBox 27"/>
          <p:cNvSpPr txBox="1"/>
          <p:nvPr/>
        </p:nvSpPr>
        <p:spPr>
          <a:xfrm>
            <a:off x="6080760" y="2651760"/>
            <a:ext cx="5577840" cy="1188720"/>
          </a:xfrm>
          <a:prstGeom prst="rect">
            <a:avLst/>
          </a:prstGeom>
          <a:noFill/>
        </p:spPr>
        <p:txBody>
          <a:bodyPr wrap="square" lIns="0" rIns="0" tIns="0" bIns="0" anchor="t">
            <a:spAutoFit/>
          </a:bodyPr>
          <a:lstStyle/>
          <a:p>
            <a:pPr algn="l"/>
            <a:r>
              <a:rPr sz="1600" b="1">
                <a:solidFill>
                  <a:srgbClr val="0B7F70"/>
                </a:solidFill>
                <a:latin typeface="Arial"/>
              </a:rPr>
              <a:t>Measured</a:t>
            </a:r>
          </a:p>
          <a:p>
            <a:pPr algn="l">
              <a:spcBef>
                <a:spcPts val="300"/>
              </a:spcBef>
            </a:pPr>
            <a:r>
              <a:rPr sz="1300" b="0">
                <a:solidFill>
                  <a:srgbClr val="4B5859"/>
                </a:solidFill>
                <a:latin typeface="Arial"/>
              </a:rPr>
              <a:t>10 Hz, ~2,860 points per turn · range noise 0.9 mm under 1 m, 4.8 mm at 2–4 m · call for help flagged in ~2 s · map drift under 1 cm</a:t>
            </a:r>
          </a:p>
        </p:txBody>
      </p:sp>
      <p:cxnSp xmlns:a="http://schemas.openxmlformats.org/drawingml/2006/main">
        <p:nvCxnSpPr>
          <p:cNvPr id="29" name="Connector 28"/>
          <p:cNvCxnSpPr/>
          <p:nvPr/>
        </p:nvCxnSpPr>
        <p:spPr>
          <a:xfrm>
            <a:off x="6080760" y="3730752"/>
            <a:ext cx="557784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0" name="TextBox 29"/>
          <p:cNvSpPr txBox="1"/>
          <p:nvPr/>
        </p:nvSpPr>
        <p:spPr>
          <a:xfrm>
            <a:off x="6080760" y="3840480"/>
            <a:ext cx="5577840" cy="1188720"/>
          </a:xfrm>
          <a:prstGeom prst="rect">
            <a:avLst/>
          </a:prstGeom>
          <a:noFill/>
        </p:spPr>
        <p:txBody>
          <a:bodyPr wrap="square" lIns="0" rIns="0" tIns="0" bIns="0" anchor="t">
            <a:spAutoFit/>
          </a:bodyPr>
          <a:lstStyle/>
          <a:p>
            <a:pPr algn="l"/>
            <a:r>
              <a:rPr sz="1600" b="1">
                <a:solidFill>
                  <a:srgbClr val="0B7F70"/>
                </a:solidFill>
                <a:latin typeface="Arial"/>
              </a:rPr>
              <a:t>Blockers</a:t>
            </a:r>
          </a:p>
          <a:p>
            <a:pPr algn="l">
              <a:spcBef>
                <a:spcPts val="300"/>
              </a:spcBef>
            </a:pPr>
            <a:r>
              <a:rPr sz="1300" b="0">
                <a:solidFill>
                  <a:srgbClr val="4B5859"/>
                </a:solidFill>
                <a:latin typeface="Arial"/>
              </a:rPr>
              <a:t>Servo stalls on the shared power bank: needs its own 6 V / 3 A supply · one mic picks up servo noise</a:t>
            </a:r>
          </a:p>
        </p:txBody>
      </p:sp>
      <p:cxnSp xmlns:a="http://schemas.openxmlformats.org/drawingml/2006/main">
        <p:nvCxnSpPr>
          <p:cNvPr id="31" name="Connector 30"/>
          <p:cNvCxnSpPr/>
          <p:nvPr/>
        </p:nvCxnSpPr>
        <p:spPr>
          <a:xfrm>
            <a:off x="6080760" y="4919472"/>
            <a:ext cx="557784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2" name="TextBox 31"/>
          <p:cNvSpPr txBox="1"/>
          <p:nvPr/>
        </p:nvSpPr>
        <p:spPr>
          <a:xfrm>
            <a:off x="6080760" y="5029200"/>
            <a:ext cx="5577840" cy="1188720"/>
          </a:xfrm>
          <a:prstGeom prst="rect">
            <a:avLst/>
          </a:prstGeom>
          <a:noFill/>
        </p:spPr>
        <p:txBody>
          <a:bodyPr wrap="square" lIns="0" rIns="0" tIns="0" bIns="0" anchor="t">
            <a:spAutoFit/>
          </a:bodyPr>
          <a:lstStyle/>
          <a:p>
            <a:pPr algn="l"/>
            <a:r>
              <a:rPr sz="1600" b="1">
                <a:solidFill>
                  <a:srgbClr val="0B7F70"/>
                </a:solidFill>
                <a:latin typeface="Arial"/>
              </a:rPr>
              <a:t>Next</a:t>
            </a:r>
          </a:p>
          <a:p>
            <a:pPr algn="l">
              <a:spcBef>
                <a:spcPts val="300"/>
              </a:spcBef>
            </a:pPr>
            <a:r>
              <a:rPr sz="1300" b="0">
                <a:solidFill>
                  <a:srgbClr val="4B5859"/>
                </a:solidFill>
                <a:latin typeface="Arial"/>
              </a:rPr>
              <a:t>Separate servo supply → full 2.5D sweep at every spot · calibrate the mic array · field test in a mock collapsed room</a:t>
            </a:r>
          </a:p>
        </p:txBody>
      </p:sp>
      <p:cxnSp xmlns:a="http://schemas.openxmlformats.org/drawingml/2006/main">
        <p:nvCxnSpPr>
          <p:cNvPr id="33" name="Connector 32"/>
          <p:cNvCxnSpPr/>
          <p:nvPr/>
        </p:nvCxnSpPr>
        <p:spPr>
          <a:xfrm>
            <a:off x="6080760" y="6108192"/>
            <a:ext cx="5577840" cy="0"/>
          </a:xfrm>
          <a:prstGeom prst="line">
            <a:avLst/>
          </a:prstGeom>
          <a:ln w="9525">
            <a:solidFill>
              <a:srgbClr val="CBD5D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952958"/>
      </p:ext>
    </p:extLst>
  </p:cSld>
</p:sld>
</file>

<file path=ppt/slides/slide18.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Phase-II roadmap</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18</a:t>
            </a:r>
          </a:p>
        </p:txBody>
      </p:sp>
      <p:sp xmlns:a="http://schemas.openxmlformats.org/drawingml/2006/main">
        <p:nvSpPr>
          <p:cNvPr id="29" name="TextBox 28"/>
          <p:cNvSpPr txBox="1"/>
          <p:nvPr/>
        </p:nvSpPr>
        <p:spPr>
          <a:xfrm>
            <a:off x="530352" y="1408176"/>
            <a:ext cx="11128248" cy="365760"/>
          </a:xfrm>
          <a:prstGeom prst="rect">
            <a:avLst/>
          </a:prstGeom>
          <a:noFill/>
        </p:spPr>
        <p:txBody>
          <a:bodyPr wrap="square" lIns="0" rIns="0" tIns="0" bIns="0" anchor="t">
            <a:spAutoFit/>
          </a:bodyPr>
          <a:lstStyle/>
          <a:p>
            <a:pPr algn="l"/>
            <a:r>
              <a:rPr sz="2000" b="1">
                <a:solidFill>
                  <a:srgbClr val="0B7F70"/>
                </a:solidFill>
                <a:latin typeface="Arial"/>
              </a:rPr>
              <a:t>From a bench rig to a field-tested 2.5D search payload</a:t>
            </a:r>
          </a:p>
        </p:txBody>
      </p:sp>
      <p:cxnSp xmlns:a="http://schemas.openxmlformats.org/drawingml/2006/main">
        <p:nvCxnSpPr>
          <p:cNvPr id="30" name="Connector 29"/>
          <p:cNvCxnSpPr/>
          <p:nvPr/>
        </p:nvCxnSpPr>
        <p:spPr>
          <a:xfrm>
            <a:off x="1643176" y="2514600"/>
            <a:ext cx="8902599" cy="0"/>
          </a:xfrm>
          <a:prstGeom prst="line">
            <a:avLst/>
          </a:prstGeom>
          <a:ln w="9525">
            <a:solidFill>
              <a:srgbClr val="8FCFC4"/>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1" name="Oval 30"/>
          <p:cNvSpPr/>
          <p:nvPr/>
        </p:nvSpPr>
        <p:spPr>
          <a:xfrm>
            <a:off x="1368856" y="2240280"/>
            <a:ext cx="548640" cy="548640"/>
          </a:xfrm>
          <a:prstGeom prst="ellipse">
            <a:avLst/>
          </a:prstGeom>
          <a:solidFill>
            <a:srgbClr val="0B7F70"/>
          </a:solidFill>
          <a:ln w="19050">
            <a:solidFill>
              <a:srgbClr val="0B7F7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01</a:t>
            </a:r>
          </a:p>
        </p:txBody>
      </p:sp>
      <p:sp xmlns:a="http://schemas.openxmlformats.org/drawingml/2006/main">
        <p:nvSpPr>
          <p:cNvPr id="32" name="Rectangle 31"/>
          <p:cNvSpPr/>
          <p:nvPr/>
        </p:nvSpPr>
        <p:spPr>
          <a:xfrm>
            <a:off x="640080" y="3063240"/>
            <a:ext cx="2006193" cy="237744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TextBox 32"/>
          <p:cNvSpPr txBox="1"/>
          <p:nvPr/>
        </p:nvSpPr>
        <p:spPr>
          <a:xfrm>
            <a:off x="777240" y="3200400"/>
            <a:ext cx="1731873" cy="2148840"/>
          </a:xfrm>
          <a:prstGeom prst="rect">
            <a:avLst/>
          </a:prstGeom>
          <a:noFill/>
        </p:spPr>
        <p:txBody>
          <a:bodyPr wrap="square" lIns="0" rIns="0" tIns="0" bIns="0" anchor="t">
            <a:spAutoFit/>
          </a:bodyPr>
          <a:lstStyle/>
          <a:p>
            <a:pPr algn="l"/>
            <a:r>
              <a:rPr sz="1250" b="1">
                <a:solidFill>
                  <a:srgbClr val="0B7F70"/>
                </a:solidFill>
                <a:latin typeface="Arial"/>
              </a:rPr>
              <a:t>Nov 2026</a:t>
            </a:r>
          </a:p>
          <a:p>
            <a:pPr algn="l">
              <a:spcBef>
                <a:spcPts val="500"/>
              </a:spcBef>
            </a:pPr>
            <a:r>
              <a:rPr sz="1600" b="1">
                <a:solidFill>
                  <a:srgbClr val="1E2629"/>
                </a:solidFill>
                <a:latin typeface="Arial"/>
              </a:rPr>
              <a:t>Servo power fix</a:t>
            </a:r>
          </a:p>
          <a:p>
            <a:pPr algn="l">
              <a:spcBef>
                <a:spcPts val="500"/>
              </a:spcBef>
            </a:pPr>
            <a:r>
              <a:rPr sz="1300" b="0">
                <a:solidFill>
                  <a:srgbClr val="4B5859"/>
                </a:solidFill>
                <a:latin typeface="Arial"/>
              </a:rPr>
              <a:t>Own 6 V / 3 A supply; confirm the tilt with the IMU.</a:t>
            </a:r>
          </a:p>
        </p:txBody>
      </p:sp>
      <p:sp xmlns:a="http://schemas.openxmlformats.org/drawingml/2006/main">
        <p:nvSpPr>
          <p:cNvPr id="34" name="Oval 33"/>
          <p:cNvSpPr/>
          <p:nvPr/>
        </p:nvSpPr>
        <p:spPr>
          <a:xfrm>
            <a:off x="3594506" y="2240280"/>
            <a:ext cx="548640" cy="548640"/>
          </a:xfrm>
          <a:prstGeom prst="ellipse">
            <a:avLst/>
          </a:prstGeom>
          <a:solidFill>
            <a:srgbClr val="E2F2EF"/>
          </a:solidFill>
          <a:ln w="19050">
            <a:solidFill>
              <a:srgbClr val="0B7F7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7F70"/>
                </a:solidFill>
                <a:latin typeface="Arial"/>
              </a:rPr>
              <a:t>02</a:t>
            </a:r>
          </a:p>
        </p:txBody>
      </p:sp>
      <p:sp xmlns:a="http://schemas.openxmlformats.org/drawingml/2006/main">
        <p:nvSpPr>
          <p:cNvPr id="35" name="Rectangle 34"/>
          <p:cNvSpPr/>
          <p:nvPr/>
        </p:nvSpPr>
        <p:spPr>
          <a:xfrm>
            <a:off x="2865729" y="3063240"/>
            <a:ext cx="2006193" cy="237744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3002889" y="3200400"/>
            <a:ext cx="1731873" cy="2148840"/>
          </a:xfrm>
          <a:prstGeom prst="rect">
            <a:avLst/>
          </a:prstGeom>
          <a:noFill/>
        </p:spPr>
        <p:txBody>
          <a:bodyPr wrap="square" lIns="0" rIns="0" tIns="0" bIns="0" anchor="t">
            <a:spAutoFit/>
          </a:bodyPr>
          <a:lstStyle/>
          <a:p>
            <a:pPr algn="l"/>
            <a:r>
              <a:rPr sz="1250" b="1">
                <a:solidFill>
                  <a:srgbClr val="0B7F70"/>
                </a:solidFill>
                <a:latin typeface="Arial"/>
              </a:rPr>
              <a:t>Dec 2026</a:t>
            </a:r>
          </a:p>
          <a:p>
            <a:pPr algn="l">
              <a:spcBef>
                <a:spcPts val="500"/>
              </a:spcBef>
            </a:pPr>
            <a:r>
              <a:rPr sz="1600" b="1">
                <a:solidFill>
                  <a:srgbClr val="1E2629"/>
                </a:solidFill>
                <a:latin typeface="Arial"/>
              </a:rPr>
              <a:t>2.5D at every station</a:t>
            </a:r>
          </a:p>
          <a:p>
            <a:pPr algn="l">
              <a:spcBef>
                <a:spcPts val="500"/>
              </a:spcBef>
            </a:pPr>
            <a:r>
              <a:rPr sz="1300" b="0">
                <a:solidFill>
                  <a:srgbClr val="4B5859"/>
                </a:solidFill>
                <a:latin typeface="Arial"/>
              </a:rPr>
              <a:t>A tilt sweep at each of the 6 spots, merged into one room model.</a:t>
            </a:r>
          </a:p>
        </p:txBody>
      </p:sp>
      <p:sp xmlns:a="http://schemas.openxmlformats.org/drawingml/2006/main">
        <p:nvSpPr>
          <p:cNvPr id="37" name="Oval 36"/>
          <p:cNvSpPr/>
          <p:nvPr/>
        </p:nvSpPr>
        <p:spPr>
          <a:xfrm>
            <a:off x="5820156" y="2240280"/>
            <a:ext cx="548640" cy="548640"/>
          </a:xfrm>
          <a:prstGeom prst="ellipse">
            <a:avLst/>
          </a:prstGeom>
          <a:solidFill>
            <a:srgbClr val="E2F2EF"/>
          </a:solidFill>
          <a:ln w="19050">
            <a:solidFill>
              <a:srgbClr val="0B7F7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7F70"/>
                </a:solidFill>
                <a:latin typeface="Arial"/>
              </a:rPr>
              <a:t>03</a:t>
            </a:r>
          </a:p>
        </p:txBody>
      </p:sp>
      <p:sp xmlns:a="http://schemas.openxmlformats.org/drawingml/2006/main">
        <p:nvSpPr>
          <p:cNvPr id="38" name="Rectangle 37"/>
          <p:cNvSpPr/>
          <p:nvPr/>
        </p:nvSpPr>
        <p:spPr>
          <a:xfrm>
            <a:off x="5091379" y="3063240"/>
            <a:ext cx="2006193" cy="237744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5228539" y="3200400"/>
            <a:ext cx="1731873" cy="2148840"/>
          </a:xfrm>
          <a:prstGeom prst="rect">
            <a:avLst/>
          </a:prstGeom>
          <a:noFill/>
        </p:spPr>
        <p:txBody>
          <a:bodyPr wrap="square" lIns="0" rIns="0" tIns="0" bIns="0" anchor="t">
            <a:spAutoFit/>
          </a:bodyPr>
          <a:lstStyle/>
          <a:p>
            <a:pPr algn="l"/>
            <a:r>
              <a:rPr sz="1250" b="1">
                <a:solidFill>
                  <a:srgbClr val="0B7F70"/>
                </a:solidFill>
                <a:latin typeface="Arial"/>
              </a:rPr>
              <a:t>Jan 2027</a:t>
            </a:r>
          </a:p>
          <a:p>
            <a:pPr algn="l">
              <a:spcBef>
                <a:spcPts val="500"/>
              </a:spcBef>
            </a:pPr>
            <a:r>
              <a:rPr sz="1600" b="1">
                <a:solidFill>
                  <a:srgbClr val="1E2629"/>
                </a:solidFill>
                <a:latin typeface="Arial"/>
              </a:rPr>
              <a:t>Mic calibration</a:t>
            </a:r>
          </a:p>
          <a:p>
            <a:pPr algn="l">
              <a:spcBef>
                <a:spcPts val="500"/>
              </a:spcBef>
            </a:pPr>
            <a:r>
              <a:rPr sz="1300" b="0">
                <a:solidFill>
                  <a:srgbClr val="4B5859"/>
                </a:solidFill>
                <a:latin typeface="Arial"/>
              </a:rPr>
              <a:t>Clap test fixes channel order, yaw and timing; target ≤ 5° bearing error.</a:t>
            </a:r>
          </a:p>
        </p:txBody>
      </p:sp>
      <p:sp xmlns:a="http://schemas.openxmlformats.org/drawingml/2006/main">
        <p:nvSpPr>
          <p:cNvPr id="40" name="Oval 39"/>
          <p:cNvSpPr/>
          <p:nvPr/>
        </p:nvSpPr>
        <p:spPr>
          <a:xfrm>
            <a:off x="8045805" y="2240280"/>
            <a:ext cx="548640" cy="548640"/>
          </a:xfrm>
          <a:prstGeom prst="ellipse">
            <a:avLst/>
          </a:prstGeom>
          <a:solidFill>
            <a:srgbClr val="E2F2EF"/>
          </a:solidFill>
          <a:ln w="19050">
            <a:solidFill>
              <a:srgbClr val="0B7F7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7F70"/>
                </a:solidFill>
                <a:latin typeface="Arial"/>
              </a:rPr>
              <a:t>04</a:t>
            </a:r>
          </a:p>
        </p:txBody>
      </p:sp>
      <p:sp xmlns:a="http://schemas.openxmlformats.org/drawingml/2006/main">
        <p:nvSpPr>
          <p:cNvPr id="41" name="Rectangle 40"/>
          <p:cNvSpPr/>
          <p:nvPr/>
        </p:nvSpPr>
        <p:spPr>
          <a:xfrm>
            <a:off x="7317028" y="3063240"/>
            <a:ext cx="2006193" cy="237744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454188" y="3200400"/>
            <a:ext cx="1731873" cy="2148840"/>
          </a:xfrm>
          <a:prstGeom prst="rect">
            <a:avLst/>
          </a:prstGeom>
          <a:noFill/>
        </p:spPr>
        <p:txBody>
          <a:bodyPr wrap="square" lIns="0" rIns="0" tIns="0" bIns="0" anchor="t">
            <a:spAutoFit/>
          </a:bodyPr>
          <a:lstStyle/>
          <a:p>
            <a:pPr algn="l"/>
            <a:r>
              <a:rPr sz="1250" b="1">
                <a:solidFill>
                  <a:srgbClr val="0B7F70"/>
                </a:solidFill>
                <a:latin typeface="Arial"/>
              </a:rPr>
              <a:t>Feb 2027</a:t>
            </a:r>
          </a:p>
          <a:p>
            <a:pPr algn="l">
              <a:spcBef>
                <a:spcPts val="500"/>
              </a:spcBef>
            </a:pPr>
            <a:r>
              <a:rPr sz="1600" b="1">
                <a:solidFill>
                  <a:srgbClr val="1E2629"/>
                </a:solidFill>
                <a:latin typeface="Arial"/>
              </a:rPr>
              <a:t>Mock-rubble field test</a:t>
            </a:r>
          </a:p>
          <a:p>
            <a:pPr algn="l">
              <a:spcBef>
                <a:spcPts val="500"/>
              </a:spcBef>
            </a:pPr>
            <a:r>
              <a:rPr sz="1300" b="0">
                <a:solidFill>
                  <a:srgbClr val="4B5859"/>
                </a:solidFill>
                <a:latin typeface="Arial"/>
              </a:rPr>
              <a:t>Debris room with hidden knocks and voices; measure map error and detection rate.</a:t>
            </a:r>
          </a:p>
        </p:txBody>
      </p:sp>
      <p:sp xmlns:a="http://schemas.openxmlformats.org/drawingml/2006/main">
        <p:nvSpPr>
          <p:cNvPr id="43" name="Oval 42"/>
          <p:cNvSpPr/>
          <p:nvPr/>
        </p:nvSpPr>
        <p:spPr>
          <a:xfrm>
            <a:off x="10271455" y="2240280"/>
            <a:ext cx="548640" cy="548640"/>
          </a:xfrm>
          <a:prstGeom prst="ellipse">
            <a:avLst/>
          </a:prstGeom>
          <a:solidFill>
            <a:srgbClr val="E2F2EF"/>
          </a:solidFill>
          <a:ln w="19050">
            <a:solidFill>
              <a:srgbClr val="0B7F7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7F70"/>
                </a:solidFill>
                <a:latin typeface="Arial"/>
              </a:rPr>
              <a:t>05</a:t>
            </a:r>
          </a:p>
        </p:txBody>
      </p:sp>
      <p:sp xmlns:a="http://schemas.openxmlformats.org/drawingml/2006/main">
        <p:nvSpPr>
          <p:cNvPr id="44" name="Rectangle 43"/>
          <p:cNvSpPr/>
          <p:nvPr/>
        </p:nvSpPr>
        <p:spPr>
          <a:xfrm>
            <a:off x="9542678" y="3063240"/>
            <a:ext cx="2006193" cy="2377440"/>
          </a:xfrm>
          <a:prstGeom prst="rect">
            <a:avLst/>
          </a:prstGeom>
          <a:solidFill>
            <a:srgbClr val="F3F6F5"/>
          </a:solidFill>
          <a:ln w="9525">
            <a:solidFill>
              <a:srgbClr val="CB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9679838" y="3200400"/>
            <a:ext cx="1731873" cy="2148840"/>
          </a:xfrm>
          <a:prstGeom prst="rect">
            <a:avLst/>
          </a:prstGeom>
          <a:noFill/>
        </p:spPr>
        <p:txBody>
          <a:bodyPr wrap="square" lIns="0" rIns="0" tIns="0" bIns="0" anchor="t">
            <a:spAutoFit/>
          </a:bodyPr>
          <a:lstStyle/>
          <a:p>
            <a:pPr algn="l"/>
            <a:r>
              <a:rPr sz="1250" b="1">
                <a:solidFill>
                  <a:srgbClr val="0B7F70"/>
                </a:solidFill>
                <a:latin typeface="Arial"/>
              </a:rPr>
              <a:t>Mar–Apr 2027</a:t>
            </a:r>
          </a:p>
          <a:p>
            <a:pPr algn="l">
              <a:spcBef>
                <a:spcPts val="500"/>
              </a:spcBef>
            </a:pPr>
            <a:r>
              <a:rPr sz="1600" b="1">
                <a:solidFill>
                  <a:srgbClr val="1E2629"/>
                </a:solidFill>
                <a:latin typeface="Arial"/>
              </a:rPr>
              <a:t>Onboard SLAM</a:t>
            </a:r>
          </a:p>
          <a:p>
            <a:pPr algn="l">
              <a:spcBef>
                <a:spcPts val="500"/>
              </a:spcBef>
            </a:pPr>
            <a:r>
              <a:rPr sz="1300" b="0">
                <a:solidFill>
                  <a:srgbClr val="4B5859"/>
                </a:solidFill>
                <a:latin typeface="Arial"/>
              </a:rPr>
              <a:t>Mapping moves onto the embedded board, toward the drone payload.</a:t>
            </a:r>
          </a:p>
        </p:txBody>
      </p:sp>
      <p:sp xmlns:a="http://schemas.openxmlformats.org/drawingml/2006/main">
        <p:nvSpPr>
          <p:cNvPr id="46" name="Rectangle 45"/>
          <p:cNvSpPr/>
          <p:nvPr/>
        </p:nvSpPr>
        <p:spPr>
          <a:xfrm>
            <a:off x="530352" y="5669280"/>
            <a:ext cx="11128248" cy="566928"/>
          </a:xfrm>
          <a:prstGeom prst="rect">
            <a:avLst/>
          </a:prstGeom>
          <a:solidFill>
            <a:srgbClr val="E2F2EF"/>
          </a:solidFill>
          <a:ln w="9525">
            <a:solidFill>
              <a:srgbClr val="8F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731520" y="5669280"/>
            <a:ext cx="10789920" cy="566928"/>
          </a:xfrm>
          <a:prstGeom prst="rect">
            <a:avLst/>
          </a:prstGeom>
          <a:noFill/>
        </p:spPr>
        <p:txBody>
          <a:bodyPr wrap="square" lIns="0" rIns="0" tIns="0" bIns="0" anchor="ctr">
            <a:spAutoFit/>
          </a:bodyPr>
          <a:lstStyle/>
          <a:p>
            <a:pPr algn="l"/>
            <a:r>
              <a:rPr sz="1400" b="1">
                <a:solidFill>
                  <a:srgbClr val="1E2629"/>
                </a:solidFill>
                <a:latin typeface="Arial"/>
              </a:rPr>
              <a:t>Phase-II goal: </a:t>
            </a:r>
          </a:p>
        </p:txBody>
      </p:sp>
      <p:sp xmlns:a="http://schemas.openxmlformats.org/drawingml/2006/main">
        <p:nvSpPr>
          <p:cNvPr id="48" name="TextBox 47"/>
          <p:cNvSpPr txBox="1"/>
          <p:nvPr/>
        </p:nvSpPr>
        <p:spPr>
          <a:xfrm>
            <a:off x="2240280" y="5669280"/>
            <a:ext cx="9326880" cy="566928"/>
          </a:xfrm>
          <a:prstGeom prst="rect">
            <a:avLst/>
          </a:prstGeom>
          <a:noFill/>
        </p:spPr>
        <p:txBody>
          <a:bodyPr wrap="square" lIns="0" rIns="0" tIns="0" bIns="0" anchor="ctr">
            <a:spAutoFit/>
          </a:bodyPr>
          <a:lstStyle/>
          <a:p>
            <a:pPr algn="l"/>
            <a:r>
              <a:rPr sz="1400" b="0">
                <a:solidFill>
                  <a:srgbClr val="0B7F70"/>
                </a:solidFill>
                <a:latin typeface="Arial"/>
              </a:rPr>
              <a:t>a 2.5D room model with marked voids and call-for-help directions, checked against the real room.</a:t>
            </a:r>
          </a:p>
        </p:txBody>
      </p:sp>
    </p:spTree>
    <p:extLst>
      <p:ext uri="{BB962C8B-B14F-4D97-AF65-F5344CB8AC3E}">
        <p14:creationId xmlns:p14="http://schemas.microsoft.com/office/powerpoint/2010/main" val="1344042575"/>
      </p:ext>
    </p:extLst>
  </p:cSld>
</p:sld>
</file>

<file path=ppt/slides/slide19.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0eb70e7670746b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eferences">
            <a:extLst xmlns:a="http://schemas.openxmlformats.org/drawingml/2006/main">
              <a:ext uri="{FF2B5EF4-FFF2-40B4-BE49-F238E27FC236}">
                <a16:creationId xmlns:a16="http://schemas.microsoft.com/office/drawing/2014/main" id="{B4913CF8-797F-483F-88A9-B0576E152902}"/>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C1672D30-DA02-411C-BFE0-0BAA5CDED370}"/>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sp>
      <p:sp>
        <p:nvSpPr>
          <p:cNvPr id="4" name="Phase-I presentation">
            <a:extLst xmlns:a="http://schemas.openxmlformats.org/drawingml/2006/main">
              <a:ext uri="{FF2B5EF4-FFF2-40B4-BE49-F238E27FC236}">
                <a16:creationId xmlns:a16="http://schemas.microsoft.com/office/drawing/2014/main" id="{1376497D-9221-4F7F-912D-3304475CE2EA}"/>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2">
            <a:extLst xmlns:a="http://schemas.openxmlformats.org/drawingml/2006/main">
              <a:ext uri="{FF2B5EF4-FFF2-40B4-BE49-F238E27FC236}">
                <a16:creationId xmlns:a16="http://schemas.microsoft.com/office/drawing/2014/main" id="{ECB3C1B3-E352-4541-BD03-8A2DA66F2B41}"/>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19</a:t>
            </a:r>
          </a:p>
        </p:txBody>
      </p:sp>
      <p:sp>
        <p:nvSpPr>
          <p:cNvPr id="6" name="[1] Steux &amp; El Hamzaoui (2010)">
            <a:extLst xmlns:a="http://schemas.openxmlformats.org/drawingml/2006/main">
              <a:ext uri="{FF2B5EF4-FFF2-40B4-BE49-F238E27FC236}">
                <a16:creationId xmlns:a16="http://schemas.microsoft.com/office/drawing/2014/main" id="{9B3B3AD3-6B5E-44F7-9370-736A44384974}"/>
              </a:ext>
            </a:extLst>
          </p:cNvPr>
          <p:cNvSpPr>
            <a:spLocks xmlns:a="http://schemas.openxmlformats.org/drawingml/2006/main" noGrp="1"/>
          </p:cNvSpPr>
          <p:nvPr/>
        </p:nvSpPr>
        <p:spPr>
          <a:xfrm xmlns:a="http://schemas.openxmlformats.org/drawingml/2006/main">
            <a:off x="533400" y="16192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B7F70"/>
                </a:solidFill>
                <a:latin typeface="Arial"/>
                <a:ea typeface="Arial"/>
                <a:cs typeface="Arial"/>
              </a:defRPr>
            </a:pPr>
            <a:r>
              <a:rPr sz="1800" b="1">
                <a:solidFill>
                  <a:srgbClr val="0B7F70"/>
                </a:solidFill>
                <a:latin typeface="Arial"/>
                <a:ea typeface="Arial"/>
                <a:cs typeface="Arial"/>
              </a:rPr>
              <a:t>[1] Steux &amp; El Hamzaoui (2010)</a:t>
            </a:r>
          </a:p>
        </p:txBody>
      </p:sp>
      <p:sp>
        <p:nvSpPr>
          <p:cNvPr id="7" name="tinySLAM: A SLAM algorithm in less than 200 lines C-language">
            <a:extLst xmlns:a="http://schemas.openxmlformats.org/drawingml/2006/main">
              <a:ext uri="{FF2B5EF4-FFF2-40B4-BE49-F238E27FC236}">
                <a16:creationId xmlns:a16="http://schemas.microsoft.com/office/drawing/2014/main" id="{8F44656E-AE56-48A4-B8F5-DBB148E5357B}"/>
              </a:ext>
            </a:extLst>
          </p:cNvPr>
          <p:cNvSpPr>
            <a:spLocks xmlns:a="http://schemas.openxmlformats.org/drawingml/2006/main" noGrp="1"/>
          </p:cNvSpPr>
          <p:nvPr/>
        </p:nvSpPr>
        <p:spPr>
          <a:xfrm xmlns:a="http://schemas.openxmlformats.org/drawingml/2006/main">
            <a:off x="533400" y="20478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E2629"/>
                </a:solidFill>
                <a:latin typeface="Arial"/>
                <a:ea typeface="Arial"/>
                <a:cs typeface="Arial"/>
              </a:defRPr>
            </a:pPr>
            <a:r>
              <a:rPr sz="1800" b="0">
                <a:solidFill>
                  <a:srgbClr val="1E2629"/>
                </a:solidFill>
                <a:latin typeface="Arial"/>
                <a:ea typeface="Arial"/>
                <a:cs typeface="Arial"/>
              </a:rPr>
              <a:t>tinySLAM: A SLAM algorithm in less than 200 lines C-language program</a:t>
            </a:r>
          </a:p>
        </p:txBody>
      </p:sp>
      <p:sp>
        <p:nvSpPr>
          <p:cNvPr id="8" name="ICARCV, pp. 1975-1979">
            <a:extLst xmlns:a="http://schemas.openxmlformats.org/drawingml/2006/main">
              <a:ext uri="{FF2B5EF4-FFF2-40B4-BE49-F238E27FC236}">
                <a16:creationId xmlns:a16="http://schemas.microsoft.com/office/drawing/2014/main" id="{CA1C41F9-E939-4297-B669-7B90F159E111}"/>
              </a:ext>
            </a:extLst>
          </p:cNvPr>
          <p:cNvSpPr>
            <a:spLocks xmlns:a="http://schemas.openxmlformats.org/drawingml/2006/main" noGrp="1"/>
          </p:cNvSpPr>
          <p:nvPr/>
        </p:nvSpPr>
        <p:spPr>
          <a:xfrm xmlns:a="http://schemas.openxmlformats.org/drawingml/2006/main">
            <a:off x="533400" y="28575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859"/>
                </a:solidFill>
                <a:latin typeface="Arial"/>
                <a:ea typeface="Arial"/>
                <a:cs typeface="Arial"/>
              </a:defRPr>
            </a:pPr>
            <a:r>
              <a:rPr sz="1425" b="0">
                <a:solidFill>
                  <a:srgbClr val="4B5859"/>
                </a:solidFill>
                <a:latin typeface="Arial"/>
                <a:ea typeface="Arial"/>
                <a:cs typeface="Arial"/>
              </a:rPr>
              <a:t>ICARCV, pp. 1975-1979</a:t>
            </a:r>
          </a:p>
        </p:txBody>
      </p:sp>
      <p:sp>
        <p:nvSpPr>
          <p:cNvPr id="9" name="[2] Markdahl &amp; Vikgren (2023)">
            <a:extLst xmlns:a="http://schemas.openxmlformats.org/drawingml/2006/main">
              <a:ext uri="{FF2B5EF4-FFF2-40B4-BE49-F238E27FC236}">
                <a16:creationId xmlns:a16="http://schemas.microsoft.com/office/drawing/2014/main" id="{BF1B291A-6558-4599-95F2-AEDA472A01EF}"/>
              </a:ext>
            </a:extLst>
          </p:cNvPr>
          <p:cNvSpPr>
            <a:spLocks xmlns:a="http://schemas.openxmlformats.org/drawingml/2006/main" noGrp="1"/>
          </p:cNvSpPr>
          <p:nvPr/>
        </p:nvSpPr>
        <p:spPr>
          <a:xfrm xmlns:a="http://schemas.openxmlformats.org/drawingml/2006/main">
            <a:off x="533400" y="31813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B7F70"/>
                </a:solidFill>
                <a:latin typeface="Arial"/>
                <a:ea typeface="Arial"/>
                <a:cs typeface="Arial"/>
              </a:defRPr>
            </a:pPr>
            <a:r>
              <a:rPr sz="1800" b="1">
                <a:solidFill>
                  <a:srgbClr val="0B7F70"/>
                </a:solidFill>
                <a:latin typeface="Arial"/>
                <a:ea typeface="Arial"/>
                <a:cs typeface="Arial"/>
              </a:rPr>
              <a:t>[2] Markdahl &amp; Vikgren (2023)</a:t>
            </a:r>
          </a:p>
        </p:txBody>
      </p:sp>
      <p:sp>
        <p:nvSpPr>
          <p:cNvPr id="10" name="tinySLAM-based exploration with a swarm of nano-UAVs">
            <a:extLst xmlns:a="http://schemas.openxmlformats.org/drawingml/2006/main">
              <a:ext uri="{FF2B5EF4-FFF2-40B4-BE49-F238E27FC236}">
                <a16:creationId xmlns:a16="http://schemas.microsoft.com/office/drawing/2014/main" id="{1775E62E-2F8E-467B-B796-A1CF9CEE5B0F}"/>
              </a:ext>
            </a:extLst>
          </p:cNvPr>
          <p:cNvSpPr>
            <a:spLocks xmlns:a="http://schemas.openxmlformats.org/drawingml/2006/main" noGrp="1"/>
          </p:cNvSpPr>
          <p:nvPr/>
        </p:nvSpPr>
        <p:spPr>
          <a:xfrm xmlns:a="http://schemas.openxmlformats.org/drawingml/2006/main">
            <a:off x="533400" y="36099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E2629"/>
                </a:solidFill>
                <a:latin typeface="Arial"/>
                <a:ea typeface="Arial"/>
                <a:cs typeface="Arial"/>
              </a:defRPr>
            </a:pPr>
            <a:r>
              <a:rPr sz="1800" b="0">
                <a:solidFill>
                  <a:srgbClr val="1E2629"/>
                </a:solidFill>
                <a:latin typeface="Arial"/>
                <a:ea typeface="Arial"/>
                <a:cs typeface="Arial"/>
              </a:rPr>
              <a:t>tinySLAM-based exploration with a swarm of nano-UAVs</a:t>
            </a:r>
          </a:p>
        </p:txBody>
      </p:sp>
      <p:sp>
        <p:nvSpPr>
          <p:cNvPr id="11" name="SWARM 2023 / arXiv:2309.02834">
            <a:extLst xmlns:a="http://schemas.openxmlformats.org/drawingml/2006/main">
              <a:ext uri="{FF2B5EF4-FFF2-40B4-BE49-F238E27FC236}">
                <a16:creationId xmlns:a16="http://schemas.microsoft.com/office/drawing/2014/main" id="{3EF5C069-7C4B-4E65-BDFC-C35A18A9D051}"/>
              </a:ext>
            </a:extLst>
          </p:cNvPr>
          <p:cNvSpPr>
            <a:spLocks xmlns:a="http://schemas.openxmlformats.org/drawingml/2006/main" noGrp="1"/>
          </p:cNvSpPr>
          <p:nvPr/>
        </p:nvSpPr>
        <p:spPr>
          <a:xfrm xmlns:a="http://schemas.openxmlformats.org/drawingml/2006/main">
            <a:off x="533400" y="44196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859"/>
                </a:solidFill>
                <a:latin typeface="Arial"/>
                <a:ea typeface="Arial"/>
                <a:cs typeface="Arial"/>
              </a:defRPr>
            </a:pPr>
            <a:r>
              <a:rPr sz="1425" b="0">
                <a:solidFill>
                  <a:srgbClr val="4B5859"/>
                </a:solidFill>
                <a:latin typeface="Arial"/>
                <a:ea typeface="Arial"/>
                <a:cs typeface="Arial"/>
              </a:rPr>
              <a:t>SWARM 2023 / arXiv:2309.02834</a:t>
            </a:r>
          </a:p>
        </p:txBody>
      </p:sp>
      <p:sp>
        <p:nvSpPr>
          <p:cNvPr id="12" name="[3] Niculescu et al. (2024)">
            <a:extLst xmlns:a="http://schemas.openxmlformats.org/drawingml/2006/main">
              <a:ext uri="{FF2B5EF4-FFF2-40B4-BE49-F238E27FC236}">
                <a16:creationId xmlns:a16="http://schemas.microsoft.com/office/drawing/2014/main" id="{B90C18F7-8DF9-4946-977F-A943BC1BD327}"/>
              </a:ext>
            </a:extLst>
          </p:cNvPr>
          <p:cNvSpPr>
            <a:spLocks xmlns:a="http://schemas.openxmlformats.org/drawingml/2006/main" noGrp="1"/>
          </p:cNvSpPr>
          <p:nvPr/>
        </p:nvSpPr>
        <p:spPr>
          <a:xfrm xmlns:a="http://schemas.openxmlformats.org/drawingml/2006/main">
            <a:off x="533400" y="47434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B7F70"/>
                </a:solidFill>
                <a:latin typeface="Arial"/>
                <a:ea typeface="Arial"/>
                <a:cs typeface="Arial"/>
              </a:defRPr>
            </a:pPr>
            <a:r>
              <a:rPr sz="1800" b="1">
                <a:solidFill>
                  <a:srgbClr val="0B7F70"/>
                </a:solidFill>
                <a:latin typeface="Arial"/>
                <a:ea typeface="Arial"/>
                <a:cs typeface="Arial"/>
              </a:rPr>
              <a:t>[3] Niculescu et al. (2024)</a:t>
            </a:r>
          </a:p>
        </p:txBody>
      </p:sp>
      <p:sp>
        <p:nvSpPr>
          <p:cNvPr id="13" name="Ultra-Lightweight Collaborative Mapping for Robot Swarms">
            <a:extLst xmlns:a="http://schemas.openxmlformats.org/drawingml/2006/main">
              <a:ext uri="{FF2B5EF4-FFF2-40B4-BE49-F238E27FC236}">
                <a16:creationId xmlns:a16="http://schemas.microsoft.com/office/drawing/2014/main" id="{9C9A1541-BC2F-45AE-9B79-6859AE84C07A}"/>
              </a:ext>
            </a:extLst>
          </p:cNvPr>
          <p:cNvSpPr>
            <a:spLocks xmlns:a="http://schemas.openxmlformats.org/drawingml/2006/main" noGrp="1"/>
          </p:cNvSpPr>
          <p:nvPr/>
        </p:nvSpPr>
        <p:spPr>
          <a:xfrm xmlns:a="http://schemas.openxmlformats.org/drawingml/2006/main">
            <a:off x="533400" y="51720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E2629"/>
                </a:solidFill>
                <a:latin typeface="Arial"/>
                <a:ea typeface="Arial"/>
                <a:cs typeface="Arial"/>
              </a:defRPr>
            </a:pPr>
            <a:r>
              <a:rPr sz="1800" b="0">
                <a:solidFill>
                  <a:srgbClr val="1E2629"/>
                </a:solidFill>
                <a:latin typeface="Arial"/>
                <a:ea typeface="Arial"/>
                <a:cs typeface="Arial"/>
              </a:rPr>
              <a:t>Ultra-Lightweight Collaborative Mapping for Robot Swarms</a:t>
            </a:r>
          </a:p>
        </p:txBody>
      </p:sp>
      <p:sp>
        <p:nvSpPr>
          <p:cNvPr id="14" name="arXiv:2407.03136">
            <a:extLst xmlns:a="http://schemas.openxmlformats.org/drawingml/2006/main">
              <a:ext uri="{FF2B5EF4-FFF2-40B4-BE49-F238E27FC236}">
                <a16:creationId xmlns:a16="http://schemas.microsoft.com/office/drawing/2014/main" id="{B52D7036-A60F-45CE-8D52-741AAA7B08C8}"/>
              </a:ext>
            </a:extLst>
          </p:cNvPr>
          <p:cNvSpPr>
            <a:spLocks xmlns:a="http://schemas.openxmlformats.org/drawingml/2006/main" noGrp="1"/>
          </p:cNvSpPr>
          <p:nvPr/>
        </p:nvSpPr>
        <p:spPr>
          <a:xfrm xmlns:a="http://schemas.openxmlformats.org/drawingml/2006/main">
            <a:off x="533400" y="59817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859"/>
                </a:solidFill>
                <a:latin typeface="Arial"/>
                <a:ea typeface="Arial"/>
                <a:cs typeface="Arial"/>
              </a:defRPr>
            </a:pPr>
            <a:r>
              <a:rPr sz="1425" b="0">
                <a:solidFill>
                  <a:srgbClr val="4B5859"/>
                </a:solidFill>
                <a:latin typeface="Arial"/>
                <a:ea typeface="Arial"/>
                <a:cs typeface="Arial"/>
              </a:rPr>
              <a:t>arXiv:2407.03136</a:t>
            </a:r>
          </a:p>
        </p:txBody>
      </p:sp>
      <p:sp>
        <p:nvSpPr>
          <p:cNvPr id="15" name="[4] Tranzatto et al. (2022)">
            <a:extLst xmlns:a="http://schemas.openxmlformats.org/drawingml/2006/main">
              <a:ext uri="{FF2B5EF4-FFF2-40B4-BE49-F238E27FC236}">
                <a16:creationId xmlns:a16="http://schemas.microsoft.com/office/drawing/2014/main" id="{499B6DAD-18F4-4EA7-BB69-246DA13E9926}"/>
              </a:ext>
            </a:extLst>
          </p:cNvPr>
          <p:cNvSpPr>
            <a:spLocks xmlns:a="http://schemas.openxmlformats.org/drawingml/2006/main" noGrp="1"/>
          </p:cNvSpPr>
          <p:nvPr/>
        </p:nvSpPr>
        <p:spPr>
          <a:xfrm xmlns:a="http://schemas.openxmlformats.org/drawingml/2006/main">
            <a:off x="6391275" y="16192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B7F70"/>
                </a:solidFill>
                <a:latin typeface="Arial"/>
                <a:ea typeface="Arial"/>
                <a:cs typeface="Arial"/>
              </a:defRPr>
            </a:pPr>
            <a:r>
              <a:rPr sz="1800" b="1">
                <a:solidFill>
                  <a:srgbClr val="0B7F70"/>
                </a:solidFill>
                <a:latin typeface="Arial"/>
                <a:ea typeface="Arial"/>
                <a:cs typeface="Arial"/>
              </a:rPr>
              <a:t>[4] Tranzatto et al. (2022)</a:t>
            </a:r>
          </a:p>
        </p:txBody>
      </p:sp>
      <p:sp>
        <p:nvSpPr>
          <p:cNvPr id="16" name="CERBERUS in the DARPA Subterranean Challenge">
            <a:extLst xmlns:a="http://schemas.openxmlformats.org/drawingml/2006/main">
              <a:ext uri="{FF2B5EF4-FFF2-40B4-BE49-F238E27FC236}">
                <a16:creationId xmlns:a16="http://schemas.microsoft.com/office/drawing/2014/main" id="{4B1AEB4C-EE7D-4EF1-9EDC-73A343816152}"/>
              </a:ext>
            </a:extLst>
          </p:cNvPr>
          <p:cNvSpPr>
            <a:spLocks xmlns:a="http://schemas.openxmlformats.org/drawingml/2006/main" noGrp="1"/>
          </p:cNvSpPr>
          <p:nvPr/>
        </p:nvSpPr>
        <p:spPr>
          <a:xfrm xmlns:a="http://schemas.openxmlformats.org/drawingml/2006/main">
            <a:off x="6391275" y="20478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E2629"/>
                </a:solidFill>
                <a:latin typeface="Arial"/>
                <a:ea typeface="Arial"/>
                <a:cs typeface="Arial"/>
              </a:defRPr>
            </a:pPr>
            <a:r>
              <a:rPr sz="1800" b="0">
                <a:solidFill>
                  <a:srgbClr val="1E2629"/>
                </a:solidFill>
                <a:latin typeface="Arial"/>
                <a:ea typeface="Arial"/>
                <a:cs typeface="Arial"/>
              </a:rPr>
              <a:t>CERBERUS in the DARPA Subterranean Challenge</a:t>
            </a:r>
          </a:p>
        </p:txBody>
      </p:sp>
      <p:sp>
        <p:nvSpPr>
          <p:cNvPr id="17" name="Science Robotics 7, eabp9742">
            <a:extLst xmlns:a="http://schemas.openxmlformats.org/drawingml/2006/main">
              <a:ext uri="{FF2B5EF4-FFF2-40B4-BE49-F238E27FC236}">
                <a16:creationId xmlns:a16="http://schemas.microsoft.com/office/drawing/2014/main" id="{1017BEDB-7727-489B-AF96-B7D7ABE88DF2}"/>
              </a:ext>
            </a:extLst>
          </p:cNvPr>
          <p:cNvSpPr>
            <a:spLocks xmlns:a="http://schemas.openxmlformats.org/drawingml/2006/main" noGrp="1"/>
          </p:cNvSpPr>
          <p:nvPr/>
        </p:nvSpPr>
        <p:spPr>
          <a:xfrm xmlns:a="http://schemas.openxmlformats.org/drawingml/2006/main">
            <a:off x="6391275" y="28575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859"/>
                </a:solidFill>
                <a:latin typeface="Arial"/>
                <a:ea typeface="Arial"/>
                <a:cs typeface="Arial"/>
              </a:defRPr>
            </a:pPr>
            <a:r>
              <a:rPr sz="1425" b="0">
                <a:solidFill>
                  <a:srgbClr val="4B5859"/>
                </a:solidFill>
                <a:latin typeface="Arial"/>
                <a:ea typeface="Arial"/>
                <a:cs typeface="Arial"/>
              </a:rPr>
              <a:t>Science Robotics 7, eabp9742</a:t>
            </a:r>
          </a:p>
        </p:txBody>
      </p:sp>
      <p:sp>
        <p:nvSpPr>
          <p:cNvPr id="18" name="[5] Lajoie &amp; Beltrame (2024)">
            <a:extLst xmlns:a="http://schemas.openxmlformats.org/drawingml/2006/main">
              <a:ext uri="{FF2B5EF4-FFF2-40B4-BE49-F238E27FC236}">
                <a16:creationId xmlns:a16="http://schemas.microsoft.com/office/drawing/2014/main" id="{0C6E50B5-FC65-460B-8EB7-33E280A6747C}"/>
              </a:ext>
            </a:extLst>
          </p:cNvPr>
          <p:cNvSpPr>
            <a:spLocks xmlns:a="http://schemas.openxmlformats.org/drawingml/2006/main" noGrp="1"/>
          </p:cNvSpPr>
          <p:nvPr/>
        </p:nvSpPr>
        <p:spPr>
          <a:xfrm xmlns:a="http://schemas.openxmlformats.org/drawingml/2006/main">
            <a:off x="6391275" y="31813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B7F70"/>
                </a:solidFill>
                <a:latin typeface="Arial"/>
                <a:ea typeface="Arial"/>
                <a:cs typeface="Arial"/>
              </a:defRPr>
            </a:pPr>
            <a:r>
              <a:rPr sz="1800" b="1">
                <a:solidFill>
                  <a:srgbClr val="0B7F70"/>
                </a:solidFill>
                <a:latin typeface="Arial"/>
                <a:ea typeface="Arial"/>
                <a:cs typeface="Arial"/>
              </a:rPr>
              <a:t>[5] Lajoie &amp; Beltrame (2024)</a:t>
            </a:r>
          </a:p>
        </p:txBody>
      </p:sp>
      <p:sp>
        <p:nvSpPr>
          <p:cNvPr id="19" name="Swarm-SLAM: Sparse Decentralized Collaborative SLAM Framewor">
            <a:extLst xmlns:a="http://schemas.openxmlformats.org/drawingml/2006/main">
              <a:ext uri="{FF2B5EF4-FFF2-40B4-BE49-F238E27FC236}">
                <a16:creationId xmlns:a16="http://schemas.microsoft.com/office/drawing/2014/main" id="{288DDD9F-9A4E-4528-96EE-D3C4AAFB016F}"/>
              </a:ext>
            </a:extLst>
          </p:cNvPr>
          <p:cNvSpPr>
            <a:spLocks xmlns:a="http://schemas.openxmlformats.org/drawingml/2006/main" noGrp="1"/>
          </p:cNvSpPr>
          <p:nvPr/>
        </p:nvSpPr>
        <p:spPr>
          <a:xfrm xmlns:a="http://schemas.openxmlformats.org/drawingml/2006/main">
            <a:off x="6391275" y="36099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E2629"/>
                </a:solidFill>
                <a:latin typeface="Arial"/>
                <a:ea typeface="Arial"/>
                <a:cs typeface="Arial"/>
              </a:defRPr>
            </a:pPr>
            <a:r>
              <a:rPr sz="1800" b="0">
                <a:solidFill>
                  <a:srgbClr val="1E2629"/>
                </a:solidFill>
                <a:latin typeface="Arial"/>
                <a:ea typeface="Arial"/>
                <a:cs typeface="Arial"/>
              </a:rPr>
              <a:t>Swarm-SLAM: Sparse Decentralized Collaborative SLAM Framework</a:t>
            </a:r>
          </a:p>
        </p:txBody>
      </p:sp>
      <p:sp>
        <p:nvSpPr>
          <p:cNvPr id="20" name="IEEE RA-L 9(1), 475-482">
            <a:extLst xmlns:a="http://schemas.openxmlformats.org/drawingml/2006/main">
              <a:ext uri="{FF2B5EF4-FFF2-40B4-BE49-F238E27FC236}">
                <a16:creationId xmlns:a16="http://schemas.microsoft.com/office/drawing/2014/main" id="{95721543-031F-4965-97B1-470C951996C6}"/>
              </a:ext>
            </a:extLst>
          </p:cNvPr>
          <p:cNvSpPr>
            <a:spLocks xmlns:a="http://schemas.openxmlformats.org/drawingml/2006/main" noGrp="1"/>
          </p:cNvSpPr>
          <p:nvPr/>
        </p:nvSpPr>
        <p:spPr>
          <a:xfrm xmlns:a="http://schemas.openxmlformats.org/drawingml/2006/main">
            <a:off x="6391275" y="44196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859"/>
                </a:solidFill>
                <a:latin typeface="Arial"/>
                <a:ea typeface="Arial"/>
                <a:cs typeface="Arial"/>
              </a:defRPr>
            </a:pPr>
            <a:r>
              <a:rPr sz="1425" b="0">
                <a:solidFill>
                  <a:srgbClr val="4B5859"/>
                </a:solidFill>
                <a:latin typeface="Arial"/>
                <a:ea typeface="Arial"/>
                <a:cs typeface="Arial"/>
              </a:rPr>
              <a:t>IEEE RA-L 9(1), 475-482</a:t>
            </a:r>
          </a:p>
        </p:txBody>
      </p:sp>
      <p:sp>
        <p:nvSpPr>
          <p:cNvPr id="21" name="[6] Sun et al. (2025)">
            <a:extLst xmlns:a="http://schemas.openxmlformats.org/drawingml/2006/main">
              <a:ext uri="{FF2B5EF4-FFF2-40B4-BE49-F238E27FC236}">
                <a16:creationId xmlns:a16="http://schemas.microsoft.com/office/drawing/2014/main" id="{E19C947C-D4AB-4D87-B43B-BA2745CCE1AC}"/>
              </a:ext>
            </a:extLst>
          </p:cNvPr>
          <p:cNvSpPr>
            <a:spLocks xmlns:a="http://schemas.openxmlformats.org/drawingml/2006/main" noGrp="1"/>
          </p:cNvSpPr>
          <p:nvPr/>
        </p:nvSpPr>
        <p:spPr>
          <a:xfrm xmlns:a="http://schemas.openxmlformats.org/drawingml/2006/main">
            <a:off x="6391275" y="47434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B7F70"/>
                </a:solidFill>
                <a:latin typeface="Arial"/>
                <a:ea typeface="Arial"/>
                <a:cs typeface="Arial"/>
              </a:defRPr>
            </a:pPr>
            <a:r>
              <a:rPr sz="1800" b="1">
                <a:solidFill>
                  <a:srgbClr val="0B7F70"/>
                </a:solidFill>
                <a:latin typeface="Arial"/>
                <a:ea typeface="Arial"/>
                <a:cs typeface="Arial"/>
              </a:rPr>
              <a:t>[6] Sun et al. (2025)</a:t>
            </a:r>
          </a:p>
        </p:txBody>
      </p:sp>
      <p:sp>
        <p:nvSpPr>
          <p:cNvPr id="22" name="Acoustic event detection for drone search and rescue using r">
            <a:extLst xmlns:a="http://schemas.openxmlformats.org/drawingml/2006/main">
              <a:ext uri="{FF2B5EF4-FFF2-40B4-BE49-F238E27FC236}">
                <a16:creationId xmlns:a16="http://schemas.microsoft.com/office/drawing/2014/main" id="{B3342CF9-2863-4C5E-B003-DBDB1CB8E427}"/>
              </a:ext>
            </a:extLst>
          </p:cNvPr>
          <p:cNvSpPr>
            <a:spLocks xmlns:a="http://schemas.openxmlformats.org/drawingml/2006/main" noGrp="1"/>
          </p:cNvSpPr>
          <p:nvPr/>
        </p:nvSpPr>
        <p:spPr>
          <a:xfrm xmlns:a="http://schemas.openxmlformats.org/drawingml/2006/main">
            <a:off x="6391275" y="51720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E2629"/>
                </a:solidFill>
                <a:latin typeface="Arial"/>
                <a:ea typeface="Arial"/>
                <a:cs typeface="Arial"/>
              </a:defRPr>
            </a:pPr>
            <a:r>
              <a:rPr sz="1800" b="0">
                <a:solidFill>
                  <a:srgbClr val="1E2629"/>
                </a:solidFill>
                <a:latin typeface="Arial"/>
                <a:ea typeface="Arial"/>
                <a:cs typeface="Arial"/>
              </a:rPr>
              <a:t>Acoustic event detection for drone search and rescue using rotor-noise beamforming</a:t>
            </a:r>
          </a:p>
        </p:txBody>
      </p:sp>
      <p:sp>
        <p:nvSpPr>
          <p:cNvPr id="23" name="Digital Signal Processing 157, 104881">
            <a:extLst xmlns:a="http://schemas.openxmlformats.org/drawingml/2006/main">
              <a:ext uri="{FF2B5EF4-FFF2-40B4-BE49-F238E27FC236}">
                <a16:creationId xmlns:a16="http://schemas.microsoft.com/office/drawing/2014/main" id="{F1C50FB7-56FC-46D2-A6A3-7C2E7972B733}"/>
              </a:ext>
            </a:extLst>
          </p:cNvPr>
          <p:cNvSpPr>
            <a:spLocks xmlns:a="http://schemas.openxmlformats.org/drawingml/2006/main" noGrp="1"/>
          </p:cNvSpPr>
          <p:nvPr/>
        </p:nvSpPr>
        <p:spPr>
          <a:xfrm xmlns:a="http://schemas.openxmlformats.org/drawingml/2006/main">
            <a:off x="6391275" y="59817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B5859"/>
                </a:solidFill>
                <a:latin typeface="Arial"/>
                <a:ea typeface="Arial"/>
                <a:cs typeface="Arial"/>
              </a:defRPr>
            </a:pPr>
            <a:r>
              <a:rPr sz="1425" b="0">
                <a:solidFill>
                  <a:srgbClr val="4B5859"/>
                </a:solidFill>
                <a:latin typeface="Arial"/>
                <a:ea typeface="Arial"/>
                <a:cs typeface="Arial"/>
              </a:rPr>
              <a:t>Digital Signal Processing 157, 104881</a:t>
            </a:r>
          </a:p>
        </p:txBody>
      </p:sp>
      <p:sp>
        <p:nvSpPr>
          <p:cNvPr id="24" name="">
            <a:extLst xmlns:a="http://schemas.openxmlformats.org/drawingml/2006/main">
              <a:ext uri="{FF2B5EF4-FFF2-40B4-BE49-F238E27FC236}">
                <a16:creationId xmlns:a16="http://schemas.microsoft.com/office/drawing/2014/main" id="{F848C7B3-1ACA-4C95-9C47-EE884A806523}"/>
              </a:ext>
            </a:extLst>
          </p:cNvPr>
          <p:cNvSpPr>
            <a:spLocks xmlns:a="http://schemas.openxmlformats.org/drawingml/2006/main" noGrp="1"/>
          </p:cNvSpPr>
          <p:nvPr/>
        </p:nvSpPr>
        <p:spPr>
          <a:xfrm xmlns:a="http://schemas.openxmlformats.org/drawingml/2006/main">
            <a:off x="6086475" y="1628775"/>
            <a:ext cx="0" cy="4524375"/>
          </a:xfrm>
          <a:prstGeom xmlns:a="http://schemas.openxmlformats.org/drawingml/2006/main" prst="line">
            <a:avLst/>
          </a:prstGeom>
          <a:noFill xmlns:a="http://schemas.openxmlformats.org/drawingml/2006/main"/>
          <a:ln xmlns:a="http://schemas.openxmlformats.org/drawingml/2006/main" w="9525">
            <a:solidFill>
              <a:srgbClr val="C5CFCE"/>
            </a:solidFill>
          </a:ln>
        </p:spPr>
      </p:sp>
    </p:spTree>
    <p:extLst>
      <p:ext uri="{BB962C8B-B14F-4D97-AF65-F5344CB8AC3E}">
        <p14:creationId xmlns:p14="http://schemas.microsoft.com/office/powerpoint/2010/main" val="1914719630"/>
      </p:ext>
    </p:extLst>
  </p:cSld>
</p:sld>
</file>

<file path=ppt/slides/slide20.xml><?xml version="1.0" encoding="utf-8"?>
<p:sld xmlns:p="http://schemas.openxmlformats.org/presentationml/2006/main">
  <p:cSld>
    <p:bg>
      <p:bgPr>
        <a:solidFill xmlns:a="http://schemas.openxmlformats.org/drawingml/2006/main">
          <a:srgbClr val="EEF2F1"/>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4ce7c12eccb4af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ublication details">
            <a:extLst xmlns:a="http://schemas.openxmlformats.org/drawingml/2006/main">
              <a:ext uri="{FF2B5EF4-FFF2-40B4-BE49-F238E27FC236}">
                <a16:creationId xmlns:a16="http://schemas.microsoft.com/office/drawing/2014/main" id="{8DA0E091-8F7A-4067-8EFC-61E4F6C9226E}"/>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2629"/>
                </a:solidFill>
                <a:latin typeface="Arial"/>
                <a:ea typeface="Arial"/>
                <a:cs typeface="Arial"/>
              </a:defRPr>
            </a:pPr>
            <a:r>
              <a:rPr sz="3600" b="1">
                <a:solidFill>
                  <a:srgbClr val="1E2629"/>
                </a:solidFill>
                <a:latin typeface="Arial"/>
                <a:ea typeface="Arial"/>
                <a:cs typeface="Arial"/>
              </a:rPr>
              <a:t>Publication details</a:t>
            </a:r>
          </a:p>
        </p:txBody>
      </p:sp>
      <p:sp>
        <p:nvSpPr>
          <p:cNvPr id="3" name="">
            <a:extLst xmlns:a="http://schemas.openxmlformats.org/drawingml/2006/main">
              <a:ext uri="{FF2B5EF4-FFF2-40B4-BE49-F238E27FC236}">
                <a16:creationId xmlns:a16="http://schemas.microsoft.com/office/drawing/2014/main" id="{999A4BAC-9894-4689-AFA1-4120BD27005D}"/>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C5CFCE"/>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8860B678-C05E-4467-9680-9BE22858A6AF}"/>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E7C7D"/>
                </a:solidFill>
                <a:latin typeface="Arial"/>
                <a:ea typeface="Arial"/>
                <a:cs typeface="Arial"/>
              </a:defRPr>
            </a:pPr>
            <a:r>
              <a:rPr sz="1125" b="0">
                <a:solidFill>
                  <a:srgbClr val="6E7C7D"/>
                </a:solidFill>
                <a:latin typeface="Arial"/>
                <a:ea typeface="Arial"/>
                <a:cs typeface="Arial"/>
              </a:rPr>
              <a:t>Phase-I presentation</a:t>
            </a:r>
          </a:p>
        </p:txBody>
      </p:sp>
      <p:sp>
        <p:nvSpPr>
          <p:cNvPr id="5" name="13">
            <a:extLst xmlns:a="http://schemas.openxmlformats.org/drawingml/2006/main">
              <a:ext uri="{FF2B5EF4-FFF2-40B4-BE49-F238E27FC236}">
                <a16:creationId xmlns:a16="http://schemas.microsoft.com/office/drawing/2014/main" id="{6DB5F3F7-A6BE-4C14-A232-28193DA76F57}"/>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0B7F70"/>
                </a:solidFill>
                <a:latin typeface="Arial"/>
                <a:ea typeface="Arial"/>
                <a:cs typeface="Arial"/>
              </a:defRPr>
            </a:pPr>
            <a:r>
              <a:rPr sz="1800" b="1">
                <a:solidFill>
                  <a:srgbClr val="0B7F70"/>
                </a:solidFill>
                <a:latin typeface="Arial"/>
                <a:ea typeface="Arial"/>
                <a:cs typeface="Arial"/>
              </a:rPr>
              <a:t>20</a:t>
            </a:r>
          </a:p>
        </p:txBody>
      </p:sp>
      <p:sp>
        <p:nvSpPr>
          <p:cNvPr id="6" name="Publication details&#10;to be added">
            <a:extLst xmlns:a="http://schemas.openxmlformats.org/drawingml/2006/main">
              <a:ext uri="{FF2B5EF4-FFF2-40B4-BE49-F238E27FC236}">
                <a16:creationId xmlns:a16="http://schemas.microsoft.com/office/drawing/2014/main" id="{FDAF43CF-E61B-4BC3-BA9F-62BF00C10E7B}"/>
              </a:ext>
            </a:extLst>
          </p:cNvPr>
          <p:cNvSpPr>
            <a:spLocks xmlns:a="http://schemas.openxmlformats.org/drawingml/2006/main" noGrp="1"/>
          </p:cNvSpPr>
          <p:nvPr/>
        </p:nvSpPr>
        <p:spPr>
          <a:xfrm xmlns:a="http://schemas.openxmlformats.org/drawingml/2006/main">
            <a:off x="533400" y="1647825"/>
            <a:ext cx="59721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E2629"/>
                </a:solidFill>
                <a:latin typeface="Arial"/>
                <a:ea typeface="Arial"/>
                <a:cs typeface="Arial"/>
              </a:defRPr>
            </a:pPr>
            <a:r>
              <a:rPr sz="3075" b="1">
                <a:solidFill>
                  <a:srgbClr val="1E2629"/>
                </a:solidFill>
                <a:latin typeface="Arial"/>
                <a:ea typeface="Arial"/>
                <a:cs typeface="Arial"/>
              </a:rPr>
              <a:t>Publication plan</a:t>
            </a:r>
          </a:p>
        </p:txBody>
      </p:sp>
      <p:sp>
        <p:nvSpPr>
          <p:cNvPr id="7" name="Venue">
            <a:extLst xmlns:a="http://schemas.openxmlformats.org/drawingml/2006/main">
              <a:ext uri="{FF2B5EF4-FFF2-40B4-BE49-F238E27FC236}">
                <a16:creationId xmlns:a16="http://schemas.microsoft.com/office/drawing/2014/main" id="{A9184312-A8D2-478A-98CE-DBF8074D19AA}"/>
              </a:ext>
            </a:extLst>
          </p:cNvPr>
          <p:cNvSpPr>
            <a:spLocks xmlns:a="http://schemas.openxmlformats.org/drawingml/2006/main" noGrp="1"/>
          </p:cNvSpPr>
          <p:nvPr/>
        </p:nvSpPr>
        <p:spPr>
          <a:xfrm xmlns:a="http://schemas.openxmlformats.org/drawingml/2006/main">
            <a:off x="533400" y="3171825"/>
            <a:ext cx="547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B7F70"/>
                </a:solidFill>
                <a:latin typeface="Arial"/>
                <a:ea typeface="Arial"/>
                <a:cs typeface="Arial"/>
              </a:defRPr>
            </a:pPr>
            <a:r>
              <a:rPr sz="1950" b="1">
                <a:solidFill>
                  <a:srgbClr val="0B7F70"/>
                </a:solidFill>
                <a:latin typeface="Arial"/>
                <a:ea typeface="Arial"/>
                <a:cs typeface="Arial"/>
              </a:rPr>
              <a:t>Venue</a:t>
            </a:r>
          </a:p>
        </p:txBody>
      </p:sp>
      <p:sp>
        <p:nvSpPr>
          <p:cNvPr id="8" name="Add the confirmed journal or conference.">
            <a:extLst xmlns:a="http://schemas.openxmlformats.org/drawingml/2006/main">
              <a:ext uri="{FF2B5EF4-FFF2-40B4-BE49-F238E27FC236}">
                <a16:creationId xmlns:a16="http://schemas.microsoft.com/office/drawing/2014/main" id="{2E393C57-EEC3-46D5-9573-4AE76E579927}"/>
              </a:ext>
            </a:extLst>
          </p:cNvPr>
          <p:cNvSpPr>
            <a:spLocks xmlns:a="http://schemas.openxmlformats.org/drawingml/2006/main" noGrp="1"/>
          </p:cNvSpPr>
          <p:nvPr/>
        </p:nvSpPr>
        <p:spPr>
          <a:xfrm xmlns:a="http://schemas.openxmlformats.org/drawingml/2006/main">
            <a:off x="533400" y="3581400"/>
            <a:ext cx="5476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Review paper drafted; venue to be finalised.</a:t>
            </a:r>
          </a:p>
        </p:txBody>
      </p:sp>
      <p:sp>
        <p:nvSpPr>
          <p:cNvPr id="9" name="Status">
            <a:extLst xmlns:a="http://schemas.openxmlformats.org/drawingml/2006/main">
              <a:ext uri="{FF2B5EF4-FFF2-40B4-BE49-F238E27FC236}">
                <a16:creationId xmlns:a16="http://schemas.microsoft.com/office/drawing/2014/main" id="{5CF70E7D-99F3-478B-AEC7-2C87F2FC4EBB}"/>
              </a:ext>
            </a:extLst>
          </p:cNvPr>
          <p:cNvSpPr>
            <a:spLocks xmlns:a="http://schemas.openxmlformats.org/drawingml/2006/main" noGrp="1"/>
          </p:cNvSpPr>
          <p:nvPr/>
        </p:nvSpPr>
        <p:spPr>
          <a:xfrm xmlns:a="http://schemas.openxmlformats.org/drawingml/2006/main">
            <a:off x="533400" y="4095750"/>
            <a:ext cx="547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B7F70"/>
                </a:solidFill>
                <a:latin typeface="Arial"/>
                <a:ea typeface="Arial"/>
                <a:cs typeface="Arial"/>
              </a:defRPr>
            </a:pPr>
            <a:r>
              <a:rPr sz="1950" b="1">
                <a:solidFill>
                  <a:srgbClr val="0B7F70"/>
                </a:solidFill>
                <a:latin typeface="Arial"/>
                <a:ea typeface="Arial"/>
                <a:cs typeface="Arial"/>
              </a:rPr>
              <a:t>Status</a:t>
            </a:r>
          </a:p>
        </p:txBody>
      </p:sp>
      <p:sp>
        <p:nvSpPr>
          <p:cNvPr id="10" name="Add submitted, under review or accepted, as confirmed.">
            <a:extLst xmlns:a="http://schemas.openxmlformats.org/drawingml/2006/main">
              <a:ext uri="{FF2B5EF4-FFF2-40B4-BE49-F238E27FC236}">
                <a16:creationId xmlns:a16="http://schemas.microsoft.com/office/drawing/2014/main" id="{836EDF02-C5D9-444C-8D0E-C0C446D6E477}"/>
              </a:ext>
            </a:extLst>
          </p:cNvPr>
          <p:cNvSpPr>
            <a:spLocks xmlns:a="http://schemas.openxmlformats.org/drawingml/2006/main" noGrp="1"/>
          </p:cNvSpPr>
          <p:nvPr/>
        </p:nvSpPr>
        <p:spPr>
          <a:xfrm xmlns:a="http://schemas.openxmlformats.org/drawingml/2006/main">
            <a:off x="533400" y="4505325"/>
            <a:ext cx="5476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In preparation, after Phase-II results.</a:t>
            </a:r>
          </a:p>
        </p:txBody>
      </p:sp>
      <p:sp>
        <p:nvSpPr>
          <p:cNvPr id="11" name="Date and link">
            <a:extLst xmlns:a="http://schemas.openxmlformats.org/drawingml/2006/main">
              <a:ext uri="{FF2B5EF4-FFF2-40B4-BE49-F238E27FC236}">
                <a16:creationId xmlns:a16="http://schemas.microsoft.com/office/drawing/2014/main" id="{8235FF75-0187-4962-B2F6-5DDCFE68A051}"/>
              </a:ext>
            </a:extLst>
          </p:cNvPr>
          <p:cNvSpPr>
            <a:spLocks xmlns:a="http://schemas.openxmlformats.org/drawingml/2006/main" noGrp="1"/>
          </p:cNvSpPr>
          <p:nvPr/>
        </p:nvSpPr>
        <p:spPr>
          <a:xfrm xmlns:a="http://schemas.openxmlformats.org/drawingml/2006/main">
            <a:off x="533400" y="5019675"/>
            <a:ext cx="547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B7F70"/>
                </a:solidFill>
                <a:latin typeface="Arial"/>
                <a:ea typeface="Arial"/>
                <a:cs typeface="Arial"/>
              </a:defRPr>
            </a:pPr>
            <a:r>
              <a:rPr sz="1950" b="1">
                <a:solidFill>
                  <a:srgbClr val="0B7F70"/>
                </a:solidFill>
                <a:latin typeface="Arial"/>
                <a:ea typeface="Arial"/>
                <a:cs typeface="Arial"/>
              </a:rPr>
              <a:t>Date and link</a:t>
            </a:r>
          </a:p>
        </p:txBody>
      </p:sp>
      <p:sp>
        <p:nvSpPr>
          <p:cNvPr id="12" name="Add the submission / acceptance date and DOI or URL, if avai">
            <a:extLst xmlns:a="http://schemas.openxmlformats.org/drawingml/2006/main">
              <a:ext uri="{FF2B5EF4-FFF2-40B4-BE49-F238E27FC236}">
                <a16:creationId xmlns:a16="http://schemas.microsoft.com/office/drawing/2014/main" id="{7EA927F4-91CE-4B1F-87CB-B83CF1CEDD71}"/>
              </a:ext>
            </a:extLst>
          </p:cNvPr>
          <p:cNvSpPr>
            <a:spLocks xmlns:a="http://schemas.openxmlformats.org/drawingml/2006/main" noGrp="1"/>
          </p:cNvSpPr>
          <p:nvPr/>
        </p:nvSpPr>
        <p:spPr>
          <a:xfrm xmlns:a="http://schemas.openxmlformats.org/drawingml/2006/main">
            <a:off x="533400" y="5429250"/>
            <a:ext cx="5476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B5859"/>
                </a:solidFill>
                <a:latin typeface="Arial"/>
                <a:ea typeface="Arial"/>
                <a:cs typeface="Arial"/>
              </a:defRPr>
            </a:pPr>
            <a:r>
              <a:rPr sz="1725" b="0">
                <a:solidFill>
                  <a:srgbClr val="4B5859"/>
                </a:solidFill>
                <a:latin typeface="Arial"/>
                <a:ea typeface="Arial"/>
                <a:cs typeface="Arial"/>
              </a:rPr>
              <a:t>To be added on submission.</a:t>
            </a:r>
          </a:p>
        </p:txBody>
      </p:sp>
      <p:sp>
        <p:nvSpPr>
          <p:cNvPr id="13" name="">
            <a:extLst xmlns:a="http://schemas.openxmlformats.org/drawingml/2006/main">
              <a:ext uri="{FF2B5EF4-FFF2-40B4-BE49-F238E27FC236}">
                <a16:creationId xmlns:a16="http://schemas.microsoft.com/office/drawing/2014/main" id="{0A52D5D7-885D-454C-8431-DD59BEE809E1}"/>
              </a:ext>
            </a:extLst>
          </p:cNvPr>
          <p:cNvSpPr>
            <a:spLocks xmlns:a="http://schemas.openxmlformats.org/drawingml/2006/main" noGrp="1"/>
          </p:cNvSpPr>
          <p:nvPr/>
        </p:nvSpPr>
        <p:spPr>
          <a:xfrm xmlns:a="http://schemas.openxmlformats.org/drawingml/2006/main">
            <a:off x="7000875" y="1647825"/>
            <a:ext cx="4657725" cy="4314825"/>
          </a:xfrm>
          <a:prstGeom xmlns:a="http://schemas.openxmlformats.org/drawingml/2006/main" prst="rect">
            <a:avLst/>
          </a:prstGeom>
          <a:solidFill xmlns:a="http://schemas.openxmlformats.org/drawingml/2006/main">
            <a:srgbClr val="F3F6F5"/>
          </a:solidFill>
          <a:ln xmlns:a="http://schemas.openxmlformats.org/drawingml/2006/main" w="11430">
            <a:solidFill>
              <a:srgbClr val="6E7C7D"/>
            </a:solidFill>
          </a:ln>
        </p:spPr>
        <p:txBody xmlns:a="http://schemas.openxmlformats.org/drawingml/2006/main">
          <a:bodyP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1b8220f9bed42cc">
            <a:extLst>
              <a:ext uri="{96DAC541-7B7A-43D3-8B79-37D633B846F1}">
                <asvg:svgBlip xmlns:asvg="http://schemas.microsoft.com/office/drawing/2016/SVG/main" r:embed="R2ce7a22848844a7d"/>
              </a:ext>
            </a:extLst>
          </a:blip>
          <a:stretch xmlns:a="http://schemas.openxmlformats.org/drawingml/2006/main"/>
        </p:blipFill>
        <p:spPr>
          <a:xfrm xmlns:a="http://schemas.openxmlformats.org/drawingml/2006/main">
            <a:off x="9034463" y="2009775"/>
            <a:ext cx="590550" cy="590550"/>
          </a:xfrm>
          <a:prstGeom xmlns:a="http://schemas.openxmlformats.org/drawingml/2006/main" prst="rect">
            <a:avLst/>
          </a:prstGeom>
        </p:spPr>
      </p:pic>
      <p:sp>
        <p:nvSpPr>
          <p:cNvPr id="15" name="Document to be added">
            <a:extLst xmlns:a="http://schemas.openxmlformats.org/drawingml/2006/main">
              <a:ext uri="{FF2B5EF4-FFF2-40B4-BE49-F238E27FC236}">
                <a16:creationId xmlns:a16="http://schemas.microsoft.com/office/drawing/2014/main" id="{5D876D41-B456-4C6F-8D21-D02CBDBA68E4}"/>
              </a:ext>
            </a:extLst>
          </p:cNvPr>
          <p:cNvSpPr>
            <a:spLocks xmlns:a="http://schemas.openxmlformats.org/drawingml/2006/main" noGrp="1"/>
          </p:cNvSpPr>
          <p:nvPr/>
        </p:nvSpPr>
        <p:spPr>
          <a:xfrm xmlns:a="http://schemas.openxmlformats.org/drawingml/2006/main">
            <a:off x="7267575" y="2857500"/>
            <a:ext cx="4124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1E2629"/>
                </a:solidFill>
                <a:latin typeface="Arial"/>
                <a:ea typeface="Arial"/>
                <a:cs typeface="Arial"/>
              </a:defRPr>
            </a:pPr>
            <a:r>
              <a:rPr sz="2250" b="1">
                <a:solidFill>
                  <a:srgbClr val="1E2629"/>
                </a:solidFill>
                <a:latin typeface="Arial"/>
                <a:ea typeface="Arial"/>
                <a:cs typeface="Arial"/>
              </a:rPr>
              <a:t>Draft review paper</a:t>
            </a:r>
          </a:p>
        </p:txBody>
      </p:sp>
      <p:sp>
        <p:nvSpPr>
          <p:cNvPr id="16" name="Insert submission or acceptance proof,&#10;if available.">
            <a:extLst xmlns:a="http://schemas.openxmlformats.org/drawingml/2006/main">
              <a:ext uri="{FF2B5EF4-FFF2-40B4-BE49-F238E27FC236}">
                <a16:creationId xmlns:a16="http://schemas.microsoft.com/office/drawing/2014/main" id="{2379E9B4-5C6F-4B12-B2BA-204FCAB4F46B}"/>
              </a:ext>
            </a:extLst>
          </p:cNvPr>
          <p:cNvSpPr>
            <a:spLocks xmlns:a="http://schemas.openxmlformats.org/drawingml/2006/main" noGrp="1"/>
          </p:cNvSpPr>
          <p:nvPr/>
        </p:nvSpPr>
        <p:spPr>
          <a:xfrm xmlns:a="http://schemas.openxmlformats.org/drawingml/2006/main">
            <a:off x="7334250" y="3648075"/>
            <a:ext cx="3990975"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4B5859"/>
                </a:solidFill>
                <a:latin typeface="Arial"/>
                <a:ea typeface="Arial"/>
                <a:cs typeface="Arial"/>
              </a:defRPr>
            </a:pPr>
            <a:r>
              <a:rPr sz="1725" b="0">
                <a:solidFill>
                  <a:srgbClr val="4B5859"/>
                </a:solidFill>
                <a:latin typeface="Arial"/>
                <a:ea typeface="Arial"/>
                <a:cs typeface="Arial"/>
              </a:rPr>
              <a:t>Onboard SLAM, 3-D collaborative mapping and acoustic survivor detection: a review.</a:t>
            </a:r>
          </a:p>
        </p:txBody>
      </p:sp>
    </p:spTree>
    <p:extLst>
      <p:ext uri="{BB962C8B-B14F-4D97-AF65-F5344CB8AC3E}">
        <p14:creationId xmlns:p14="http://schemas.microsoft.com/office/powerpoint/2010/main" val="2036459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On-board SLAM for GPS-Denied Indoor Search</dc:title>
  <dcterms:created xsi:type="dcterms:W3CDTF">2026-10-23T21:50:34.6930000Z</dcterms:created>
  <dcterms:modified xsi:type="dcterms:W3CDTF">2026-10-23T21:50:34.6930000Z</dcterms:modified>
</coreProperties>
</file>